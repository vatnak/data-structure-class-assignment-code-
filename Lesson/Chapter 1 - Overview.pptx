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4" r:id="rId3"/>
    <p:sldId id="259" r:id="rId4"/>
    <p:sldId id="257" r:id="rId5"/>
    <p:sldId id="258" r:id="rId6"/>
    <p:sldId id="261" r:id="rId7"/>
    <p:sldId id="305" r:id="rId8"/>
    <p:sldId id="264" r:id="rId9"/>
    <p:sldId id="267" r:id="rId10"/>
    <p:sldId id="306" r:id="rId11"/>
    <p:sldId id="307" r:id="rId12"/>
    <p:sldId id="309" r:id="rId13"/>
    <p:sldId id="308" r:id="rId14"/>
    <p:sldId id="296" r:id="rId15"/>
    <p:sldId id="297" r:id="rId16"/>
    <p:sldId id="265" r:id="rId17"/>
    <p:sldId id="266" r:id="rId18"/>
    <p:sldId id="310" r:id="rId19"/>
    <p:sldId id="268" r:id="rId20"/>
    <p:sldId id="269" r:id="rId21"/>
    <p:sldId id="270" r:id="rId22"/>
    <p:sldId id="271" r:id="rId23"/>
    <p:sldId id="272" r:id="rId24"/>
    <p:sldId id="303" r:id="rId25"/>
    <p:sldId id="281" r:id="rId26"/>
    <p:sldId id="282" r:id="rId27"/>
    <p:sldId id="280" r:id="rId28"/>
    <p:sldId id="273" r:id="rId29"/>
    <p:sldId id="274" r:id="rId30"/>
    <p:sldId id="284" r:id="rId31"/>
    <p:sldId id="283" r:id="rId32"/>
    <p:sldId id="286" r:id="rId33"/>
    <p:sldId id="287" r:id="rId34"/>
    <p:sldId id="288" r:id="rId35"/>
    <p:sldId id="289" r:id="rId36"/>
    <p:sldId id="290" r:id="rId37"/>
    <p:sldId id="285" r:id="rId38"/>
    <p:sldId id="294" r:id="rId39"/>
    <p:sldId id="292" r:id="rId40"/>
    <p:sldId id="291" r:id="rId41"/>
    <p:sldId id="293" r:id="rId42"/>
    <p:sldId id="311" r:id="rId43"/>
    <p:sldId id="312" r:id="rId44"/>
    <p:sldId id="260" r:id="rId45"/>
    <p:sldId id="302" r:id="rId46"/>
    <p:sldId id="301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045C66-9405-821D-C03A-A280E0D7DBD1}" v="40" dt="2026-01-14T16:24:40.8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764B6-F8FD-ABAE-8593-B38FB8AE8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6A6CA6-6B65-01D9-5206-ABA0BF6BEB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262945-77F7-3AE2-02E3-668E446B7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DAF64-87B2-4958-871D-77F307A604D1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3338D3-8658-5BCF-52B3-3860F3522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E3FC1F-93BF-4C88-71E2-782CAFE2C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A1ED5-8CEF-48FB-91F8-8B686DD8F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99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77841-EE12-EB31-A146-96FA88561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336F4-7D53-F48B-2462-29B73EEBB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9A687C-20A1-9599-66B3-55A9D16B7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DAF64-87B2-4958-871D-77F307A604D1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923AC-0F38-B6FB-44FF-C6E4B4B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4686C-642E-3E82-6D9F-FF4B3780E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A1ED5-8CEF-48FB-91F8-8B686DD8F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372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22108-225A-B087-1294-397966B43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33283A-8DD6-4B1E-F3DC-AB34ABE94F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E561-30F4-DE26-4970-655B17D52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DAF64-87B2-4958-871D-77F307A604D1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EB9D7-7871-743F-091A-DD27B7A5E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EA16E9-EE4E-9E25-F790-B8E4EBDE8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A1ED5-8CEF-48FB-91F8-8B686DD8F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80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ADBF6-1ECE-A505-8D40-9004462D8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DEFAA-6DB4-A8BC-3985-A497D7511D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1CD9F9-5530-D900-FA8A-730694E60B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B2CC85-5C65-413B-937A-4E2BC8218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DAF64-87B2-4958-871D-77F307A604D1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D23D92-C93B-639D-6F62-01F840FB0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65DAD2-1EE8-4B9D-D8EE-9AA9DECB5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A1ED5-8CEF-48FB-91F8-8B686DD8F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318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FB28C-AAA3-6F16-C74E-422E4DFB9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2C79D5-6A0D-8034-462A-1C4EF390B3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805EE-C6AA-DAB0-4EAA-CE8F74E9CA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E04DF0-4B42-E480-E8E1-4E45C511E9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0511FF-0D2F-84D0-BE5E-61CB19A132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1BCF4C-3C5D-3299-5BA3-A97231B12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DAF64-87B2-4958-871D-77F307A604D1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861BBF-9CEF-0EF1-BCEA-7E808F24C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61FE5B-CA38-A394-44F5-F6AE8D0D0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A1ED5-8CEF-48FB-91F8-8B686DD8F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213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358B3-C9E9-0C25-3A66-5B93AC404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0C628E-7E03-C038-8EC2-683784070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DAF64-87B2-4958-871D-77F307A604D1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7E6DDF-E3B7-23CA-C57E-16F575A94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510F77-D667-61DA-DB4B-C3E58F0F4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A1ED5-8CEF-48FB-91F8-8B686DD8F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211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78ED19-B256-A92F-F9F8-08C4F7C53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DAF64-87B2-4958-871D-77F307A604D1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0FC700-CD40-CF29-C261-F60E07463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42CF04-FC78-45E3-50F6-CB46EAE30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A1ED5-8CEF-48FB-91F8-8B686DD8F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141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08578-7010-CC87-91FF-51C1DEB32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11496-5068-0AC0-46B5-5B3F00692A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62A823-4931-A824-F744-BC121EA70D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3B0718-118A-2E35-C3E9-799695413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DAF64-87B2-4958-871D-77F307A604D1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93CE81-792A-59DA-9B4B-349FB4237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9D2055-8EBD-FF44-8ADF-B3008ECF7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A1ED5-8CEF-48FB-91F8-8B686DD8F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178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E30F6-C665-8792-E5C1-BA3178C4A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409AED-E425-C036-F946-1E0B4A9F8B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FFDA8B-4868-02C2-8B18-6AA1234976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3430C-DCB3-CEEA-618B-DC89C6983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DAF64-87B2-4958-871D-77F307A604D1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0D2857-4177-DE05-3918-57FC41DDB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712D46-85AE-A771-7280-09106998E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A1ED5-8CEF-48FB-91F8-8B686DD8F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390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78957-C24C-B4F9-4034-005285603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4721B9-2BE3-DE8C-8DAE-88BBBAA953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A7C98-11D0-4FC1-D1F5-EED03BC53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DAF64-87B2-4958-871D-77F307A604D1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DC5656-23DA-4D2A-4622-4C8249000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70C56-748B-B116-D405-E2B58D1B3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A1ED5-8CEF-48FB-91F8-8B686DD8F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437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F9C148-4996-A069-7DE7-B5F4DF6769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690ABB-6F48-24C3-384D-3AB04998FC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02D8C-6824-E9E7-1672-7254321E4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DAF64-87B2-4958-871D-77F307A604D1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8700B-925E-79F7-BF8A-CAD4D34A5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4A6E01-26B1-E019-DCEA-E3E5F5C17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A1ED5-8CEF-48FB-91F8-8B686DD8F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964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0B6F0B-1458-99EE-0BBE-03F52BA9F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64783-D6F1-612C-DFC8-5565F1A9F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76979-9E5C-A4DC-E0E7-C70DB337FE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3DAF64-87B2-4958-871D-77F307A604D1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BFD2B-AF12-BC9B-5840-1C0866CCEF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E0B08B-EE5D-D4A8-223A-746B5405D5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2A1ED5-8CEF-48FB-91F8-8B686DD8F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969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AB376-7544-1780-E262-D503B728E9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1 -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061F3-6184-EE04-86FB-09CF0898AF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Data Structures &amp; Algorithm in Java</a:t>
            </a:r>
          </a:p>
          <a:p>
            <a:r>
              <a:rPr lang="en-US" altLang="en-US" dirty="0"/>
              <a:t>Robert </a:t>
            </a:r>
            <a:r>
              <a:rPr lang="en-US" altLang="en-US" dirty="0" err="1"/>
              <a:t>Lafore</a:t>
            </a:r>
            <a:endParaRPr lang="en-US" altLang="en-US" dirty="0"/>
          </a:p>
          <a:p>
            <a:r>
              <a:rPr lang="en-US" dirty="0"/>
              <a:t>Modified by Visethboti Sin</a:t>
            </a:r>
          </a:p>
        </p:txBody>
      </p:sp>
    </p:spTree>
    <p:extLst>
      <p:ext uri="{BB962C8B-B14F-4D97-AF65-F5344CB8AC3E}">
        <p14:creationId xmlns:p14="http://schemas.microsoft.com/office/powerpoint/2010/main" val="420041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4E792-359C-F926-1803-74951FED5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Assignments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978FC-9F4D-A8EF-9BEC-355E738474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Form a group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Assignments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Presentation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Final Project</a:t>
            </a:r>
          </a:p>
          <a:p>
            <a:endParaRPr lang="en-US" dirty="0"/>
          </a:p>
          <a:p>
            <a:r>
              <a:rPr lang="en-US" dirty="0"/>
              <a:t>Go to Canvas, talk to your friends, go into your group on your own in "</a:t>
            </a:r>
            <a:r>
              <a:rPr lang="en-US" dirty="0">
                <a:ea typeface="+mn-lt"/>
                <a:cs typeface="+mn-lt"/>
              </a:rPr>
              <a:t>Assignment/Presentation/Project Groups</a:t>
            </a:r>
            <a:r>
              <a:rPr lang="en-US" dirty="0"/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675842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C8118-FD7C-1C5C-19B1-73C532600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Study Data Structure?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A9CF1-CA6F-4DD3-805A-585102A88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If you are </a:t>
            </a:r>
            <a:r>
              <a:rPr lang="en-US" b="1" dirty="0"/>
              <a:t>good at data structure</a:t>
            </a:r>
            <a:r>
              <a:rPr lang="en-US" dirty="0"/>
              <a:t>, you will be good at programming in a </a:t>
            </a:r>
            <a:r>
              <a:rPr lang="en-US" b="1" dirty="0"/>
              <a:t>logical and efficient way</a:t>
            </a:r>
            <a:r>
              <a:rPr lang="en-US" dirty="0"/>
              <a:t> (In a way that is intuitive and make sense). </a:t>
            </a:r>
          </a:p>
          <a:p>
            <a:r>
              <a:rPr lang="en-US" dirty="0"/>
              <a:t>Learning data structure changes the way you think, it is about </a:t>
            </a:r>
            <a:r>
              <a:rPr lang="en-US" b="1" dirty="0"/>
              <a:t>solving problem efficiently</a:t>
            </a:r>
            <a:r>
              <a:rPr lang="en-US" dirty="0"/>
              <a:t>.</a:t>
            </a:r>
          </a:p>
          <a:p>
            <a:r>
              <a:rPr lang="en-US" dirty="0"/>
              <a:t>What software companies what to see, is that you have that </a:t>
            </a:r>
            <a:r>
              <a:rPr lang="en-US" b="1" dirty="0"/>
              <a:t>fundamental knowledge of programming</a:t>
            </a:r>
            <a:r>
              <a:rPr lang="en-US" dirty="0"/>
              <a:t> that you can apply to their codebase that make it good.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747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11AC3-42F8-636D-A979-BABC15A22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of the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B69EA-CCA3-4A68-5A78-CE03C762F5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eaLnBrk="1" hangingPunct="1"/>
            <a:r>
              <a:rPr lang="en-US" altLang="en-US" dirty="0"/>
              <a:t>Provide background in data structures (arrangements of data in memory) and algorithms (methods for manipulating this data)</a:t>
            </a:r>
          </a:p>
          <a:p>
            <a:pPr eaLnBrk="1" hangingPunct="1"/>
            <a:r>
              <a:rPr lang="en-US" altLang="en-US" dirty="0"/>
              <a:t>Why is this important?  The answer is there is far more to programming than finding a solution that will work:</a:t>
            </a:r>
          </a:p>
          <a:p>
            <a:pPr lvl="1" eaLnBrk="1" hangingPunct="1"/>
            <a:r>
              <a:rPr lang="en-US" altLang="en-US" dirty="0"/>
              <a:t>Execution time</a:t>
            </a:r>
          </a:p>
          <a:p>
            <a:pPr lvl="1" eaLnBrk="1" hangingPunct="1"/>
            <a:r>
              <a:rPr lang="en-US" altLang="en-US" dirty="0"/>
              <a:t>Memory consumption</a:t>
            </a:r>
          </a:p>
          <a:p>
            <a:pPr lvl="1"/>
            <a:r>
              <a:rPr lang="en-US" altLang="en-US" dirty="0"/>
              <a:t>Design</a:t>
            </a:r>
          </a:p>
          <a:p>
            <a:r>
              <a:rPr lang="en-US" altLang="en-US" dirty="0"/>
              <a:t>So, by the end of the course, you should be more equipped to not just develop an accurate solution to a problem, but try to think and find the </a:t>
            </a:r>
            <a:r>
              <a:rPr lang="en-US" altLang="en-US" b="1" i="1" dirty="0"/>
              <a:t>best</a:t>
            </a:r>
            <a:r>
              <a:rPr lang="en-US" altLang="en-US" b="1" dirty="0"/>
              <a:t> </a:t>
            </a:r>
            <a:r>
              <a:rPr lang="en-US" altLang="en-US" dirty="0"/>
              <a:t>solution possible.</a:t>
            </a:r>
          </a:p>
        </p:txBody>
      </p:sp>
    </p:spTree>
    <p:extLst>
      <p:ext uri="{BB962C8B-B14F-4D97-AF65-F5344CB8AC3E}">
        <p14:creationId xmlns:p14="http://schemas.microsoft.com/office/powerpoint/2010/main" val="1984164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11792-0E0E-3588-D501-9EC3E06B6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Data Structure?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70A0D-F7AA-E9BB-71B9-570146505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A</a:t>
            </a:r>
            <a:r>
              <a:rPr lang="en-US" altLang="en-US" i="1" dirty="0"/>
              <a:t> data structure </a:t>
            </a:r>
            <a:r>
              <a:rPr lang="en-US" altLang="en-US" dirty="0"/>
              <a:t>is an arrangement of data in a computer’s memory (or disk).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 short: Ways of organizing data.</a:t>
            </a:r>
          </a:p>
          <a:p>
            <a:endParaRPr lang="en-US" dirty="0"/>
          </a:p>
          <a:p>
            <a:r>
              <a:rPr lang="en-US" b="0" i="0" dirty="0">
                <a:solidFill>
                  <a:srgbClr val="1B1642"/>
                </a:solidFill>
                <a:effectLst/>
              </a:rPr>
              <a:t>Computer programs are created to process data, such as numbers or strings, </a:t>
            </a:r>
            <a:r>
              <a:rPr lang="en-US" dirty="0"/>
              <a:t>and we want to do something to it to produce useful result. However, it turns out that the way we organize this data really matter a lot.</a:t>
            </a:r>
          </a:p>
        </p:txBody>
      </p:sp>
    </p:spTree>
    <p:extLst>
      <p:ext uri="{BB962C8B-B14F-4D97-AF65-F5344CB8AC3E}">
        <p14:creationId xmlns:p14="http://schemas.microsoft.com/office/powerpoint/2010/main" val="3161189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8C349-D0C5-B1F0-924B-780823D00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 Data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0477C-B140-36F6-A816-5F0F0184FD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Questions to ponder:</a:t>
            </a:r>
          </a:p>
          <a:p>
            <a:pPr lvl="1"/>
            <a:r>
              <a:rPr lang="en-US" dirty="0"/>
              <a:t>What are some examples of data structures you already know about from your Java course?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Think of how would you organize data in your program for a student management system?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How can the arrangement of data in memory affect performance?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510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43CE8-4C26-1E8A-2505-3A5D9A6C4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82937-44D2-4BBD-B4AA-2806EE62F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Algorithm?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41682-0076-2BB7-30A6-E7C4031CF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8308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en-US" dirty="0"/>
              <a:t>An </a:t>
            </a:r>
            <a:r>
              <a:rPr lang="en-US" altLang="en-US" i="1" dirty="0"/>
              <a:t>algorithm</a:t>
            </a:r>
            <a:r>
              <a:rPr lang="en-US" altLang="en-US" dirty="0"/>
              <a:t> provides a set of instructions for manipulating data in structures. </a:t>
            </a:r>
          </a:p>
          <a:p>
            <a:r>
              <a:rPr lang="en-US" altLang="en-US" dirty="0"/>
              <a:t>In other word, It is a series of steps to perform some actions</a:t>
            </a:r>
          </a:p>
          <a:p>
            <a:r>
              <a:rPr lang="en-US" altLang="en-US" dirty="0"/>
              <a:t>We have an input (data), and we need to define the “steps” on how to turn this input into the desired output, these “steps” are an algorithm</a:t>
            </a:r>
          </a:p>
          <a:p>
            <a:endParaRPr lang="en-US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516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5976F-1086-70BE-F92C-3D6681452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Algorithm?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ED4A8-0EA5-E356-9674-D20B3F4E3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8308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en-US" dirty="0"/>
              <a:t>It is important to design these “steps” in an efficient way</a:t>
            </a:r>
          </a:p>
          <a:p>
            <a:r>
              <a:rPr lang="en-US" altLang="en-US" dirty="0"/>
              <a:t>There are two thing that we care about an algorithm:</a:t>
            </a:r>
          </a:p>
          <a:p>
            <a:pPr lvl="1"/>
            <a:r>
              <a:rPr lang="en-US" altLang="en-US" dirty="0"/>
              <a:t>Speed: how fast does it run?</a:t>
            </a:r>
          </a:p>
          <a:p>
            <a:pPr lvl="1"/>
            <a:r>
              <a:rPr lang="en-US" altLang="en-US" dirty="0"/>
              <a:t>Memory: how much memory does it need?</a:t>
            </a:r>
          </a:p>
          <a:p>
            <a:endParaRPr lang="en-US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907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81C5D-BD39-527D-0B42-23BAB5FB8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5ACF5-0146-792F-7FC4-07BE6BA7C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Questions to ponder:</a:t>
            </a:r>
          </a:p>
          <a:p>
            <a:pPr lvl="1" eaLnBrk="1" hangingPunct="1"/>
            <a:r>
              <a:rPr lang="en-US" altLang="en-US" dirty="0"/>
              <a:t>What’s an example of an algorithm?</a:t>
            </a:r>
          </a:p>
          <a:p>
            <a:pPr marL="319088" lvl="1" indent="0" eaLnBrk="1" hangingPunct="1">
              <a:buNone/>
            </a:pPr>
            <a:r>
              <a:rPr lang="en-US" altLang="en-US" dirty="0"/>
              <a:t>	Think about how would you go to a particular page in a book?</a:t>
            </a:r>
          </a:p>
          <a:p>
            <a:pPr marL="319088" lvl="1" indent="0" eaLnBrk="1" hangingPunct="1">
              <a:buNone/>
            </a:pPr>
            <a:endParaRPr lang="en-US" altLang="en-US" dirty="0"/>
          </a:p>
          <a:p>
            <a:pPr lvl="1" eaLnBrk="1" hangingPunct="1"/>
            <a:r>
              <a:rPr lang="en-US" altLang="en-US" dirty="0"/>
              <a:t>How can the design of an algorithm affect performance?  How can it affect memory?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509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F9300-60CF-BCF6-43E3-ACC22C7BB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238F3-C7EE-4544-3758-BB9E0119D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 Algorithm – Search for a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AD917-889E-CB92-305D-15D4B6F85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en-US" b="1" dirty="0"/>
              <a:t>Brute Force Search</a:t>
            </a:r>
            <a:r>
              <a:rPr lang="en-US" altLang="en-US" dirty="0"/>
              <a:t> (</a:t>
            </a:r>
            <a:r>
              <a:rPr lang="en-US" altLang="en-US" b="1" dirty="0"/>
              <a:t>Linear Search</a:t>
            </a:r>
            <a:r>
              <a:rPr lang="en-US" altLang="en-US" dirty="0"/>
              <a:t>):</a:t>
            </a:r>
          </a:p>
          <a:p>
            <a:pPr lvl="1"/>
            <a:r>
              <a:rPr lang="en-US" altLang="en-US" dirty="0"/>
              <a:t>Start from beginning, check </a:t>
            </a:r>
            <a:r>
              <a:rPr lang="en-US" altLang="en-US" b="1" dirty="0"/>
              <a:t>one by one</a:t>
            </a:r>
            <a:r>
              <a:rPr lang="en-US" altLang="en-US" dirty="0"/>
              <a:t> until it is found or reach the end of the book.</a:t>
            </a:r>
          </a:p>
          <a:p>
            <a:pPr lvl="1"/>
            <a:endParaRPr lang="en-US"/>
          </a:p>
        </p:txBody>
      </p:sp>
      <p:pic>
        <p:nvPicPr>
          <p:cNvPr id="4" name="Picture 3" descr="What is Linear Search? - GeeksforGeeks">
            <a:extLst>
              <a:ext uri="{FF2B5EF4-FFF2-40B4-BE49-F238E27FC236}">
                <a16:creationId xmlns:a16="http://schemas.microsoft.com/office/drawing/2014/main" id="{0E8E1792-E682-6C45-434D-FD7FAEE44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7470" y="2760242"/>
            <a:ext cx="6574073" cy="385316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29BAF98-C23C-2D6F-D3D4-E5B0BC02A1D0}"/>
              </a:ext>
            </a:extLst>
          </p:cNvPr>
          <p:cNvSpPr txBox="1">
            <a:spLocks/>
          </p:cNvSpPr>
          <p:nvPr/>
        </p:nvSpPr>
        <p:spPr>
          <a:xfrm>
            <a:off x="834024" y="2760901"/>
            <a:ext cx="4210833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en-US" dirty="0"/>
          </a:p>
          <a:p>
            <a:pPr lvl="1"/>
            <a:r>
              <a:rPr lang="en-US" dirty="0"/>
              <a:t>How many steps does it takes to find </a:t>
            </a:r>
            <a:r>
              <a:rPr lang="en-US" b="1" dirty="0"/>
              <a:t>6</a:t>
            </a:r>
            <a:r>
              <a:rPr lang="en-US" dirty="0"/>
              <a:t> using this method?</a:t>
            </a:r>
          </a:p>
          <a:p>
            <a:pPr lvl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717489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ABA8D-6F76-148D-DF8F-599C1E93A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E22EC-CC95-740F-2A84-8B237B506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 Algorithm – Search for a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7E6EC-09B3-AC06-D270-0F2CDBB68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en-US" dirty="0"/>
              <a:t>Any better ways than this?</a:t>
            </a:r>
          </a:p>
        </p:txBody>
      </p:sp>
      <p:pic>
        <p:nvPicPr>
          <p:cNvPr id="6" name="Picture 5" descr="What is Linear Search? - GeeksforGeeks">
            <a:extLst>
              <a:ext uri="{FF2B5EF4-FFF2-40B4-BE49-F238E27FC236}">
                <a16:creationId xmlns:a16="http://schemas.microsoft.com/office/drawing/2014/main" id="{3A4AB414-526A-7B32-B783-BEC1855B2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7470" y="2749804"/>
            <a:ext cx="6574073" cy="385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850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121D6-078F-B7B1-0112-7796956B7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F94FF-11CE-46A9-7585-FD27E9757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 Algorithm – Search for a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2EC78-635F-9DC1-D592-AC2A041033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en-US" b="1" dirty="0"/>
              <a:t>Linear Search</a:t>
            </a:r>
            <a:r>
              <a:rPr lang="en-US" altLang="en-US" dirty="0"/>
              <a:t> vs </a:t>
            </a:r>
            <a:r>
              <a:rPr lang="en-US" altLang="en-US" b="1" dirty="0"/>
              <a:t>Binary Search</a:t>
            </a:r>
          </a:p>
        </p:txBody>
      </p:sp>
      <p:pic>
        <p:nvPicPr>
          <p:cNvPr id="4" name="Picture 3" descr="Binary Search - JavaScript">
            <a:extLst>
              <a:ext uri="{FF2B5EF4-FFF2-40B4-BE49-F238E27FC236}">
                <a16:creationId xmlns:a16="http://schemas.microsoft.com/office/drawing/2014/main" id="{FEFBF686-41F1-D9EF-5C96-C8083754C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782" y="2385598"/>
            <a:ext cx="6665257" cy="4137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9435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E27C6-DE14-02E6-011A-5D7EA7779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D7FE5-EBEF-F72E-021A-7DAF00A81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 Algorithm – Searching from Unsorted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B9550-C8FC-A6C4-477D-E56BA6026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en-US" dirty="0"/>
              <a:t>What if we are searching from </a:t>
            </a:r>
            <a:r>
              <a:rPr lang="en-US" altLang="en-US" b="1" dirty="0"/>
              <a:t>unsorted data</a:t>
            </a:r>
            <a:r>
              <a:rPr lang="en-US" altLang="en-US" dirty="0"/>
              <a:t>?</a:t>
            </a:r>
          </a:p>
          <a:p>
            <a:r>
              <a:rPr lang="en-US" altLang="en-US" dirty="0"/>
              <a:t>Can we use </a:t>
            </a:r>
            <a:r>
              <a:rPr lang="en-US" altLang="en-US" b="1" dirty="0"/>
              <a:t>binary search</a:t>
            </a:r>
            <a:r>
              <a:rPr lang="en-US" altLang="en-US" dirty="0"/>
              <a:t>? Why or why not?</a:t>
            </a:r>
          </a:p>
        </p:txBody>
      </p:sp>
      <p:pic>
        <p:nvPicPr>
          <p:cNvPr id="5" name="Picture 4" descr="Virtual Labs">
            <a:extLst>
              <a:ext uri="{FF2B5EF4-FFF2-40B4-BE49-F238E27FC236}">
                <a16:creationId xmlns:a16="http://schemas.microsoft.com/office/drawing/2014/main" id="{CA831E0B-B771-F36D-DF36-7F6F1BAD2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518" y="2853878"/>
            <a:ext cx="7628963" cy="3727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943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30E44-5E5F-FD47-0970-8FB168875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study algorithms?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836A2-477A-D24E-3781-24D8F8C2A6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105" y="1825625"/>
            <a:ext cx="12279681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Computers are fast so why do we need to worry about writing efficient algorithms?</a:t>
            </a:r>
          </a:p>
          <a:p>
            <a:pPr lvl="1"/>
            <a:r>
              <a:rPr lang="en-US" dirty="0"/>
              <a:t>Even with fast computation, it is not enough. Moore law vs growth of data/problem</a:t>
            </a:r>
          </a:p>
          <a:p>
            <a:pPr lvl="1"/>
            <a:r>
              <a:rPr lang="en-US" dirty="0"/>
              <a:t>How much computation power and how much memory an algorithm need is very important</a:t>
            </a:r>
          </a:p>
          <a:p>
            <a:r>
              <a:rPr lang="en-US" dirty="0"/>
              <a:t>Designing efficient algorithm allow us to:</a:t>
            </a:r>
          </a:p>
          <a:p>
            <a:pPr lvl="1"/>
            <a:r>
              <a:rPr lang="en-US" dirty="0"/>
              <a:t>Solve bigger problems </a:t>
            </a:r>
          </a:p>
          <a:p>
            <a:pPr lvl="1"/>
            <a:r>
              <a:rPr lang="en-US" dirty="0"/>
              <a:t>Run faster</a:t>
            </a:r>
          </a:p>
          <a:p>
            <a:pPr lvl="1"/>
            <a:r>
              <a:rPr lang="en-US" dirty="0"/>
              <a:t>Cheaper to run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7991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81EA2-EC9D-6165-F885-846D3F738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study algorithms?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E3883-82F1-4D6B-162D-26C2950A8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Computer are dumb, it can only understand the </a:t>
            </a:r>
            <a:r>
              <a:rPr lang="en-US" b="1" dirty="0"/>
              <a:t>very basic of instructions</a:t>
            </a:r>
            <a:r>
              <a:rPr lang="en-US" dirty="0"/>
              <a:t>, so it is crucial that we know how to </a:t>
            </a:r>
            <a:r>
              <a:rPr lang="en-US" b="1" dirty="0"/>
              <a:t>efficiently give the optimal instructions</a:t>
            </a:r>
            <a:r>
              <a:rPr lang="en-US" dirty="0"/>
              <a:t>.</a:t>
            </a:r>
          </a:p>
          <a:p>
            <a:r>
              <a:rPr lang="en-US" dirty="0"/>
              <a:t>It is very important that we design an algorithm that can </a:t>
            </a:r>
            <a:r>
              <a:rPr lang="en-US" b="1" dirty="0"/>
              <a:t>achieve more by using less</a:t>
            </a:r>
            <a:r>
              <a:rPr lang="en-US" dirty="0"/>
              <a:t>. </a:t>
            </a:r>
          </a:p>
          <a:p>
            <a:r>
              <a:rPr lang="en-US" dirty="0"/>
              <a:t>Achieve something with </a:t>
            </a:r>
            <a:r>
              <a:rPr lang="en-US" b="1" dirty="0"/>
              <a:t>10 steps is better than 100 steps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697478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12DF8-D505-8F25-DDCF-631028012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Structure or Algorithm?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0C545-52CB-6B50-274C-657B4B641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Linked List</a:t>
            </a:r>
          </a:p>
          <a:p>
            <a:endParaRPr lang="en-US" dirty="0"/>
          </a:p>
          <a:p>
            <a:r>
              <a:rPr lang="en-US" dirty="0"/>
              <a:t>Sort</a:t>
            </a:r>
          </a:p>
          <a:p>
            <a:endParaRPr lang="en-US" dirty="0"/>
          </a:p>
          <a:p>
            <a:r>
              <a:rPr lang="en-US" dirty="0"/>
              <a:t>Search</a:t>
            </a:r>
          </a:p>
          <a:p>
            <a:endParaRPr lang="en-US" dirty="0"/>
          </a:p>
          <a:p>
            <a:r>
              <a:rPr lang="en-US" dirty="0"/>
              <a:t>Stack</a:t>
            </a:r>
          </a:p>
          <a:p>
            <a:endParaRPr lang="en-US" dirty="0"/>
          </a:p>
          <a:p>
            <a:r>
              <a:rPr lang="en-US" dirty="0"/>
              <a:t>Vector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07383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5D2C0-603C-BD2B-83FC-4EBE0B454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Structure or Algorithm? (Answered)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CA194-1168-16D9-979F-3CAB82FF3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en-US" dirty="0"/>
              <a:t>Linked List: Data Structure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Sort: Algorithm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Search: Algorithm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Stack: Data Structure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Vector: Data Structure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8672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1F23B-0171-D90C-3F0C-24150248E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8CEB6-0046-D117-B897-E4B4408D8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of Data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02669-3AB2-2D1B-AB5F-9B2E691F1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en-US" dirty="0"/>
              <a:t>Data Storage</a:t>
            </a:r>
          </a:p>
          <a:p>
            <a:r>
              <a:rPr lang="en-US" altLang="en-US" dirty="0"/>
              <a:t>Programming tool</a:t>
            </a:r>
          </a:p>
          <a:p>
            <a:r>
              <a:rPr lang="en-US" altLang="en-US" dirty="0"/>
              <a:t>Modeling the real world</a:t>
            </a:r>
          </a:p>
          <a:p>
            <a:endParaRPr lang="en-US" altLang="en-US" dirty="0"/>
          </a:p>
          <a:p>
            <a:r>
              <a:rPr lang="en-US" altLang="en-US"/>
              <a:t>Solve Problems / Do things for us</a:t>
            </a:r>
            <a:endParaRPr lang="en-US"/>
          </a:p>
          <a:p>
            <a:endParaRPr lang="en-US" altLang="en-US" dirty="0"/>
          </a:p>
          <a:p>
            <a:endParaRPr lang="en-US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7963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1D3D3-BF83-AFB7-728E-755E3EFF6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World Data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C56A8-FDB4-FB95-623D-97A91DE98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eaLnBrk="1" hangingPunct="1"/>
            <a:r>
              <a:rPr lang="en-US" altLang="en-US" dirty="0"/>
              <a:t>Real-world data: data that describes physical entities external to the computer.  Can we think of some examples?</a:t>
            </a:r>
          </a:p>
          <a:p>
            <a:pPr marL="0" indent="0" eaLnBrk="1" hangingPunct="1">
              <a:buNone/>
            </a:pPr>
            <a:endParaRPr lang="en-US" altLang="en-US" dirty="0"/>
          </a:p>
          <a:p>
            <a:pPr eaLnBrk="1" hangingPunct="1"/>
            <a:r>
              <a:rPr lang="en-US" altLang="en-US" dirty="0"/>
              <a:t>What’s an example of non-computer data storage?</a:t>
            </a:r>
          </a:p>
          <a:p>
            <a:pPr lvl="1"/>
            <a:r>
              <a:rPr lang="en-US" altLang="en-US" dirty="0"/>
              <a:t>Students: names, id, age, address, email, GPA</a:t>
            </a:r>
          </a:p>
          <a:p>
            <a:pPr lvl="1"/>
            <a:r>
              <a:rPr lang="en-US" altLang="en-US" dirty="0"/>
              <a:t>Books: names, titles, genre</a:t>
            </a:r>
          </a:p>
          <a:p>
            <a:pPr lvl="1"/>
            <a:r>
              <a:rPr lang="en-US" altLang="en-US" dirty="0"/>
              <a:t>Products: price, stock, names, suppliers</a:t>
            </a:r>
          </a:p>
          <a:p>
            <a:pPr lvl="1"/>
            <a:endParaRPr lang="en-US" altLang="en-US" dirty="0"/>
          </a:p>
          <a:p>
            <a:pPr eaLnBrk="1" hangingPunct="1"/>
            <a:r>
              <a:rPr lang="en-US" altLang="en-US" dirty="0"/>
              <a:t>What method do these use?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08228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DD82C-0995-65DF-8989-E3469A5CD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World Data Storage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D985C-3AA7-3365-7D0C-8C89D53A9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5365"/>
          </a:xfrm>
        </p:spPr>
        <p:txBody>
          <a:bodyPr vert="horz" lIns="91440" tIns="45720" rIns="91440" bIns="45720" rtlCol="0" anchor="t">
            <a:normAutofit/>
          </a:bodyPr>
          <a:lstStyle/>
          <a:p>
            <a:pPr eaLnBrk="1" hangingPunct="1"/>
            <a:r>
              <a:rPr lang="en-US" altLang="en-US" dirty="0">
                <a:latin typeface="Aptos"/>
              </a:rPr>
              <a:t>Say we wanted to convert one of these systems to a computer program, what must we consider?</a:t>
            </a:r>
          </a:p>
          <a:p>
            <a:pPr lvl="1"/>
            <a:r>
              <a:rPr lang="en-US" altLang="en-US" b="1" dirty="0">
                <a:latin typeface="Aptos"/>
              </a:rPr>
              <a:t>Memory consumption: 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altLang="en-US" dirty="0">
                <a:latin typeface="Aptos"/>
              </a:rPr>
              <a:t>how much storage do we need to store 100 books?</a:t>
            </a:r>
            <a:endParaRPr lang="en-US">
              <a:latin typeface="Aptos"/>
            </a:endParaRPr>
          </a:p>
          <a:p>
            <a:pPr lvl="1"/>
            <a:r>
              <a:rPr lang="en-US" altLang="en-US" b="1" dirty="0">
                <a:latin typeface="Aptos"/>
              </a:rPr>
              <a:t>Algorithms</a:t>
            </a:r>
            <a:r>
              <a:rPr lang="en-US" altLang="en-US" dirty="0">
                <a:latin typeface="Aptos"/>
              </a:rPr>
              <a:t> (which ones do we care about?)</a:t>
            </a:r>
            <a:r>
              <a:rPr lang="en-US" altLang="en-US" b="1" dirty="0">
                <a:latin typeface="Aptos"/>
              </a:rPr>
              <a:t>: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altLang="en-US" dirty="0">
                <a:latin typeface="Aptos"/>
              </a:rPr>
              <a:t>What kind of operations or actions do we need?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altLang="en-US" dirty="0">
                <a:latin typeface="Aptos"/>
              </a:rPr>
              <a:t>Add? Delete? Search? Sort? Filter?</a:t>
            </a:r>
          </a:p>
          <a:p>
            <a:pPr lvl="1"/>
            <a:r>
              <a:rPr lang="en-US" b="1" dirty="0">
                <a:latin typeface="Aptos"/>
                <a:cs typeface="Arial"/>
              </a:rPr>
              <a:t>Scalability: </a:t>
            </a:r>
            <a:endParaRPr lang="en-US" b="1">
              <a:latin typeface="Aptos"/>
              <a:cs typeface="Arial"/>
            </a:endParaRPr>
          </a:p>
          <a:p>
            <a:pPr lvl="2">
              <a:buFont typeface="Wingdings,Sans-Serif" panose="020B0604020202020204" pitchFamily="34" charset="0"/>
              <a:buChar char="§"/>
            </a:pPr>
            <a:r>
              <a:rPr lang="en-US" dirty="0">
                <a:latin typeface="Aptos"/>
                <a:cs typeface="Arial"/>
              </a:rPr>
              <a:t>What about growth of storage if we need to store 1000 books?</a:t>
            </a:r>
            <a:endParaRPr lang="en-US">
              <a:latin typeface="Aptos"/>
              <a:cs typeface="Arial"/>
            </a:endParaRPr>
          </a:p>
          <a:p>
            <a:pPr lvl="2">
              <a:buFont typeface="Wingdings,Sans-Serif" panose="020B0604020202020204" pitchFamily="34" charset="0"/>
              <a:buChar char="§"/>
            </a:pPr>
            <a:r>
              <a:rPr lang="en-US" dirty="0">
                <a:latin typeface="Aptos"/>
                <a:cs typeface="Arial"/>
              </a:rPr>
              <a:t>100 books need 10 GB, what about 1000 books? </a:t>
            </a:r>
            <a:endParaRPr lang="en-US">
              <a:latin typeface="Aptos"/>
              <a:cs typeface="Arial"/>
            </a:endParaRPr>
          </a:p>
          <a:p>
            <a:pPr lvl="2">
              <a:buFont typeface="Wingdings,Sans-Serif" panose="020B0604020202020204" pitchFamily="34" charset="0"/>
              <a:buChar char="§"/>
            </a:pPr>
            <a:r>
              <a:rPr lang="en-US" dirty="0">
                <a:latin typeface="Aptos"/>
                <a:cs typeface="Arial"/>
              </a:rPr>
              <a:t>Linear growth? Quadratic growth?</a:t>
            </a:r>
            <a:endParaRPr lang="en-US">
              <a:latin typeface="Aptos"/>
              <a:cs typeface="Arial"/>
            </a:endParaRPr>
          </a:p>
          <a:p>
            <a:pPr lvl="2">
              <a:buFont typeface="Wingdings,Sans-Serif" panose="020B0604020202020204" pitchFamily="34" charset="0"/>
              <a:buChar char="§"/>
            </a:pPr>
            <a:r>
              <a:rPr lang="en-US" dirty="0">
                <a:latin typeface="Aptos"/>
                <a:cs typeface="Arial"/>
              </a:rPr>
              <a:t>Same thing applied to the time complexity of the algorithms, how many steps needed to search for a book?</a:t>
            </a:r>
            <a:endParaRPr lang="en-US" dirty="0">
              <a:latin typeface="Aptos"/>
            </a:endParaRPr>
          </a:p>
          <a:p>
            <a:pPr lvl="1"/>
            <a:endParaRPr lang="en-US" altLang="en-US" dirty="0">
              <a:latin typeface="Aptos"/>
            </a:endParaRPr>
          </a:p>
          <a:p>
            <a:endParaRPr lang="en-US" dirty="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050760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69EF1-27C8-9C8A-AF81-5B7317D4C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Structure as a Programming Tool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6DB70-B38E-0D35-31EF-510C27CE1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en-US" dirty="0"/>
              <a:t>Not only store real-world data but perform some function internal to the machine.  </a:t>
            </a:r>
          </a:p>
          <a:p>
            <a:pPr eaLnBrk="1" hangingPunct="1"/>
            <a:r>
              <a:rPr lang="en-US" altLang="en-US" dirty="0"/>
              <a:t>Example - A ‘stack’ of data, where I can only insert or remove elements from the top:</a:t>
            </a:r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What programmer tool would this be useful for?  </a:t>
            </a:r>
          </a:p>
          <a:p>
            <a:endParaRPr lang="en-US" dirty="0"/>
          </a:p>
        </p:txBody>
      </p:sp>
      <p:pic>
        <p:nvPicPr>
          <p:cNvPr id="4" name="Picture 6" descr="smallstack.bmp">
            <a:extLst>
              <a:ext uri="{FF2B5EF4-FFF2-40B4-BE49-F238E27FC236}">
                <a16:creationId xmlns:a16="http://schemas.microsoft.com/office/drawing/2014/main" id="{C2C86F2A-FB72-A759-2A9D-3C0B50CEAE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59751" y="3173027"/>
            <a:ext cx="2057400" cy="2322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643779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34F80-E2BA-CAA0-1471-05D11CD55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Structure Modeling the Real World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B3021-5C7A-9CCB-55BB-B836A4BD1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Effectively, ‘simulate’ a real-world situation.</a:t>
            </a:r>
          </a:p>
          <a:p>
            <a:pPr eaLnBrk="1" hangingPunct="1"/>
            <a:r>
              <a:rPr lang="en-US" altLang="en-US" dirty="0"/>
              <a:t>For example, what could the following represent:</a:t>
            </a:r>
          </a:p>
          <a:p>
            <a:endParaRPr lang="en-US" dirty="0"/>
          </a:p>
        </p:txBody>
      </p:sp>
      <p:pic>
        <p:nvPicPr>
          <p:cNvPr id="4" name="Picture 3" descr="airline_incomplete.bmp">
            <a:extLst>
              <a:ext uri="{FF2B5EF4-FFF2-40B4-BE49-F238E27FC236}">
                <a16:creationId xmlns:a16="http://schemas.microsoft.com/office/drawing/2014/main" id="{EF2D0E05-77CA-4227-B3A0-A47265E9D6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85492" y="2835275"/>
            <a:ext cx="3621015" cy="297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732151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FDDB2-6299-516F-B73E-08D6C42E3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Structure Modeling the Real World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A9A7E-B303-4D09-0E35-D147139C25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How about airline routes? </a:t>
            </a:r>
          </a:p>
          <a:p>
            <a:pPr eaLnBrk="1" hangingPunct="1"/>
            <a:r>
              <a:rPr lang="en-US" altLang="en-US" dirty="0"/>
              <a:t>This type of structure is called an ‘undirected graph’</a:t>
            </a:r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endParaRPr lang="en-US" dirty="0"/>
          </a:p>
        </p:txBody>
      </p:sp>
      <p:pic>
        <p:nvPicPr>
          <p:cNvPr id="5" name="Picture 3" descr="airline_complete.bmp">
            <a:extLst>
              <a:ext uri="{FF2B5EF4-FFF2-40B4-BE49-F238E27FC236}">
                <a16:creationId xmlns:a16="http://schemas.microsoft.com/office/drawing/2014/main" id="{AE7CE925-4354-A7C0-A8BC-262ED62DBD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33825" y="2759075"/>
            <a:ext cx="4324350" cy="355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396375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FDDB2-6299-516F-B73E-08D6C42E3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Structure Modeling the Real World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A9A7E-B303-4D09-0E35-D147139C25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en-US" dirty="0"/>
              <a:t>Another example, social networks (Facebook, Accounts...)</a:t>
            </a:r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endParaRPr lang="en-US" dirty="0"/>
          </a:p>
        </p:txBody>
      </p:sp>
      <p:pic>
        <p:nvPicPr>
          <p:cNvPr id="4" name="Picture 3" descr="Using Facebook to learn some basics about graph theory | by Jessica Angier  | Medium">
            <a:extLst>
              <a:ext uri="{FF2B5EF4-FFF2-40B4-BE49-F238E27FC236}">
                <a16:creationId xmlns:a16="http://schemas.microsoft.com/office/drawing/2014/main" id="{76542A81-A287-CF1E-BBB1-3ACE42741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3724" y="2471802"/>
            <a:ext cx="6844552" cy="3953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0911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2C769-6F20-A099-13D1-357CB8DF9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Structure Modeling the Real World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324C6-6A5A-A6BD-0CEA-D8EA0973C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Weighted graph</a:t>
            </a:r>
          </a:p>
          <a:p>
            <a:endParaRPr lang="en-US" dirty="0"/>
          </a:p>
        </p:txBody>
      </p:sp>
      <p:pic>
        <p:nvPicPr>
          <p:cNvPr id="1030" name="Picture 6" descr="Weighted graph · Hyperskill">
            <a:extLst>
              <a:ext uri="{FF2B5EF4-FFF2-40B4-BE49-F238E27FC236}">
                <a16:creationId xmlns:a16="http://schemas.microsoft.com/office/drawing/2014/main" id="{C353F424-7EAC-48A1-706C-F2B58003BF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499" y="1825625"/>
            <a:ext cx="5886451" cy="4146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55604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0D698-15CA-9B00-F86E-94A00D9AF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Structure Modeling the Real World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F37A2-6A73-4B18-5B13-6834DA0CB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Modeling cities routes with weighted undirected graph</a:t>
            </a:r>
          </a:p>
        </p:txBody>
      </p:sp>
      <p:pic>
        <p:nvPicPr>
          <p:cNvPr id="2052" name="Picture 4" descr="Weighted Graphs - A Common-Sense Guide to Data Structures and Algorithms  [Book]">
            <a:extLst>
              <a:ext uri="{FF2B5EF4-FFF2-40B4-BE49-F238E27FC236}">
                <a16:creationId xmlns:a16="http://schemas.microsoft.com/office/drawing/2014/main" id="{F9E678E5-6057-66EE-BB82-93EDFEBA6A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3268" y="2298108"/>
            <a:ext cx="5605463" cy="4099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35564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8F63E-1072-17FA-D2CA-56E8F5AC5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Structure Modeling the Real World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C4C47-5DE1-DD65-631B-8F7C73150B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en-US" dirty="0"/>
              <a:t>How about a ‘queue’ of data, where the first element in is the first element out (termed ‘FIFO’):</a:t>
            </a:r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Example applications:</a:t>
            </a:r>
          </a:p>
          <a:p>
            <a:pPr lvl="1" eaLnBrk="1" hangingPunct="1"/>
            <a:r>
              <a:rPr lang="en-US" altLang="en-US" dirty="0"/>
              <a:t>Grocery store lines</a:t>
            </a:r>
          </a:p>
          <a:p>
            <a:pPr lvl="1" eaLnBrk="1" hangingPunct="1"/>
            <a:r>
              <a:rPr lang="en-US" altLang="en-US" dirty="0"/>
              <a:t>Traffic (Queues are actually used when determining timing of traffic lights!!  How?  Let’s think about it)</a:t>
            </a:r>
          </a:p>
          <a:p>
            <a:endParaRPr lang="en-US" dirty="0"/>
          </a:p>
        </p:txBody>
      </p:sp>
      <p:pic>
        <p:nvPicPr>
          <p:cNvPr id="4" name="Picture 3" descr="smallqueue.bmp">
            <a:extLst>
              <a:ext uri="{FF2B5EF4-FFF2-40B4-BE49-F238E27FC236}">
                <a16:creationId xmlns:a16="http://schemas.microsoft.com/office/drawing/2014/main" id="{4B4D51E6-3A0B-8C97-3657-58E87A66B9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29196" y="2656115"/>
            <a:ext cx="1981200" cy="2316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532781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67BC6-E523-6794-DCAF-9A0920196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Structure Strengths and Weaknesses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125EC-B169-E1B3-CD2C-3E9E99649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 structure we have dealt with before: arrays</a:t>
            </a:r>
          </a:p>
          <a:p>
            <a:pPr eaLnBrk="1" hangingPunct="1"/>
            <a:r>
              <a:rPr lang="en-US" altLang="en-US" dirty="0"/>
              <a:t>Requirement that is enforced:</a:t>
            </a:r>
          </a:p>
          <a:p>
            <a:pPr lvl="1" eaLnBrk="1" hangingPunct="1"/>
            <a:r>
              <a:rPr lang="en-US" altLang="en-US" dirty="0"/>
              <a:t>Arrays store data sequentially in memory.</a:t>
            </a:r>
          </a:p>
          <a:p>
            <a:pPr eaLnBrk="1" hangingPunct="1"/>
            <a:r>
              <a:rPr lang="en-US" altLang="en-US" dirty="0"/>
              <a:t>Let’s name the advantages (i.e., when is an array efficient?)</a:t>
            </a:r>
          </a:p>
          <a:p>
            <a:pPr eaLnBrk="1" hangingPunct="1"/>
            <a:endParaRPr lang="en-US" altLang="en-US" dirty="0"/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 dirty="0"/>
          </a:p>
          <a:p>
            <a:pPr eaLnBrk="1" hangingPunct="1"/>
            <a:r>
              <a:rPr lang="en-US" altLang="en-US" dirty="0"/>
              <a:t>Let’s name the disadvantages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8973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B990D-6F01-01C2-7E28-A676D1AF3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Costs for Structures We’ll Study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4C740F3-66AB-BC58-49D0-6608513AC7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0434986"/>
              </p:ext>
            </p:extLst>
          </p:nvPr>
        </p:nvGraphicFramePr>
        <p:xfrm>
          <a:off x="1589312" y="1405748"/>
          <a:ext cx="9013374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9">
                  <a:extLst>
                    <a:ext uri="{9D8B030D-6E8A-4147-A177-3AD203B41FA5}">
                      <a16:colId xmlns:a16="http://schemas.microsoft.com/office/drawing/2014/main" val="3905892475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110726691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05117558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69566497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699942528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7099698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Structure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Access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Search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Insert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Delete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Memory</a:t>
                      </a:r>
                    </a:p>
                  </a:txBody>
                  <a:tcPr marT="45717" marB="45717"/>
                </a:tc>
                <a:extLst>
                  <a:ext uri="{0D108BD9-81ED-4DB2-BD59-A6C34878D82A}">
                    <a16:rowId xmlns:a16="http://schemas.microsoft.com/office/drawing/2014/main" val="2330862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Array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Low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High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Med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High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Low</a:t>
                      </a:r>
                    </a:p>
                  </a:txBody>
                  <a:tcPr marT="45717" marB="45717"/>
                </a:tc>
                <a:extLst>
                  <a:ext uri="{0D108BD9-81ED-4DB2-BD59-A6C34878D82A}">
                    <a16:rowId xmlns:a16="http://schemas.microsoft.com/office/drawing/2014/main" val="321788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Ord</a:t>
                      </a:r>
                      <a:r>
                        <a:rPr lang="en-US" sz="1800" baseline="0" dirty="0"/>
                        <a:t>. Array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Low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Med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High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High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Low</a:t>
                      </a:r>
                    </a:p>
                  </a:txBody>
                  <a:tcPr marT="45717" marB="45717"/>
                </a:tc>
                <a:extLst>
                  <a:ext uri="{0D108BD9-81ED-4DB2-BD59-A6C34878D82A}">
                    <a16:rowId xmlns:a16="http://schemas.microsoft.com/office/drawing/2014/main" val="4287071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Linked List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High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High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Low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Low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Med</a:t>
                      </a:r>
                    </a:p>
                  </a:txBody>
                  <a:tcPr marT="45717" marB="45717"/>
                </a:tc>
                <a:extLst>
                  <a:ext uri="{0D108BD9-81ED-4DB2-BD59-A6C34878D82A}">
                    <a16:rowId xmlns:a16="http://schemas.microsoft.com/office/drawing/2014/main" val="1892262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Stack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Med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High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Med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Med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Med</a:t>
                      </a:r>
                    </a:p>
                  </a:txBody>
                  <a:tcPr marT="45717" marB="45717"/>
                </a:tc>
                <a:extLst>
                  <a:ext uri="{0D108BD9-81ED-4DB2-BD59-A6C34878D82A}">
                    <a16:rowId xmlns:a16="http://schemas.microsoft.com/office/drawing/2014/main" val="2263193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Queue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Med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High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Med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Med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Med</a:t>
                      </a:r>
                    </a:p>
                  </a:txBody>
                  <a:tcPr marT="45717" marB="45717"/>
                </a:tc>
                <a:extLst>
                  <a:ext uri="{0D108BD9-81ED-4DB2-BD59-A6C34878D82A}">
                    <a16:rowId xmlns:a16="http://schemas.microsoft.com/office/drawing/2014/main" val="3113775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Bin.</a:t>
                      </a:r>
                      <a:r>
                        <a:rPr lang="en-US" sz="1800" baseline="0" dirty="0"/>
                        <a:t> Tree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Med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Low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Low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Low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High</a:t>
                      </a:r>
                    </a:p>
                  </a:txBody>
                  <a:tcPr marT="45717" marB="45717"/>
                </a:tc>
                <a:extLst>
                  <a:ext uri="{0D108BD9-81ED-4DB2-BD59-A6C34878D82A}">
                    <a16:rowId xmlns:a16="http://schemas.microsoft.com/office/drawing/2014/main" val="910602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Hash Table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Med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Med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Low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High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High</a:t>
                      </a:r>
                    </a:p>
                  </a:txBody>
                  <a:tcPr marT="45717" marB="45717"/>
                </a:tc>
                <a:extLst>
                  <a:ext uri="{0D108BD9-81ED-4DB2-BD59-A6C34878D82A}">
                    <a16:rowId xmlns:a16="http://schemas.microsoft.com/office/drawing/2014/main" val="2616000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Heap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Med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Med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Low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Low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High</a:t>
                      </a:r>
                    </a:p>
                  </a:txBody>
                  <a:tcPr marT="45717" marB="45717"/>
                </a:tc>
                <a:extLst>
                  <a:ext uri="{0D108BD9-81ED-4DB2-BD59-A6C34878D82A}">
                    <a16:rowId xmlns:a16="http://schemas.microsoft.com/office/drawing/2014/main" val="1826081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Graph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High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High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Med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Med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Med</a:t>
                      </a:r>
                    </a:p>
                  </a:txBody>
                  <a:tcPr marT="45717" marB="45717"/>
                </a:tc>
                <a:extLst>
                  <a:ext uri="{0D108BD9-81ED-4DB2-BD59-A6C34878D82A}">
                    <a16:rowId xmlns:a16="http://schemas.microsoft.com/office/drawing/2014/main" val="382508300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63B2FF5-D05C-B004-2A38-13335F402581}"/>
              </a:ext>
            </a:extLst>
          </p:cNvPr>
          <p:cNvSpPr txBox="1"/>
          <p:nvPr/>
        </p:nvSpPr>
        <p:spPr>
          <a:xfrm>
            <a:off x="932283" y="5374716"/>
            <a:ext cx="103274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point is, there is no universal data 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Each data structure have its own strengths and weakness</a:t>
            </a:r>
          </a:p>
        </p:txBody>
      </p:sp>
    </p:spTree>
    <p:extLst>
      <p:ext uri="{BB962C8B-B14F-4D97-AF65-F5344CB8AC3E}">
        <p14:creationId xmlns:p14="http://schemas.microsoft.com/office/powerpoint/2010/main" val="28457839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9BA72-E0CF-3F92-C70E-37711F6BE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Operations of Data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96FD8-B2AD-EB44-A360-927A494F28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6442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 most data structure, the basic operations you can do are:</a:t>
            </a:r>
          </a:p>
          <a:p>
            <a:pPr lvl="1"/>
            <a:r>
              <a:rPr lang="en-US" dirty="0"/>
              <a:t>Insert: add a new element</a:t>
            </a:r>
          </a:p>
          <a:p>
            <a:pPr lvl="1"/>
            <a:r>
              <a:rPr lang="en-US" dirty="0"/>
              <a:t>Access: retrieve an element</a:t>
            </a:r>
          </a:p>
          <a:p>
            <a:pPr lvl="1"/>
            <a:r>
              <a:rPr lang="en-US" dirty="0"/>
              <a:t>Delete: remove an element</a:t>
            </a:r>
          </a:p>
          <a:p>
            <a:pPr lvl="1"/>
            <a:r>
              <a:rPr lang="en-US" dirty="0"/>
              <a:t>Search: find an element</a:t>
            </a:r>
          </a:p>
          <a:p>
            <a:pPr lvl="1"/>
            <a:endParaRPr lang="en-US" dirty="0"/>
          </a:p>
          <a:p>
            <a:r>
              <a:rPr lang="en-US" dirty="0"/>
              <a:t>These are the main operations that is performed on data also known as CRUD that stands for:</a:t>
            </a:r>
          </a:p>
          <a:p>
            <a:pPr lvl="1"/>
            <a:r>
              <a:rPr lang="en-US" dirty="0"/>
              <a:t> CREATE</a:t>
            </a:r>
          </a:p>
          <a:p>
            <a:pPr lvl="1"/>
            <a:r>
              <a:rPr lang="en-US" dirty="0"/>
              <a:t> READ</a:t>
            </a:r>
          </a:p>
          <a:p>
            <a:pPr lvl="1"/>
            <a:r>
              <a:rPr lang="en-US" dirty="0"/>
              <a:t> UPDATE</a:t>
            </a:r>
          </a:p>
          <a:p>
            <a:pPr lvl="1"/>
            <a:r>
              <a:rPr lang="en-US" dirty="0"/>
              <a:t> DELETE</a:t>
            </a:r>
          </a:p>
        </p:txBody>
      </p:sp>
    </p:spTree>
    <p:extLst>
      <p:ext uri="{BB962C8B-B14F-4D97-AF65-F5344CB8AC3E}">
        <p14:creationId xmlns:p14="http://schemas.microsoft.com/office/powerpoint/2010/main" val="2619881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F6908-5715-8D0C-CFCD-CA4870D4E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Data 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30441-E858-BEB7-4439-AA83F60D6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Array</a:t>
            </a:r>
          </a:p>
          <a:p>
            <a:r>
              <a:rPr lang="en-US" dirty="0"/>
              <a:t>Linked List</a:t>
            </a:r>
          </a:p>
          <a:p>
            <a:r>
              <a:rPr lang="en-US" dirty="0"/>
              <a:t>Stack</a:t>
            </a:r>
          </a:p>
          <a:p>
            <a:r>
              <a:rPr lang="en-US" dirty="0"/>
              <a:t>Queue</a:t>
            </a:r>
          </a:p>
          <a:p>
            <a:r>
              <a:rPr lang="en-US" dirty="0"/>
              <a:t>Binary Tree</a:t>
            </a:r>
          </a:p>
          <a:p>
            <a:r>
              <a:rPr lang="en-US" dirty="0">
                <a:ea typeface="+mn-lt"/>
                <a:cs typeface="+mn-lt"/>
              </a:rPr>
              <a:t>Hash Table</a:t>
            </a:r>
            <a:endParaRPr lang="en-US" dirty="0"/>
          </a:p>
          <a:p>
            <a:r>
              <a:rPr lang="en-US" dirty="0"/>
              <a:t>Graph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3188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D5753-1884-9ED6-E80B-AE7078360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792D7-46E9-CA56-5C17-8CD1AFE057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An indexable continuous chuck of memory </a:t>
            </a:r>
          </a:p>
          <a:p>
            <a:r>
              <a:rPr lang="en-US" dirty="0"/>
              <a:t>Contain a list of elements and the size is fixed</a:t>
            </a:r>
          </a:p>
          <a:p>
            <a:r>
              <a:rPr lang="en-US" dirty="0"/>
              <a:t>Very fast access operation by using index and address, it access operation does not care about the size of the array. Meaning whether if it is size 100 or 1 million, the access operation still cost the same</a:t>
            </a:r>
          </a:p>
          <a:p>
            <a:r>
              <a:rPr lang="en-US" dirty="0"/>
              <a:t>Slow delete and search operation, why?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3074" name="Picture 2" descr="C++ Notes: Array Memory Diagrams">
            <a:extLst>
              <a:ext uri="{FF2B5EF4-FFF2-40B4-BE49-F238E27FC236}">
                <a16:creationId xmlns:a16="http://schemas.microsoft.com/office/drawing/2014/main" id="{D2A7D719-F45D-AAC3-90E4-D6E8DC571A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9655" y="4076178"/>
            <a:ext cx="2422746" cy="2638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30995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12963-7366-9317-9304-BC2401580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CF52B-E792-5ACE-688B-0FE7F9DB6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Flexible sized list of elements, each element contain the link to the next element</a:t>
            </a:r>
          </a:p>
          <a:p>
            <a:r>
              <a:rPr lang="en-US" dirty="0"/>
              <a:t>The size of the linked list is flexible</a:t>
            </a:r>
          </a:p>
          <a:p>
            <a:r>
              <a:rPr lang="en-US" dirty="0"/>
              <a:t>Very slow access and traversing, why?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100" name="Picture 4" descr="Linked List and its Properties">
            <a:extLst>
              <a:ext uri="{FF2B5EF4-FFF2-40B4-BE49-F238E27FC236}">
                <a16:creationId xmlns:a16="http://schemas.microsoft.com/office/drawing/2014/main" id="{A00B7209-4D68-15C8-57F7-1AF8291A3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4001294"/>
            <a:ext cx="4800600" cy="1962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59767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24125-A2D1-880C-0ACD-6A355A4AE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8985E-C50E-6D90-C604-29E76283D2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collection of elements that follow the FILO (First in Last Out) principle</a:t>
            </a:r>
          </a:p>
          <a:p>
            <a:r>
              <a:rPr lang="en-US" dirty="0"/>
              <a:t>The last element that added to the stack is the first element that can be access from the stack</a:t>
            </a:r>
          </a:p>
          <a:p>
            <a:r>
              <a:rPr lang="en-US" dirty="0"/>
              <a:t>Slow access if they are searching</a:t>
            </a:r>
          </a:p>
        </p:txBody>
      </p:sp>
      <p:pic>
        <p:nvPicPr>
          <p:cNvPr id="4" name="Picture 6" descr="smallstack.bmp">
            <a:extLst>
              <a:ext uri="{FF2B5EF4-FFF2-40B4-BE49-F238E27FC236}">
                <a16:creationId xmlns:a16="http://schemas.microsoft.com/office/drawing/2014/main" id="{DFE8AD18-F034-D485-40EE-C60A9AEA45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55836" y="3239278"/>
            <a:ext cx="2581470" cy="29141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111525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F217D-8120-C410-D020-B6A5EDC45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A1795-BBEA-E1B1-1CB4-811FE1DA8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collection of elements that follow the FIFO (First in First Out) principle</a:t>
            </a:r>
          </a:p>
          <a:p>
            <a:r>
              <a:rPr lang="en-US" dirty="0"/>
              <a:t>The first element that added to the stack is the first element that can be access from the stack</a:t>
            </a:r>
          </a:p>
          <a:p>
            <a:r>
              <a:rPr lang="en-US" dirty="0"/>
              <a:t>Slow access if we are searching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 descr="smallqueue.bmp">
            <a:extLst>
              <a:ext uri="{FF2B5EF4-FFF2-40B4-BE49-F238E27FC236}">
                <a16:creationId xmlns:a16="http://schemas.microsoft.com/office/drawing/2014/main" id="{705A7805-0EDA-DB23-5C3B-0945766AA6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93498" y="3234613"/>
            <a:ext cx="2755252" cy="3221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907493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7AC09-2437-E22F-4E7C-E840C8013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6D335-7353-6435-7129-B53EF59DF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tree data structure with at most two children's nodes</a:t>
            </a:r>
          </a:p>
          <a:p>
            <a:r>
              <a:rPr lang="en-US" dirty="0"/>
              <a:t>High memory usage</a:t>
            </a:r>
          </a:p>
          <a:p>
            <a:r>
              <a:rPr lang="en-US" dirty="0"/>
              <a:t>Fast search and add</a:t>
            </a:r>
          </a:p>
          <a:p>
            <a:endParaRPr lang="en-US" dirty="0"/>
          </a:p>
        </p:txBody>
      </p:sp>
      <p:pic>
        <p:nvPicPr>
          <p:cNvPr id="5122" name="Picture 2" descr="Properties of Binary Tree - GeeksforGeeks">
            <a:extLst>
              <a:ext uri="{FF2B5EF4-FFF2-40B4-BE49-F238E27FC236}">
                <a16:creationId xmlns:a16="http://schemas.microsoft.com/office/drawing/2014/main" id="{3BBB87C2-25B2-9E51-8236-99A3F96E62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6054" y="2614612"/>
            <a:ext cx="4436745" cy="3697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3417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AA9FA-682F-0A95-EF96-E47E794F2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62194-5599-27E0-8579-DFF779B52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Brute-Force Search</a:t>
            </a:r>
          </a:p>
          <a:p>
            <a:r>
              <a:rPr lang="en-US" dirty="0"/>
              <a:t>Binary Search</a:t>
            </a:r>
          </a:p>
          <a:p>
            <a:r>
              <a:rPr lang="en-US" dirty="0"/>
              <a:t>Sort</a:t>
            </a:r>
          </a:p>
          <a:p>
            <a:r>
              <a:rPr lang="en-US" dirty="0"/>
              <a:t>Breadth First Search</a:t>
            </a:r>
          </a:p>
          <a:p>
            <a:r>
              <a:rPr lang="en-US" dirty="0"/>
              <a:t>Shortest paths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0163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FBAB2-7432-AEFF-3061-08303D0F6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Brute Force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95D02-1619-476D-1D21-9102ABE881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An algorithm that access every single possible elements of a data structure to find a specific element. It go through each element one by one until the target is found.</a:t>
            </a:r>
          </a:p>
          <a:p>
            <a:r>
              <a:rPr lang="en-US" dirty="0"/>
              <a:t>Also known as exhaustive search or generate and test</a:t>
            </a:r>
          </a:p>
          <a:p>
            <a:r>
              <a:rPr lang="en-US" dirty="0"/>
              <a:t>Very expensive</a:t>
            </a:r>
          </a:p>
          <a:p>
            <a:r>
              <a:rPr lang="en-US" dirty="0"/>
              <a:t>If the element it searching for does not exist in the data structure, </a:t>
            </a:r>
            <a:r>
              <a:rPr lang="en-US"/>
              <a:t>then it need to go through everything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00230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6DF0-777C-041E-B774-A771CE3A2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B9DF1-B5F4-D991-9888-CB00B1505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An algorithm to search a sorted data structure, it compares the target value to the middle element of the array</a:t>
            </a:r>
          </a:p>
          <a:p>
            <a:r>
              <a:rPr lang="en-US" dirty="0"/>
              <a:t>Considered to be the best performing search algorithm</a:t>
            </a:r>
          </a:p>
          <a:p>
            <a:r>
              <a:rPr lang="en-US" dirty="0"/>
              <a:t>Can only be use on a sorted array or list</a:t>
            </a:r>
          </a:p>
          <a:p>
            <a:r>
              <a:rPr lang="en-US" dirty="0"/>
              <a:t>In most case when use, need to sort an array with a sorting algorithm first before using this algorithm to search</a:t>
            </a:r>
          </a:p>
        </p:txBody>
      </p:sp>
    </p:spTree>
    <p:extLst>
      <p:ext uri="{BB962C8B-B14F-4D97-AF65-F5344CB8AC3E}">
        <p14:creationId xmlns:p14="http://schemas.microsoft.com/office/powerpoint/2010/main" val="38122251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537EB-5D19-5D07-B902-03A3AB296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42E2D-0FD7-8211-729D-D1E0096A7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Sorting algorithm is used to sort a data structure</a:t>
            </a:r>
          </a:p>
          <a:p>
            <a:r>
              <a:rPr lang="en-US" dirty="0"/>
              <a:t>There are many different sorting algorithms:</a:t>
            </a:r>
          </a:p>
          <a:p>
            <a:pPr lvl="1"/>
            <a:r>
              <a:rPr lang="en-US" dirty="0"/>
              <a:t>Selection Sort</a:t>
            </a:r>
          </a:p>
          <a:p>
            <a:pPr lvl="1"/>
            <a:r>
              <a:rPr lang="en-US" dirty="0"/>
              <a:t>Bubble Sort</a:t>
            </a:r>
          </a:p>
          <a:p>
            <a:pPr lvl="1"/>
            <a:r>
              <a:rPr lang="en-US" dirty="0"/>
              <a:t>Insertion Sort</a:t>
            </a:r>
          </a:p>
          <a:p>
            <a:pPr lvl="1"/>
            <a:r>
              <a:rPr lang="en-US" dirty="0"/>
              <a:t>Merge Sort</a:t>
            </a:r>
          </a:p>
          <a:p>
            <a:pPr lvl="1"/>
            <a:r>
              <a:rPr lang="en-US" dirty="0"/>
              <a:t>Heap Sort</a:t>
            </a:r>
          </a:p>
          <a:p>
            <a:pPr lvl="1"/>
            <a:r>
              <a:rPr lang="en-US" dirty="0"/>
              <a:t>Quick Sort</a:t>
            </a:r>
          </a:p>
          <a:p>
            <a:pPr lvl="1"/>
            <a:r>
              <a:rPr lang="en-US" dirty="0"/>
              <a:t>…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1061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718A3-261D-9EAD-9728-23D99E3A5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Breadth First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F749D-D020-42DA-91D7-A2DA7E65AC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 search algorithm for tree data structure, its goal is to find whether a particular node with a value exist in a tree.</a:t>
            </a:r>
          </a:p>
          <a:p>
            <a:r>
              <a:rPr lang="en-US" dirty="0"/>
              <a:t>Explores all nodes at the present depth before moving to the next depth until the node is found</a:t>
            </a:r>
          </a:p>
          <a:p>
            <a:r>
              <a:rPr lang="en-US" dirty="0"/>
              <a:t>This algorithm is very memory intensive since it need to maintain information on all node it went through</a:t>
            </a:r>
          </a:p>
          <a:p>
            <a:r>
              <a:rPr lang="en-US" dirty="0"/>
              <a:t>It is slow when there are many nodes at each depth</a:t>
            </a:r>
          </a:p>
        </p:txBody>
      </p:sp>
    </p:spTree>
    <p:extLst>
      <p:ext uri="{BB962C8B-B14F-4D97-AF65-F5344CB8AC3E}">
        <p14:creationId xmlns:p14="http://schemas.microsoft.com/office/powerpoint/2010/main" val="17531538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5DBB6-CCDC-7F3C-F391-5DD1BC847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20717" cy="1347974"/>
          </a:xfrm>
        </p:spPr>
        <p:txBody>
          <a:bodyPr/>
          <a:lstStyle/>
          <a:p>
            <a:r>
              <a:rPr lang="en-US" dirty="0"/>
              <a:t>Shortest Path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128B6-6781-D8BD-337C-481ED17D3C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Algorithms to find the short paths in a graph data structure</a:t>
            </a:r>
          </a:p>
          <a:p>
            <a:r>
              <a:rPr lang="en-US" dirty="0"/>
              <a:t>Many algorithms: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Dijkstra's Algorithm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Bellman-Ford Algorithm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A Search Algorithm*</a:t>
            </a:r>
          </a:p>
          <a:p>
            <a:r>
              <a:rPr lang="en-US" dirty="0"/>
              <a:t>Applications such as</a:t>
            </a:r>
            <a:r>
              <a:rPr lang="en-US" dirty="0">
                <a:ea typeface="+mn-lt"/>
                <a:cs typeface="+mn-lt"/>
              </a:rPr>
              <a:t> GPS navigation, network routing, and resource allocation problems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4760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01CC7-D975-3564-9E7B-6C4870321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083BF-02F0-5D7F-7C23-96EA50B39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20717" cy="1347974"/>
          </a:xfrm>
        </p:spPr>
        <p:txBody>
          <a:bodyPr/>
          <a:lstStyle/>
          <a:p>
            <a:r>
              <a:rPr lang="en-US" dirty="0"/>
              <a:t>More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79FC0-B5F8-ABC4-4975-7CA92754C6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/>
              <a:t>Evolutionary/Genetic Algorithms </a:t>
            </a:r>
            <a:r>
              <a:rPr lang="en-US" dirty="0"/>
              <a:t>for </a:t>
            </a:r>
            <a:r>
              <a:rPr lang="en-US" dirty="0">
                <a:ea typeface="+mn-lt"/>
                <a:cs typeface="+mn-lt"/>
              </a:rPr>
              <a:t>combinatorial </a:t>
            </a:r>
            <a:r>
              <a:rPr lang="en-US" dirty="0"/>
              <a:t>optimization</a:t>
            </a:r>
          </a:p>
          <a:p>
            <a:r>
              <a:rPr lang="en-US" b="1" dirty="0">
                <a:solidFill>
                  <a:srgbClr val="000000"/>
                </a:solidFill>
                <a:ea typeface="+mn-lt"/>
                <a:cs typeface="+mn-lt"/>
              </a:rPr>
              <a:t>Kahn's Algorithm for </a:t>
            </a:r>
            <a:r>
              <a:rPr lang="en-US" dirty="0">
                <a:ea typeface="+mn-lt"/>
                <a:cs typeface="+mn-lt"/>
              </a:rPr>
              <a:t>Topological sorting</a:t>
            </a:r>
            <a:endParaRPr lang="en-US" dirty="0"/>
          </a:p>
          <a:p>
            <a:r>
              <a:rPr lang="en-US" b="1" dirty="0"/>
              <a:t>Huffman Encoding</a:t>
            </a:r>
            <a:r>
              <a:rPr lang="en-US" dirty="0"/>
              <a:t> for data compression</a:t>
            </a:r>
          </a:p>
          <a:p>
            <a:r>
              <a:rPr lang="en-US" b="1" dirty="0">
                <a:solidFill>
                  <a:srgbClr val="101418"/>
                </a:solidFill>
              </a:rPr>
              <a:t>Hierholzer's </a:t>
            </a:r>
            <a:r>
              <a:rPr lang="en-US" b="1" dirty="0">
                <a:solidFill>
                  <a:srgbClr val="101418"/>
                </a:solidFill>
                <a:ea typeface="+mn-lt"/>
                <a:cs typeface="+mn-lt"/>
              </a:rPr>
              <a:t>algorithm</a:t>
            </a:r>
            <a:r>
              <a:rPr lang="en-US" dirty="0">
                <a:solidFill>
                  <a:srgbClr val="101418"/>
                </a:solidFill>
                <a:ea typeface="+mn-lt"/>
                <a:cs typeface="+mn-lt"/>
              </a:rPr>
              <a:t> for Eulerian path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b="1" dirty="0"/>
              <a:t>Prim's Algorithm </a:t>
            </a:r>
            <a:r>
              <a:rPr lang="en-US" dirty="0"/>
              <a:t>for Minimum Spanning Tree</a:t>
            </a:r>
          </a:p>
          <a:p>
            <a:r>
              <a:rPr lang="en-US" dirty="0"/>
              <a:t>...</a:t>
            </a:r>
            <a:r>
              <a:rPr lang="en-US" dirty="0" err="1"/>
              <a:t>etc</a:t>
            </a:r>
          </a:p>
        </p:txBody>
      </p:sp>
    </p:spTree>
    <p:extLst>
      <p:ext uri="{BB962C8B-B14F-4D97-AF65-F5344CB8AC3E}">
        <p14:creationId xmlns:p14="http://schemas.microsoft.com/office/powerpoint/2010/main" val="13388432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88CF0-515F-68BA-96AD-78C233CAB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026BE-470D-45BD-C7C4-3CB575A89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B1642"/>
                </a:solidFill>
                <a:effectLst/>
              </a:rPr>
              <a:t>Data Structures and Algorithms are fundamental to computer science.</a:t>
            </a:r>
            <a:endParaRPr lang="en-US" b="0" i="0">
              <a:solidFill>
                <a:srgbClr val="1B1642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B1642"/>
                </a:solidFill>
                <a:effectLst/>
              </a:rPr>
              <a:t>Programming is just making use of data </a:t>
            </a:r>
            <a:r>
              <a:rPr lang="en-US" dirty="0">
                <a:solidFill>
                  <a:srgbClr val="1B1642"/>
                </a:solidFill>
              </a:rPr>
              <a:t>structures</a:t>
            </a:r>
            <a:r>
              <a:rPr lang="en-US" b="0" i="0" dirty="0">
                <a:solidFill>
                  <a:srgbClr val="1B1642"/>
                </a:solidFill>
                <a:effectLst/>
              </a:rPr>
              <a:t> and algorithms</a:t>
            </a:r>
          </a:p>
          <a:p>
            <a:r>
              <a:rPr lang="en-US" b="0" i="0" dirty="0">
                <a:solidFill>
                  <a:srgbClr val="1B1642"/>
                </a:solidFill>
                <a:effectLst/>
              </a:rPr>
              <a:t>Understanding </a:t>
            </a:r>
            <a:r>
              <a:rPr lang="en-US" dirty="0">
                <a:solidFill>
                  <a:srgbClr val="1B1642"/>
                </a:solidFill>
              </a:rPr>
              <a:t>data structures and algorithms</a:t>
            </a:r>
            <a:r>
              <a:rPr lang="en-US" b="0" i="0" dirty="0">
                <a:solidFill>
                  <a:srgbClr val="1B1642"/>
                </a:solidFill>
                <a:effectLst/>
              </a:rPr>
              <a:t> enables us to write </a:t>
            </a:r>
            <a:r>
              <a:rPr lang="en-US" b="1" i="0" dirty="0">
                <a:solidFill>
                  <a:srgbClr val="1B1642"/>
                </a:solidFill>
                <a:effectLst/>
              </a:rPr>
              <a:t>efficient and optimized code</a:t>
            </a:r>
            <a:r>
              <a:rPr lang="en-US" b="0" i="0" dirty="0">
                <a:solidFill>
                  <a:srgbClr val="1B1642"/>
                </a:solidFill>
                <a:effectLst/>
              </a:rPr>
              <a:t>.</a:t>
            </a:r>
          </a:p>
          <a:p>
            <a:r>
              <a:rPr lang="en-US" dirty="0">
                <a:solidFill>
                  <a:srgbClr val="1B1642"/>
                </a:solidFill>
              </a:rPr>
              <a:t>Same result can be achieving with different solution, it is important we design the best possible solution. </a:t>
            </a:r>
          </a:p>
          <a:p>
            <a:r>
              <a:rPr lang="en-US" dirty="0">
                <a:solidFill>
                  <a:srgbClr val="1B1642"/>
                </a:solidFill>
              </a:rPr>
              <a:t>Typically, the most efficient solution in computer science would be the cheapest in term of time and memory.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B1642"/>
                </a:solidFill>
                <a:effectLst/>
              </a:rPr>
              <a:t>They are commonly used in interviews and real-world projects.</a:t>
            </a:r>
          </a:p>
        </p:txBody>
      </p:sp>
    </p:spTree>
    <p:extLst>
      <p:ext uri="{BB962C8B-B14F-4D97-AF65-F5344CB8AC3E}">
        <p14:creationId xmlns:p14="http://schemas.microsoft.com/office/powerpoint/2010/main" val="4855407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F4B9B-427D-4CA7-A20B-40D967157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7122A-E36B-2078-D784-BA564E833F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Aptos"/>
                <a:cs typeface="Arial"/>
              </a:rPr>
              <a:t>Data Structures are ways of </a:t>
            </a:r>
            <a:r>
              <a:rPr lang="en-US" b="1" dirty="0">
                <a:latin typeface="Aptos"/>
                <a:cs typeface="Arial"/>
              </a:rPr>
              <a:t>organizing data</a:t>
            </a:r>
          </a:p>
          <a:p>
            <a:r>
              <a:rPr lang="en-US" dirty="0">
                <a:latin typeface="Aptos"/>
                <a:cs typeface="Arial"/>
              </a:rPr>
              <a:t>An algorithm is a </a:t>
            </a:r>
            <a:r>
              <a:rPr lang="en-US" b="1" dirty="0">
                <a:latin typeface="Aptos"/>
                <a:cs typeface="Arial"/>
              </a:rPr>
              <a:t>sequence</a:t>
            </a:r>
            <a:r>
              <a:rPr lang="en-US" dirty="0">
                <a:latin typeface="Aptos"/>
                <a:cs typeface="Arial"/>
              </a:rPr>
              <a:t> of well-defined </a:t>
            </a:r>
            <a:r>
              <a:rPr lang="en-US" b="1" dirty="0">
                <a:latin typeface="Aptos"/>
                <a:cs typeface="Arial"/>
              </a:rPr>
              <a:t>steps</a:t>
            </a:r>
            <a:r>
              <a:rPr lang="en-US" dirty="0">
                <a:latin typeface="Aptos"/>
                <a:cs typeface="Arial"/>
              </a:rPr>
              <a:t> </a:t>
            </a:r>
          </a:p>
          <a:p>
            <a:r>
              <a:rPr lang="en-US" dirty="0">
                <a:latin typeface="Aptos"/>
                <a:cs typeface="Arial"/>
              </a:rPr>
              <a:t>The relationship between data structures and algorithms is that algorithms operate on data structures</a:t>
            </a:r>
          </a:p>
          <a:p>
            <a:r>
              <a:rPr lang="en-US" dirty="0">
                <a:latin typeface="Aptos"/>
                <a:cs typeface="Arial"/>
              </a:rPr>
              <a:t>It is important to choose the right data structure and the right algorithm for the problem</a:t>
            </a:r>
          </a:p>
          <a:p>
            <a:r>
              <a:rPr lang="en-US" dirty="0">
                <a:latin typeface="Aptos"/>
                <a:cs typeface="Arial"/>
              </a:rPr>
              <a:t>The selection is situation-dependent based on the nature of the problem.</a:t>
            </a:r>
          </a:p>
          <a:p>
            <a:endParaRPr lang="en-US" dirty="0">
              <a:latin typeface="Aptos"/>
              <a:cs typeface="Arial"/>
            </a:endParaRPr>
          </a:p>
          <a:p>
            <a:endParaRPr lang="en-US" dirty="0">
              <a:latin typeface="Aptos"/>
              <a:cs typeface="Arial"/>
            </a:endParaRPr>
          </a:p>
          <a:p>
            <a:endParaRPr lang="en-US" dirty="0"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9977687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9503D-FA93-95ED-1D32-0907B4E3D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49B45-0978-9CDE-79F3-5EC0D92F21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5676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Every data structure possesses unique </a:t>
            </a:r>
            <a:r>
              <a:rPr lang="en-US" b="1" dirty="0"/>
              <a:t>strengths and weaknesses</a:t>
            </a:r>
            <a:r>
              <a:rPr lang="en-US" dirty="0"/>
              <a:t>. </a:t>
            </a:r>
          </a:p>
          <a:p>
            <a:r>
              <a:rPr lang="en-US" dirty="0"/>
              <a:t>They </a:t>
            </a:r>
            <a:r>
              <a:rPr lang="en-US" b="1" dirty="0"/>
              <a:t>excel</a:t>
            </a:r>
            <a:r>
              <a:rPr lang="en-US" dirty="0"/>
              <a:t> in performing certain operations while </a:t>
            </a:r>
            <a:r>
              <a:rPr lang="en-US" b="1" dirty="0"/>
              <a:t>struggling</a:t>
            </a:r>
            <a:r>
              <a:rPr lang="en-US" dirty="0"/>
              <a:t> with others. For example, array performed really well at accessing but poorly at other operations such as deleting and searching</a:t>
            </a:r>
          </a:p>
          <a:p>
            <a:r>
              <a:rPr lang="en-US" dirty="0"/>
              <a:t>Understanding these characteristics is crucial because it enables you to select the most </a:t>
            </a:r>
            <a:r>
              <a:rPr lang="en-US" b="1" dirty="0"/>
              <a:t>suitable data structure</a:t>
            </a:r>
            <a:r>
              <a:rPr lang="en-US" dirty="0"/>
              <a:t> for a particular problem.</a:t>
            </a:r>
          </a:p>
          <a:p>
            <a:r>
              <a:rPr lang="en-US" dirty="0"/>
              <a:t>The aim is for you to produce </a:t>
            </a:r>
            <a:r>
              <a:rPr lang="en-US" b="1" dirty="0"/>
              <a:t>high-quality performance code</a:t>
            </a:r>
            <a:r>
              <a:rPr lang="en-US" dirty="0"/>
              <a:t>, if not the best performing code possible.</a:t>
            </a:r>
          </a:p>
          <a:p>
            <a:r>
              <a:rPr lang="en-US" dirty="0"/>
              <a:t>This is why we should learn data structure and algorithm.</a:t>
            </a:r>
          </a:p>
        </p:txBody>
      </p:sp>
    </p:spTree>
    <p:extLst>
      <p:ext uri="{BB962C8B-B14F-4D97-AF65-F5344CB8AC3E}">
        <p14:creationId xmlns:p14="http://schemas.microsoft.com/office/powerpoint/2010/main" val="1314163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1692</Words>
  <Application>Microsoft Office PowerPoint</Application>
  <PresentationFormat>Widescreen</PresentationFormat>
  <Paragraphs>352</Paragraphs>
  <Slides>46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Chapter 1 - Overview</vt:lpstr>
      <vt:lpstr>Group Assignments</vt:lpstr>
      <vt:lpstr>Why Study Data Structure?</vt:lpstr>
      <vt:lpstr>Objectives of the Course</vt:lpstr>
      <vt:lpstr>What is a Data Structure?</vt:lpstr>
      <vt:lpstr>Think Data Structure</vt:lpstr>
      <vt:lpstr>What is an Algorithm?</vt:lpstr>
      <vt:lpstr>What is an Algorithm?</vt:lpstr>
      <vt:lpstr>Think Algorithm</vt:lpstr>
      <vt:lpstr>Think Algorithm – Search for a page</vt:lpstr>
      <vt:lpstr>Think Algorithm – Search for a page</vt:lpstr>
      <vt:lpstr>Think Algorithm – Search for a page</vt:lpstr>
      <vt:lpstr>Think Algorithm – Searching from Unsorted</vt:lpstr>
      <vt:lpstr>Why study algorithms?</vt:lpstr>
      <vt:lpstr>Why study algorithms?</vt:lpstr>
      <vt:lpstr>Data Structure or Algorithm?</vt:lpstr>
      <vt:lpstr>Data Structure or Algorithm? (Answered)</vt:lpstr>
      <vt:lpstr>Application of Data Structure</vt:lpstr>
      <vt:lpstr>Real World Data Storage</vt:lpstr>
      <vt:lpstr>Real World Data Storage </vt:lpstr>
      <vt:lpstr>Data Structure as a Programming Tool</vt:lpstr>
      <vt:lpstr>Data Structure Modeling the Real World</vt:lpstr>
      <vt:lpstr>Data Structure Modeling the Real World</vt:lpstr>
      <vt:lpstr>Data Structure Modeling the Real World</vt:lpstr>
      <vt:lpstr>Data Structure Modeling the Real World</vt:lpstr>
      <vt:lpstr>Data Structure Modeling the Real World</vt:lpstr>
      <vt:lpstr>Data Structure Modeling the Real World</vt:lpstr>
      <vt:lpstr>Data Structure Strengths and Weaknesses</vt:lpstr>
      <vt:lpstr>Overall Costs for Structures We’ll Study</vt:lpstr>
      <vt:lpstr>Operations of Data Structure</vt:lpstr>
      <vt:lpstr>Basic Data Structures</vt:lpstr>
      <vt:lpstr>Array</vt:lpstr>
      <vt:lpstr>Linked List</vt:lpstr>
      <vt:lpstr>Stack</vt:lpstr>
      <vt:lpstr>Queue</vt:lpstr>
      <vt:lpstr>Binary Tree</vt:lpstr>
      <vt:lpstr>Basic Algorithms</vt:lpstr>
      <vt:lpstr>Brute Force Search</vt:lpstr>
      <vt:lpstr>Binary Search</vt:lpstr>
      <vt:lpstr>Sorting</vt:lpstr>
      <vt:lpstr>Breadth First Search</vt:lpstr>
      <vt:lpstr>Shortest Path Algorithms</vt:lpstr>
      <vt:lpstr>More Algorithms</vt:lpstr>
      <vt:lpstr>Conclusion</vt:lpstr>
      <vt:lpstr>Conclusion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Visethboti SIN</dc:creator>
  <cp:lastModifiedBy>Visethboti SIN</cp:lastModifiedBy>
  <cp:revision>597</cp:revision>
  <dcterms:created xsi:type="dcterms:W3CDTF">2024-01-11T14:59:45Z</dcterms:created>
  <dcterms:modified xsi:type="dcterms:W3CDTF">2026-08-26T01:45:50Z</dcterms:modified>
</cp:coreProperties>
</file>