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409" r:id="rId3"/>
    <p:sldId id="417" r:id="rId4"/>
    <p:sldId id="257" r:id="rId5"/>
    <p:sldId id="339" r:id="rId6"/>
    <p:sldId id="340" r:id="rId7"/>
    <p:sldId id="270" r:id="rId8"/>
    <p:sldId id="281" r:id="rId9"/>
    <p:sldId id="279" r:id="rId10"/>
    <p:sldId id="398" r:id="rId11"/>
    <p:sldId id="341" r:id="rId12"/>
    <p:sldId id="342" r:id="rId13"/>
    <p:sldId id="418" r:id="rId14"/>
    <p:sldId id="343" r:id="rId15"/>
    <p:sldId id="344" r:id="rId16"/>
    <p:sldId id="419" r:id="rId17"/>
    <p:sldId id="345" r:id="rId18"/>
    <p:sldId id="420" r:id="rId19"/>
    <p:sldId id="415" r:id="rId20"/>
    <p:sldId id="416" r:id="rId21"/>
    <p:sldId id="346" r:id="rId22"/>
    <p:sldId id="421" r:id="rId23"/>
    <p:sldId id="404" r:id="rId24"/>
    <p:sldId id="347" r:id="rId25"/>
    <p:sldId id="348" r:id="rId26"/>
    <p:sldId id="424" r:id="rId27"/>
    <p:sldId id="402" r:id="rId28"/>
    <p:sldId id="422" r:id="rId29"/>
    <p:sldId id="423" r:id="rId30"/>
    <p:sldId id="401" r:id="rId31"/>
    <p:sldId id="403" r:id="rId32"/>
    <p:sldId id="349" r:id="rId33"/>
    <p:sldId id="405" r:id="rId34"/>
    <p:sldId id="425" r:id="rId35"/>
    <p:sldId id="350" r:id="rId36"/>
    <p:sldId id="430" r:id="rId37"/>
    <p:sldId id="426" r:id="rId38"/>
    <p:sldId id="429" r:id="rId39"/>
    <p:sldId id="428" r:id="rId40"/>
    <p:sldId id="445" r:id="rId41"/>
    <p:sldId id="427" r:id="rId42"/>
    <p:sldId id="431" r:id="rId43"/>
    <p:sldId id="432" r:id="rId44"/>
    <p:sldId id="435" r:id="rId45"/>
    <p:sldId id="433" r:id="rId46"/>
    <p:sldId id="434" r:id="rId47"/>
    <p:sldId id="436" r:id="rId48"/>
    <p:sldId id="437" r:id="rId49"/>
    <p:sldId id="438" r:id="rId50"/>
    <p:sldId id="443" r:id="rId51"/>
    <p:sldId id="440" r:id="rId52"/>
    <p:sldId id="439" r:id="rId53"/>
    <p:sldId id="441" r:id="rId54"/>
    <p:sldId id="442" r:id="rId55"/>
    <p:sldId id="444" r:id="rId56"/>
    <p:sldId id="351" r:id="rId57"/>
    <p:sldId id="352" r:id="rId58"/>
    <p:sldId id="407" r:id="rId59"/>
    <p:sldId id="353" r:id="rId60"/>
    <p:sldId id="354" r:id="rId61"/>
    <p:sldId id="355" r:id="rId62"/>
    <p:sldId id="356" r:id="rId63"/>
    <p:sldId id="357" r:id="rId64"/>
    <p:sldId id="358" r:id="rId65"/>
    <p:sldId id="359" r:id="rId66"/>
    <p:sldId id="360" r:id="rId67"/>
    <p:sldId id="361" r:id="rId68"/>
    <p:sldId id="362" r:id="rId69"/>
    <p:sldId id="406" r:id="rId70"/>
    <p:sldId id="363" r:id="rId71"/>
    <p:sldId id="364" r:id="rId72"/>
    <p:sldId id="365" r:id="rId73"/>
    <p:sldId id="366" r:id="rId74"/>
    <p:sldId id="367" r:id="rId75"/>
    <p:sldId id="368" r:id="rId76"/>
    <p:sldId id="369" r:id="rId77"/>
    <p:sldId id="370" r:id="rId78"/>
    <p:sldId id="371" r:id="rId79"/>
    <p:sldId id="375" r:id="rId80"/>
    <p:sldId id="400" r:id="rId81"/>
    <p:sldId id="376" r:id="rId82"/>
    <p:sldId id="377" r:id="rId83"/>
    <p:sldId id="373" r:id="rId84"/>
    <p:sldId id="410" r:id="rId85"/>
    <p:sldId id="412" r:id="rId86"/>
    <p:sldId id="411" r:id="rId87"/>
    <p:sldId id="413" r:id="rId88"/>
    <p:sldId id="378" r:id="rId89"/>
    <p:sldId id="399" r:id="rId90"/>
    <p:sldId id="379"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C42C77-C808-5660-1D09-E05609BAD536}" v="13" dt="2026-02-04T06:59:20.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4BA37-229C-442B-A161-A28C1085D165}"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538E99-FBEF-4BE2-9B5A-D601E057390C}" type="slidenum">
              <a:rPr lang="en-US" smtClean="0"/>
              <a:t>‹#›</a:t>
            </a:fld>
            <a:endParaRPr lang="en-US"/>
          </a:p>
        </p:txBody>
      </p:sp>
    </p:spTree>
    <p:extLst>
      <p:ext uri="{BB962C8B-B14F-4D97-AF65-F5344CB8AC3E}">
        <p14:creationId xmlns:p14="http://schemas.microsoft.com/office/powerpoint/2010/main" val="77543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553A5-19DB-95F4-94E8-B7F8C136C7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F8FDC3-C05C-8D48-7A6F-F01A2EC1F2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5C4FF6-BB45-5D3B-7144-93F6F0EA8D53}"/>
              </a:ext>
            </a:extLst>
          </p:cNvPr>
          <p:cNvSpPr>
            <a:spLocks noGrp="1"/>
          </p:cNvSpPr>
          <p:nvPr>
            <p:ph type="dt" sz="half" idx="10"/>
          </p:nvPr>
        </p:nvSpPr>
        <p:spPr/>
        <p:txBody>
          <a:bodyPr/>
          <a:lstStyle/>
          <a:p>
            <a:fld id="{CFBF7759-05E2-482B-B6F5-1F7F42934E22}" type="datetime1">
              <a:rPr lang="en-US" smtClean="0"/>
              <a:t>8/25/2026</a:t>
            </a:fld>
            <a:endParaRPr lang="en-US"/>
          </a:p>
        </p:txBody>
      </p:sp>
      <p:sp>
        <p:nvSpPr>
          <p:cNvPr id="5" name="Footer Placeholder 4">
            <a:extLst>
              <a:ext uri="{FF2B5EF4-FFF2-40B4-BE49-F238E27FC236}">
                <a16:creationId xmlns:a16="http://schemas.microsoft.com/office/drawing/2014/main" id="{D136F698-AF88-E6EE-1F6A-87F8BA76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9367BB-FCE2-9957-3D74-C21A9A31C7EC}"/>
              </a:ext>
            </a:extLst>
          </p:cNvPr>
          <p:cNvSpPr>
            <a:spLocks noGrp="1"/>
          </p:cNvSpPr>
          <p:nvPr>
            <p:ph type="sldNum" sz="quarter" idx="12"/>
          </p:nvPr>
        </p:nvSpPr>
        <p:spPr/>
        <p:txBody>
          <a:bodyPr/>
          <a:lstStyle>
            <a:lvl1pPr>
              <a:defRPr sz="2800"/>
            </a:lvl1pPr>
          </a:lstStyle>
          <a:p>
            <a:fld id="{A3AE6EEF-09FB-4745-97EC-5981027EA46D}" type="slidenum">
              <a:rPr lang="en-US" smtClean="0"/>
              <a:pPr/>
              <a:t>‹#›</a:t>
            </a:fld>
            <a:endParaRPr lang="en-US"/>
          </a:p>
        </p:txBody>
      </p:sp>
    </p:spTree>
    <p:extLst>
      <p:ext uri="{BB962C8B-B14F-4D97-AF65-F5344CB8AC3E}">
        <p14:creationId xmlns:p14="http://schemas.microsoft.com/office/powerpoint/2010/main" val="2348780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2B39B-9309-3798-F28E-B8FD23E2601D}"/>
              </a:ext>
            </a:extLst>
          </p:cNvPr>
          <p:cNvSpPr>
            <a:spLocks noGrp="1"/>
          </p:cNvSpPr>
          <p:nvPr>
            <p:ph type="title"/>
          </p:nvPr>
        </p:nvSpPr>
        <p:spPr/>
        <p:txBody>
          <a:bodyPr/>
          <a:lstStyle>
            <a:lvl1pPr>
              <a:defRPr>
                <a:latin typeface="Aptos Display (Headings)"/>
              </a:defRPr>
            </a:lvl1pPr>
          </a:lstStyle>
          <a:p>
            <a:r>
              <a:rPr lang="en-US"/>
              <a:t>Click to edit Master title style</a:t>
            </a:r>
          </a:p>
        </p:txBody>
      </p:sp>
      <p:sp>
        <p:nvSpPr>
          <p:cNvPr id="3" name="Content Placeholder 2">
            <a:extLst>
              <a:ext uri="{FF2B5EF4-FFF2-40B4-BE49-F238E27FC236}">
                <a16:creationId xmlns:a16="http://schemas.microsoft.com/office/drawing/2014/main" id="{0B76545D-8816-490C-8515-4889388EF420}"/>
              </a:ext>
            </a:extLst>
          </p:cNvPr>
          <p:cNvSpPr>
            <a:spLocks noGrp="1"/>
          </p:cNvSpPr>
          <p:nvPr>
            <p:ph idx="1"/>
          </p:nvPr>
        </p:nvSpPr>
        <p:spPr/>
        <p:txBody>
          <a:bodyPr>
            <a:normAutofit/>
          </a:bodyPr>
          <a:lstStyle>
            <a:lvl1pPr>
              <a:defRPr sz="2600">
                <a:latin typeface="Aptos" panose="020B0004020202020204" pitchFamily="34" charset="0"/>
              </a:defRPr>
            </a:lvl1pPr>
            <a:lvl2pPr>
              <a:defRPr sz="2400">
                <a:latin typeface="Aptos" panose="020B0004020202020204" pitchFamily="34" charset="0"/>
              </a:defRPr>
            </a:lvl2pPr>
            <a:lvl3pPr>
              <a:defRPr sz="2800">
                <a:latin typeface="Aptos" panose="020B0004020202020204" pitchFamily="34" charset="0"/>
              </a:defRPr>
            </a:lvl3pPr>
            <a:lvl4pPr>
              <a:defRPr sz="2800">
                <a:latin typeface="Aptos" panose="020B0004020202020204" pitchFamily="34" charset="0"/>
              </a:defRPr>
            </a:lvl4pPr>
            <a:lvl5pPr>
              <a:defRPr sz="28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9524F1-0240-FAA8-0369-D3A33C2E93E7}"/>
              </a:ext>
            </a:extLst>
          </p:cNvPr>
          <p:cNvSpPr>
            <a:spLocks noGrp="1"/>
          </p:cNvSpPr>
          <p:nvPr>
            <p:ph type="dt" sz="half" idx="10"/>
          </p:nvPr>
        </p:nvSpPr>
        <p:spPr/>
        <p:txBody>
          <a:bodyPr/>
          <a:lstStyle/>
          <a:p>
            <a:fld id="{EA1C87CE-AF18-4681-BA5E-395414CDE530}" type="datetime1">
              <a:rPr lang="en-US" smtClean="0"/>
              <a:t>8/25/2026</a:t>
            </a:fld>
            <a:endParaRPr lang="en-US"/>
          </a:p>
        </p:txBody>
      </p:sp>
      <p:sp>
        <p:nvSpPr>
          <p:cNvPr id="5" name="Footer Placeholder 4">
            <a:extLst>
              <a:ext uri="{FF2B5EF4-FFF2-40B4-BE49-F238E27FC236}">
                <a16:creationId xmlns:a16="http://schemas.microsoft.com/office/drawing/2014/main" id="{078D38B5-1FC6-BF16-B621-67A9FD444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E8FD8-0CA2-6238-BC47-4309925D530A}"/>
              </a:ext>
            </a:extLst>
          </p:cNvPr>
          <p:cNvSpPr>
            <a:spLocks noGrp="1"/>
          </p:cNvSpPr>
          <p:nvPr>
            <p:ph type="sldNum" sz="quarter" idx="12"/>
          </p:nvPr>
        </p:nvSpPr>
        <p:spPr/>
        <p:txBody>
          <a:bodyPr/>
          <a:lstStyle>
            <a:lvl1pPr>
              <a:defRPr>
                <a:solidFill>
                  <a:schemeClr val="tx1"/>
                </a:solidFill>
              </a:defRPr>
            </a:lvl1pPr>
          </a:lstStyle>
          <a:p>
            <a:fld id="{A3AE6EEF-09FB-4745-97EC-5981027EA46D}" type="slidenum">
              <a:rPr lang="en-US" smtClean="0"/>
              <a:pPr/>
              <a:t>‹#›</a:t>
            </a:fld>
            <a:endParaRPr lang="en-US"/>
          </a:p>
        </p:txBody>
      </p:sp>
    </p:spTree>
    <p:extLst>
      <p:ext uri="{BB962C8B-B14F-4D97-AF65-F5344CB8AC3E}">
        <p14:creationId xmlns:p14="http://schemas.microsoft.com/office/powerpoint/2010/main" val="3642571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A9674-D567-951A-17A4-1A0C1568BB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229720-F5D1-1530-96B0-E5584C9113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EAD599-98DD-ECC2-2014-0CBAF690E112}"/>
              </a:ext>
            </a:extLst>
          </p:cNvPr>
          <p:cNvSpPr>
            <a:spLocks noGrp="1"/>
          </p:cNvSpPr>
          <p:nvPr>
            <p:ph type="dt" sz="half" idx="10"/>
          </p:nvPr>
        </p:nvSpPr>
        <p:spPr/>
        <p:txBody>
          <a:bodyPr/>
          <a:lstStyle/>
          <a:p>
            <a:fld id="{C61EC14C-7D9B-46CF-950D-3068BF5F8739}" type="datetime1">
              <a:rPr lang="en-US" smtClean="0"/>
              <a:t>8/25/2026</a:t>
            </a:fld>
            <a:endParaRPr lang="en-US"/>
          </a:p>
        </p:txBody>
      </p:sp>
      <p:sp>
        <p:nvSpPr>
          <p:cNvPr id="5" name="Footer Placeholder 4">
            <a:extLst>
              <a:ext uri="{FF2B5EF4-FFF2-40B4-BE49-F238E27FC236}">
                <a16:creationId xmlns:a16="http://schemas.microsoft.com/office/drawing/2014/main" id="{1C204627-4468-7855-478E-7840C21514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14A2C4-0EEC-4988-CD02-2359F17654D4}"/>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3331281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DC9F0-A4B8-EA1A-BB3D-C8C3A04FCA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BC2D3A-6523-E861-E1BB-4FB12A255C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9B58B5-C27A-3964-178E-A58E2D758C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88E50A-6E7E-93C1-9D7E-3CC9347E4063}"/>
              </a:ext>
            </a:extLst>
          </p:cNvPr>
          <p:cNvSpPr>
            <a:spLocks noGrp="1"/>
          </p:cNvSpPr>
          <p:nvPr>
            <p:ph type="dt" sz="half" idx="10"/>
          </p:nvPr>
        </p:nvSpPr>
        <p:spPr/>
        <p:txBody>
          <a:bodyPr/>
          <a:lstStyle/>
          <a:p>
            <a:fld id="{0FED0F86-BA8A-41F2-A6AB-ACEDB62BFDA1}" type="datetime1">
              <a:rPr lang="en-US" smtClean="0"/>
              <a:t>8/25/2026</a:t>
            </a:fld>
            <a:endParaRPr lang="en-US"/>
          </a:p>
        </p:txBody>
      </p:sp>
      <p:sp>
        <p:nvSpPr>
          <p:cNvPr id="6" name="Footer Placeholder 5">
            <a:extLst>
              <a:ext uri="{FF2B5EF4-FFF2-40B4-BE49-F238E27FC236}">
                <a16:creationId xmlns:a16="http://schemas.microsoft.com/office/drawing/2014/main" id="{04098B88-20C2-E3AC-7345-0F8392740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BA72D5-43B3-E8D4-63D2-BFAC4F4E6D00}"/>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2856848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1B0E-6A25-BB40-98B3-BB8BDBB19A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919658-D95C-1DF8-640F-DB77F32DF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E05774-CEA5-49B9-786E-B54760C9C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0378C1-4094-9915-5E7B-9CD113923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F20376-B7F6-8798-F43A-B938B500B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39AE42-281E-3B4D-6E87-8F4CD05A80DF}"/>
              </a:ext>
            </a:extLst>
          </p:cNvPr>
          <p:cNvSpPr>
            <a:spLocks noGrp="1"/>
          </p:cNvSpPr>
          <p:nvPr>
            <p:ph type="dt" sz="half" idx="10"/>
          </p:nvPr>
        </p:nvSpPr>
        <p:spPr/>
        <p:txBody>
          <a:bodyPr/>
          <a:lstStyle/>
          <a:p>
            <a:fld id="{51F8381E-7AF3-41DC-8A60-A3D0366E3804}" type="datetime1">
              <a:rPr lang="en-US" smtClean="0"/>
              <a:t>8/25/2026</a:t>
            </a:fld>
            <a:endParaRPr lang="en-US"/>
          </a:p>
        </p:txBody>
      </p:sp>
      <p:sp>
        <p:nvSpPr>
          <p:cNvPr id="8" name="Footer Placeholder 7">
            <a:extLst>
              <a:ext uri="{FF2B5EF4-FFF2-40B4-BE49-F238E27FC236}">
                <a16:creationId xmlns:a16="http://schemas.microsoft.com/office/drawing/2014/main" id="{C7D0502A-E0DE-F278-47EA-C3CE8387F6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FCB859-E989-9AE9-16F5-878D08F2A626}"/>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1153059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19D7-7D4F-454A-4426-57ECAC3D34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7342-EDDC-591F-C2BB-691D23995F6E}"/>
              </a:ext>
            </a:extLst>
          </p:cNvPr>
          <p:cNvSpPr>
            <a:spLocks noGrp="1"/>
          </p:cNvSpPr>
          <p:nvPr>
            <p:ph type="dt" sz="half" idx="10"/>
          </p:nvPr>
        </p:nvSpPr>
        <p:spPr/>
        <p:txBody>
          <a:bodyPr/>
          <a:lstStyle/>
          <a:p>
            <a:fld id="{2D8A31C5-60EB-4171-A004-1B1F5756F433}" type="datetime1">
              <a:rPr lang="en-US" smtClean="0"/>
              <a:t>8/25/2026</a:t>
            </a:fld>
            <a:endParaRPr lang="en-US"/>
          </a:p>
        </p:txBody>
      </p:sp>
      <p:sp>
        <p:nvSpPr>
          <p:cNvPr id="4" name="Footer Placeholder 3">
            <a:extLst>
              <a:ext uri="{FF2B5EF4-FFF2-40B4-BE49-F238E27FC236}">
                <a16:creationId xmlns:a16="http://schemas.microsoft.com/office/drawing/2014/main" id="{33600EF4-212A-F998-34F1-DEFB81738D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93BE62-AEDA-46FA-0DD8-FF99565039D7}"/>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3819300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39EDD3-854B-C517-7A15-454648DE38FC}"/>
              </a:ext>
            </a:extLst>
          </p:cNvPr>
          <p:cNvSpPr>
            <a:spLocks noGrp="1"/>
          </p:cNvSpPr>
          <p:nvPr>
            <p:ph type="dt" sz="half" idx="10"/>
          </p:nvPr>
        </p:nvSpPr>
        <p:spPr/>
        <p:txBody>
          <a:bodyPr/>
          <a:lstStyle/>
          <a:p>
            <a:fld id="{5991CAF2-4AEE-4ACD-AF82-F67F8BEBE76F}" type="datetime1">
              <a:rPr lang="en-US" smtClean="0"/>
              <a:t>8/25/2026</a:t>
            </a:fld>
            <a:endParaRPr lang="en-US"/>
          </a:p>
        </p:txBody>
      </p:sp>
      <p:sp>
        <p:nvSpPr>
          <p:cNvPr id="3" name="Footer Placeholder 2">
            <a:extLst>
              <a:ext uri="{FF2B5EF4-FFF2-40B4-BE49-F238E27FC236}">
                <a16:creationId xmlns:a16="http://schemas.microsoft.com/office/drawing/2014/main" id="{DFE68F73-8EF3-37C3-C6CC-13767A5504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73B1B0-130D-EE5F-AE22-C292EB07F22D}"/>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472936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29E3-23F6-D9B4-85F2-98812C73F8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CE88A6-4A31-4D0C-9951-451392E730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0A8D36-EABF-B0A7-F253-22F9EB4A28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B9789-F9C1-5F96-4C0E-816A76EC4C31}"/>
              </a:ext>
            </a:extLst>
          </p:cNvPr>
          <p:cNvSpPr>
            <a:spLocks noGrp="1"/>
          </p:cNvSpPr>
          <p:nvPr>
            <p:ph type="dt" sz="half" idx="10"/>
          </p:nvPr>
        </p:nvSpPr>
        <p:spPr/>
        <p:txBody>
          <a:bodyPr/>
          <a:lstStyle/>
          <a:p>
            <a:fld id="{E7DD9D5B-DC50-4754-82C6-0A9D5E3BF60B}" type="datetime1">
              <a:rPr lang="en-US" smtClean="0"/>
              <a:t>8/25/2026</a:t>
            </a:fld>
            <a:endParaRPr lang="en-US"/>
          </a:p>
        </p:txBody>
      </p:sp>
      <p:sp>
        <p:nvSpPr>
          <p:cNvPr id="6" name="Footer Placeholder 5">
            <a:extLst>
              <a:ext uri="{FF2B5EF4-FFF2-40B4-BE49-F238E27FC236}">
                <a16:creationId xmlns:a16="http://schemas.microsoft.com/office/drawing/2014/main" id="{216251E5-67B5-141A-CE9E-6FB3EA012E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4752C9-2AD3-BD83-BC96-69B27713F0E7}"/>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4174564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8C0E1-FACE-2734-70FD-28BD74CFD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3C38B7-9976-8A61-8860-6723FE722C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0F4E39-ED33-6EBB-42E8-6260FE6775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0FF2F-5E8B-F350-2484-517722A531E0}"/>
              </a:ext>
            </a:extLst>
          </p:cNvPr>
          <p:cNvSpPr>
            <a:spLocks noGrp="1"/>
          </p:cNvSpPr>
          <p:nvPr>
            <p:ph type="dt" sz="half" idx="10"/>
          </p:nvPr>
        </p:nvSpPr>
        <p:spPr/>
        <p:txBody>
          <a:bodyPr/>
          <a:lstStyle/>
          <a:p>
            <a:fld id="{9446FC4D-D17C-45DF-889A-81C995DBD53E}" type="datetime1">
              <a:rPr lang="en-US" smtClean="0"/>
              <a:t>8/25/2026</a:t>
            </a:fld>
            <a:endParaRPr lang="en-US"/>
          </a:p>
        </p:txBody>
      </p:sp>
      <p:sp>
        <p:nvSpPr>
          <p:cNvPr id="6" name="Footer Placeholder 5">
            <a:extLst>
              <a:ext uri="{FF2B5EF4-FFF2-40B4-BE49-F238E27FC236}">
                <a16:creationId xmlns:a16="http://schemas.microsoft.com/office/drawing/2014/main" id="{ADA981C2-7492-EAE8-9243-9CE1FD562B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0D2B23-797A-82FD-0135-E61C5B2A0FB3}"/>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2751220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91BE-C900-4CC8-4176-1BC7092887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7AA349-7AA8-43A6-593C-D879A726A1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9932B-3D40-9F01-12E7-4E239FFBA3E7}"/>
              </a:ext>
            </a:extLst>
          </p:cNvPr>
          <p:cNvSpPr>
            <a:spLocks noGrp="1"/>
          </p:cNvSpPr>
          <p:nvPr>
            <p:ph type="dt" sz="half" idx="10"/>
          </p:nvPr>
        </p:nvSpPr>
        <p:spPr/>
        <p:txBody>
          <a:bodyPr/>
          <a:lstStyle/>
          <a:p>
            <a:fld id="{E8CC20A0-7B0C-4B19-BAB1-9EA3DF3F718C}" type="datetime1">
              <a:rPr lang="en-US" smtClean="0"/>
              <a:t>8/25/2026</a:t>
            </a:fld>
            <a:endParaRPr lang="en-US"/>
          </a:p>
        </p:txBody>
      </p:sp>
      <p:sp>
        <p:nvSpPr>
          <p:cNvPr id="5" name="Footer Placeholder 4">
            <a:extLst>
              <a:ext uri="{FF2B5EF4-FFF2-40B4-BE49-F238E27FC236}">
                <a16:creationId xmlns:a16="http://schemas.microsoft.com/office/drawing/2014/main" id="{68B0D4F8-7A51-5959-6AB6-1E0F63764E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2B5DC-E89D-5AAC-355C-BAF5A0BCFA14}"/>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3026244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D7D35C-A0D5-5E08-ED1F-924F039CA9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D089A9-51D7-8ADA-48E6-1A54AC801D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282239-8752-50FD-340F-B6D699CDE926}"/>
              </a:ext>
            </a:extLst>
          </p:cNvPr>
          <p:cNvSpPr>
            <a:spLocks noGrp="1"/>
          </p:cNvSpPr>
          <p:nvPr>
            <p:ph type="dt" sz="half" idx="10"/>
          </p:nvPr>
        </p:nvSpPr>
        <p:spPr/>
        <p:txBody>
          <a:bodyPr/>
          <a:lstStyle/>
          <a:p>
            <a:fld id="{7E879110-5E9F-4690-9753-9885368CC341}" type="datetime1">
              <a:rPr lang="en-US" smtClean="0"/>
              <a:t>8/25/2026</a:t>
            </a:fld>
            <a:endParaRPr lang="en-US"/>
          </a:p>
        </p:txBody>
      </p:sp>
      <p:sp>
        <p:nvSpPr>
          <p:cNvPr id="5" name="Footer Placeholder 4">
            <a:extLst>
              <a:ext uri="{FF2B5EF4-FFF2-40B4-BE49-F238E27FC236}">
                <a16:creationId xmlns:a16="http://schemas.microsoft.com/office/drawing/2014/main" id="{34FF569C-E038-F5D7-1788-10F532599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D21A9F-58CB-6E3E-23A5-1651F6A52E4A}"/>
              </a:ext>
            </a:extLst>
          </p:cNvPr>
          <p:cNvSpPr>
            <a:spLocks noGrp="1"/>
          </p:cNvSpPr>
          <p:nvPr>
            <p:ph type="sldNum" sz="quarter" idx="12"/>
          </p:nvPr>
        </p:nvSpPr>
        <p:spPr/>
        <p:txBody>
          <a:bodyPr/>
          <a:lstStyle/>
          <a:p>
            <a:fld id="{A3AE6EEF-09FB-4745-97EC-5981027EA46D}" type="slidenum">
              <a:rPr lang="en-US" smtClean="0"/>
              <a:t>‹#›</a:t>
            </a:fld>
            <a:endParaRPr lang="en-US"/>
          </a:p>
        </p:txBody>
      </p:sp>
    </p:spTree>
    <p:extLst>
      <p:ext uri="{BB962C8B-B14F-4D97-AF65-F5344CB8AC3E}">
        <p14:creationId xmlns:p14="http://schemas.microsoft.com/office/powerpoint/2010/main" val="1187616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228FA0-42C0-5B81-5760-A2D43079CD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8C9899-7B78-C0B4-E288-50895AC748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001D3-C0BE-BF3E-EC26-EC75A18BA0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11E0A7-3F60-41F0-B3F0-871963A4B7D2}" type="datetime1">
              <a:rPr lang="en-US" smtClean="0"/>
              <a:t>8/25/2026</a:t>
            </a:fld>
            <a:endParaRPr lang="en-US"/>
          </a:p>
        </p:txBody>
      </p:sp>
      <p:sp>
        <p:nvSpPr>
          <p:cNvPr id="5" name="Footer Placeholder 4">
            <a:extLst>
              <a:ext uri="{FF2B5EF4-FFF2-40B4-BE49-F238E27FC236}">
                <a16:creationId xmlns:a16="http://schemas.microsoft.com/office/drawing/2014/main" id="{82B9391B-F566-BA41-0F47-2866D0DE0F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CFE5F0-DBDA-D76B-48D4-28F7E51CD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400">
                <a:solidFill>
                  <a:schemeClr val="tx1">
                    <a:tint val="75000"/>
                  </a:schemeClr>
                </a:solidFill>
                <a:latin typeface="Aptos" panose="020B0004020202020204" pitchFamily="34" charset="0"/>
              </a:defRPr>
            </a:lvl1pPr>
          </a:lstStyle>
          <a:p>
            <a:fld id="{A3AE6EEF-09FB-4745-97EC-5981027EA46D}" type="slidenum">
              <a:rPr lang="en-US" smtClean="0"/>
              <a:pPr/>
              <a:t>‹#›</a:t>
            </a:fld>
            <a:endParaRPr lang="en-US"/>
          </a:p>
        </p:txBody>
      </p:sp>
    </p:spTree>
    <p:extLst>
      <p:ext uri="{BB962C8B-B14F-4D97-AF65-F5344CB8AC3E}">
        <p14:creationId xmlns:p14="http://schemas.microsoft.com/office/powerpoint/2010/main" val="20850076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ptos Display (Headings)"/>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biblelamp/JavaExercises/blob/master/Algorithms/array/array.java"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github.com/biblelamp/JavaExercises/blob/master/Algorithms/array/lowArray.jav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github.com/biblelamp/JavaExercises/blob/master/Algorithms/array/lowArray.java"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biblelamp/JavaExercises/blob/master/Algorithms/array/highArray.java"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github.com/biblelamp/JavaExercises/blob/master/Algorithms/array/orderedArray.java"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EF33-4D71-439A-88AE-0E07CF13F2FA}"/>
              </a:ext>
            </a:extLst>
          </p:cNvPr>
          <p:cNvSpPr>
            <a:spLocks noGrp="1"/>
          </p:cNvSpPr>
          <p:nvPr>
            <p:ph type="ctrTitle"/>
          </p:nvPr>
        </p:nvSpPr>
        <p:spPr/>
        <p:txBody>
          <a:bodyPr/>
          <a:lstStyle/>
          <a:p>
            <a:r>
              <a:rPr lang="en-US" altLang="en-US">
                <a:latin typeface="Aptos" panose="020B0004020202020204" pitchFamily="34" charset="0"/>
              </a:rPr>
              <a:t>Chapter 2: Arrays</a:t>
            </a:r>
            <a:endParaRPr lang="en-US">
              <a:latin typeface="Aptos" panose="020B0004020202020204" pitchFamily="34" charset="0"/>
            </a:endParaRPr>
          </a:p>
        </p:txBody>
      </p:sp>
      <p:sp>
        <p:nvSpPr>
          <p:cNvPr id="4" name="Slide Number Placeholder 3">
            <a:extLst>
              <a:ext uri="{FF2B5EF4-FFF2-40B4-BE49-F238E27FC236}">
                <a16:creationId xmlns:a16="http://schemas.microsoft.com/office/drawing/2014/main" id="{4C9EE4CF-643C-D310-DAB6-1156DF21756D}"/>
              </a:ext>
            </a:extLst>
          </p:cNvPr>
          <p:cNvSpPr>
            <a:spLocks noGrp="1"/>
          </p:cNvSpPr>
          <p:nvPr>
            <p:ph type="sldNum" sz="quarter" idx="12"/>
          </p:nvPr>
        </p:nvSpPr>
        <p:spPr/>
        <p:txBody>
          <a:bodyPr/>
          <a:lstStyle/>
          <a:p>
            <a:fld id="{A3AE6EEF-09FB-4745-97EC-5981027EA46D}" type="slidenum">
              <a:rPr lang="en-US" smtClean="0">
                <a:solidFill>
                  <a:schemeClr val="tx1"/>
                </a:solidFill>
              </a:rPr>
              <a:pPr/>
              <a:t>1</a:t>
            </a:fld>
            <a:endParaRPr lang="en-US">
              <a:solidFill>
                <a:schemeClr val="tx1"/>
              </a:solidFill>
            </a:endParaRPr>
          </a:p>
        </p:txBody>
      </p:sp>
    </p:spTree>
    <p:extLst>
      <p:ext uri="{BB962C8B-B14F-4D97-AF65-F5344CB8AC3E}">
        <p14:creationId xmlns:p14="http://schemas.microsoft.com/office/powerpoint/2010/main" val="1049490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38BE-6D70-F2A8-0BD1-295D550D23F2}"/>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7DFBB4C1-F48A-ABF2-E848-1C7726A90A70}"/>
              </a:ext>
            </a:extLst>
          </p:cNvPr>
          <p:cNvSpPr>
            <a:spLocks noGrp="1"/>
          </p:cNvSpPr>
          <p:nvPr>
            <p:ph idx="1"/>
          </p:nvPr>
        </p:nvSpPr>
        <p:spPr/>
        <p:txBody>
          <a:bodyPr vert="horz" lIns="91440" tIns="45720" rIns="91440" bIns="45720" rtlCol="0" anchor="t">
            <a:normAutofit/>
          </a:bodyPr>
          <a:lstStyle/>
          <a:p>
            <a:r>
              <a:rPr lang="en-US">
                <a:latin typeface="Aptos"/>
              </a:rPr>
              <a:t>Group Presentation</a:t>
            </a:r>
          </a:p>
          <a:p>
            <a:r>
              <a:rPr lang="en-US">
                <a:latin typeface="Aptos"/>
              </a:rPr>
              <a:t>What is Array</a:t>
            </a:r>
          </a:p>
          <a:p>
            <a:r>
              <a:rPr lang="en-US">
                <a:latin typeface="Aptos"/>
              </a:rPr>
              <a:t>Unordered vs Ordered Array</a:t>
            </a:r>
          </a:p>
          <a:p>
            <a:r>
              <a:rPr lang="en-US">
                <a:latin typeface="Aptos"/>
              </a:rPr>
              <a:t>Some implementations</a:t>
            </a:r>
          </a:p>
          <a:p>
            <a:r>
              <a:rPr lang="en-US">
                <a:latin typeface="Aptos"/>
              </a:rPr>
              <a:t>Strength and weakness</a:t>
            </a:r>
            <a:endParaRPr lang="en-US"/>
          </a:p>
        </p:txBody>
      </p:sp>
      <p:sp>
        <p:nvSpPr>
          <p:cNvPr id="4" name="Slide Number Placeholder 3">
            <a:extLst>
              <a:ext uri="{FF2B5EF4-FFF2-40B4-BE49-F238E27FC236}">
                <a16:creationId xmlns:a16="http://schemas.microsoft.com/office/drawing/2014/main" id="{A2D03764-FFB7-6F90-95D7-60CCC5D22477}"/>
              </a:ext>
            </a:extLst>
          </p:cNvPr>
          <p:cNvSpPr>
            <a:spLocks noGrp="1"/>
          </p:cNvSpPr>
          <p:nvPr>
            <p:ph type="sldNum" sz="quarter" idx="12"/>
          </p:nvPr>
        </p:nvSpPr>
        <p:spPr/>
        <p:txBody>
          <a:bodyPr/>
          <a:lstStyle/>
          <a:p>
            <a:fld id="{A3AE6EEF-09FB-4745-97EC-5981027EA46D}" type="slidenum">
              <a:rPr lang="en-US" smtClean="0"/>
              <a:pPr/>
              <a:t>2</a:t>
            </a:fld>
            <a:endParaRPr lang="en-US"/>
          </a:p>
        </p:txBody>
      </p:sp>
    </p:spTree>
    <p:extLst>
      <p:ext uri="{BB962C8B-B14F-4D97-AF65-F5344CB8AC3E}">
        <p14:creationId xmlns:p14="http://schemas.microsoft.com/office/powerpoint/2010/main" val="2288019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E96AB-1892-D210-E155-3A18F93D17B0}"/>
              </a:ext>
            </a:extLst>
          </p:cNvPr>
          <p:cNvSpPr>
            <a:spLocks noGrp="1"/>
          </p:cNvSpPr>
          <p:nvPr>
            <p:ph type="title"/>
          </p:nvPr>
        </p:nvSpPr>
        <p:spPr/>
        <p:txBody>
          <a:bodyPr/>
          <a:lstStyle/>
          <a:p>
            <a:r>
              <a:rPr lang="en-US"/>
              <a:t>Group Presentation</a:t>
            </a:r>
          </a:p>
        </p:txBody>
      </p:sp>
      <p:sp>
        <p:nvSpPr>
          <p:cNvPr id="6" name="Text Placeholder 5">
            <a:extLst>
              <a:ext uri="{FF2B5EF4-FFF2-40B4-BE49-F238E27FC236}">
                <a16:creationId xmlns:a16="http://schemas.microsoft.com/office/drawing/2014/main" id="{9D97A00C-502D-6C5E-D16D-D6EC71F93241}"/>
              </a:ext>
            </a:extLst>
          </p:cNvPr>
          <p:cNvSpPr>
            <a:spLocks noGrp="1"/>
          </p:cNvSpPr>
          <p:nvPr>
            <p:ph type="body" idx="1"/>
          </p:nvPr>
        </p:nvSpPr>
        <p:spPr>
          <a:xfrm>
            <a:off x="839788" y="1713412"/>
            <a:ext cx="10514533" cy="1104813"/>
          </a:xfrm>
        </p:spPr>
        <p:txBody>
          <a:bodyPr>
            <a:normAutofit/>
          </a:bodyPr>
          <a:lstStyle/>
          <a:p>
            <a:pPr marL="285750" indent="-285750">
              <a:buFont typeface="Arial"/>
              <a:buChar char="•"/>
            </a:pPr>
            <a:r>
              <a:rPr lang="en-US" sz="2600" b="0">
                <a:latin typeface="Arial"/>
                <a:cs typeface="Arial"/>
              </a:rPr>
              <a:t>Choose a sorting algorithm, study, write report, and do a presentation in class</a:t>
            </a:r>
            <a:endParaRPr lang="en-US"/>
          </a:p>
        </p:txBody>
      </p:sp>
      <p:sp>
        <p:nvSpPr>
          <p:cNvPr id="3" name="Content Placeholder 2">
            <a:extLst>
              <a:ext uri="{FF2B5EF4-FFF2-40B4-BE49-F238E27FC236}">
                <a16:creationId xmlns:a16="http://schemas.microsoft.com/office/drawing/2014/main" id="{1B588A18-D0ED-E9C7-39BF-B7165645F2F9}"/>
              </a:ext>
            </a:extLst>
          </p:cNvPr>
          <p:cNvSpPr>
            <a:spLocks noGrp="1"/>
          </p:cNvSpPr>
          <p:nvPr>
            <p:ph sz="half" idx="2"/>
          </p:nvPr>
        </p:nvSpPr>
        <p:spPr>
          <a:xfrm>
            <a:off x="839788" y="3006116"/>
            <a:ext cx="5157787" cy="3183547"/>
          </a:xfrm>
        </p:spPr>
        <p:txBody>
          <a:bodyPr vert="horz" lIns="91440" tIns="45720" rIns="91440" bIns="45720" rtlCol="0" anchor="t">
            <a:normAutofit/>
          </a:bodyPr>
          <a:lstStyle/>
          <a:p>
            <a:pPr lvl="1"/>
            <a:r>
              <a:rPr lang="en-US">
                <a:solidFill>
                  <a:srgbClr val="FF0000"/>
                </a:solidFill>
                <a:latin typeface="Aptos"/>
              </a:rPr>
              <a:t>Selection sort</a:t>
            </a:r>
            <a:endParaRPr lang="en-US">
              <a:solidFill>
                <a:srgbClr val="FF0000"/>
              </a:solidFill>
            </a:endParaRPr>
          </a:p>
          <a:p>
            <a:pPr lvl="1"/>
            <a:r>
              <a:rPr lang="en-US">
                <a:solidFill>
                  <a:srgbClr val="FF0000"/>
                </a:solidFill>
                <a:latin typeface="Aptos"/>
              </a:rPr>
              <a:t>Bubble sort</a:t>
            </a:r>
          </a:p>
          <a:p>
            <a:pPr lvl="1"/>
            <a:r>
              <a:rPr lang="en-US">
                <a:solidFill>
                  <a:srgbClr val="FF0000"/>
                </a:solidFill>
                <a:latin typeface="Aptos"/>
              </a:rPr>
              <a:t>Insertion sort</a:t>
            </a:r>
          </a:p>
          <a:p>
            <a:pPr lvl="1"/>
            <a:r>
              <a:rPr lang="en-US">
                <a:latin typeface="Aptos"/>
              </a:rPr>
              <a:t>Merge sort</a:t>
            </a:r>
          </a:p>
          <a:p>
            <a:pPr lvl="1"/>
            <a:r>
              <a:rPr lang="en-US">
                <a:latin typeface="Aptos"/>
              </a:rPr>
              <a:t>Quick sort</a:t>
            </a:r>
          </a:p>
          <a:p>
            <a:pPr lvl="1"/>
            <a:r>
              <a:rPr lang="en-US">
                <a:latin typeface="Aptos"/>
              </a:rPr>
              <a:t>Cocktail sort</a:t>
            </a:r>
          </a:p>
        </p:txBody>
      </p:sp>
      <p:sp>
        <p:nvSpPr>
          <p:cNvPr id="5" name="Content Placeholder 4">
            <a:extLst>
              <a:ext uri="{FF2B5EF4-FFF2-40B4-BE49-F238E27FC236}">
                <a16:creationId xmlns:a16="http://schemas.microsoft.com/office/drawing/2014/main" id="{03126697-940F-1DEA-3834-33A10330C94F}"/>
              </a:ext>
            </a:extLst>
          </p:cNvPr>
          <p:cNvSpPr>
            <a:spLocks noGrp="1"/>
          </p:cNvSpPr>
          <p:nvPr>
            <p:ph sz="quarter" idx="4"/>
          </p:nvPr>
        </p:nvSpPr>
        <p:spPr>
          <a:xfrm>
            <a:off x="6172200" y="3006116"/>
            <a:ext cx="5183188" cy="3183547"/>
          </a:xfrm>
        </p:spPr>
        <p:txBody>
          <a:bodyPr vert="horz" lIns="91440" tIns="45720" rIns="91440" bIns="45720" rtlCol="0" anchor="t">
            <a:normAutofit/>
          </a:bodyPr>
          <a:lstStyle/>
          <a:p>
            <a:pPr lvl="1"/>
            <a:r>
              <a:rPr lang="en-US">
                <a:latin typeface="Aptos"/>
              </a:rPr>
              <a:t>Tim sort</a:t>
            </a:r>
            <a:endParaRPr lang="en-US"/>
          </a:p>
          <a:p>
            <a:pPr lvl="1"/>
            <a:r>
              <a:rPr lang="en-US">
                <a:latin typeface="Aptos"/>
                <a:cs typeface="Arial"/>
              </a:rPr>
              <a:t>Heap sort</a:t>
            </a:r>
          </a:p>
          <a:p>
            <a:pPr lvl="1"/>
            <a:r>
              <a:rPr lang="en-US">
                <a:latin typeface="Aptos"/>
                <a:cs typeface="Arial"/>
              </a:rPr>
              <a:t>Radix sort</a:t>
            </a:r>
          </a:p>
          <a:p>
            <a:pPr lvl="1"/>
            <a:r>
              <a:rPr lang="en-US">
                <a:latin typeface="Aptos"/>
                <a:cs typeface="Arial"/>
              </a:rPr>
              <a:t>Counting sort </a:t>
            </a:r>
          </a:p>
          <a:p>
            <a:pPr lvl="1"/>
            <a:r>
              <a:rPr lang="en-US">
                <a:latin typeface="Aptos"/>
                <a:cs typeface="Arial"/>
              </a:rPr>
              <a:t>Shell sort</a:t>
            </a:r>
            <a:endParaRPr lang="en-US">
              <a:cs typeface="Arial"/>
            </a:endParaRPr>
          </a:p>
          <a:p>
            <a:pPr lvl="1"/>
            <a:r>
              <a:rPr lang="en-US">
                <a:latin typeface="Aptos"/>
                <a:cs typeface="Arial"/>
              </a:rPr>
              <a:t>Gnome sort</a:t>
            </a:r>
          </a:p>
          <a:p>
            <a:pPr lvl="1"/>
            <a:r>
              <a:rPr lang="en-US">
                <a:latin typeface="Aptos"/>
                <a:cs typeface="Arial"/>
              </a:rPr>
              <a:t>...</a:t>
            </a:r>
            <a:r>
              <a:rPr lang="en-US" err="1">
                <a:latin typeface="Aptos"/>
                <a:cs typeface="Arial"/>
              </a:rPr>
              <a:t>etc</a:t>
            </a:r>
            <a:endParaRPr lang="en-US" err="1">
              <a:cs typeface="Arial"/>
            </a:endParaRPr>
          </a:p>
        </p:txBody>
      </p:sp>
      <p:sp>
        <p:nvSpPr>
          <p:cNvPr id="4" name="Slide Number Placeholder 3">
            <a:extLst>
              <a:ext uri="{FF2B5EF4-FFF2-40B4-BE49-F238E27FC236}">
                <a16:creationId xmlns:a16="http://schemas.microsoft.com/office/drawing/2014/main" id="{33CB9881-73E7-3EAF-2FE7-ECE5AD05BBEF}"/>
              </a:ext>
            </a:extLst>
          </p:cNvPr>
          <p:cNvSpPr>
            <a:spLocks noGrp="1"/>
          </p:cNvSpPr>
          <p:nvPr>
            <p:ph type="sldNum" sz="quarter" idx="12"/>
          </p:nvPr>
        </p:nvSpPr>
        <p:spPr/>
        <p:txBody>
          <a:bodyPr/>
          <a:lstStyle/>
          <a:p>
            <a:fld id="{A3AE6EEF-09FB-4745-97EC-5981027EA46D}" type="slidenum">
              <a:rPr lang="en-US" smtClean="0"/>
              <a:pPr/>
              <a:t>3</a:t>
            </a:fld>
            <a:endParaRPr lang="en-US"/>
          </a:p>
        </p:txBody>
      </p:sp>
    </p:spTree>
    <p:extLst>
      <p:ext uri="{BB962C8B-B14F-4D97-AF65-F5344CB8AC3E}">
        <p14:creationId xmlns:p14="http://schemas.microsoft.com/office/powerpoint/2010/main" val="997458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FD82-FC92-5329-D8C3-5B59FACB31B4}"/>
              </a:ext>
            </a:extLst>
          </p:cNvPr>
          <p:cNvSpPr>
            <a:spLocks noGrp="1"/>
          </p:cNvSpPr>
          <p:nvPr>
            <p:ph type="title"/>
          </p:nvPr>
        </p:nvSpPr>
        <p:spPr/>
        <p:txBody>
          <a:bodyPr/>
          <a:lstStyle/>
          <a:p>
            <a:r>
              <a:rPr lang="en-US" altLang="en-US">
                <a:latin typeface="Aptos Display (Headings)"/>
              </a:rPr>
              <a:t>The Array</a:t>
            </a:r>
            <a:endParaRPr lang="en-US">
              <a:latin typeface="Aptos Display (Headings)"/>
            </a:endParaRPr>
          </a:p>
        </p:txBody>
      </p:sp>
      <p:sp>
        <p:nvSpPr>
          <p:cNvPr id="3" name="Content Placeholder 2">
            <a:extLst>
              <a:ext uri="{FF2B5EF4-FFF2-40B4-BE49-F238E27FC236}">
                <a16:creationId xmlns:a16="http://schemas.microsoft.com/office/drawing/2014/main" id="{FB38DC14-C109-78DE-BFFF-825A2A1FF668}"/>
              </a:ext>
            </a:extLst>
          </p:cNvPr>
          <p:cNvSpPr>
            <a:spLocks noGrp="1"/>
          </p:cNvSpPr>
          <p:nvPr>
            <p:ph idx="1"/>
          </p:nvPr>
        </p:nvSpPr>
        <p:spPr/>
        <p:txBody>
          <a:bodyPr vert="horz" lIns="91440" tIns="45720" rIns="91440" bIns="45720" rtlCol="0" anchor="t">
            <a:normAutofit/>
          </a:bodyPr>
          <a:lstStyle/>
          <a:p>
            <a:r>
              <a:rPr lang="en-US" altLang="en-US">
                <a:latin typeface="Aptos"/>
              </a:rPr>
              <a:t>Most commonly used data structure</a:t>
            </a:r>
          </a:p>
          <a:p>
            <a:r>
              <a:rPr lang="en-US" altLang="en-US">
                <a:latin typeface="Aptos"/>
              </a:rPr>
              <a:t>Common operations</a:t>
            </a:r>
          </a:p>
          <a:p>
            <a:pPr lvl="1"/>
            <a:r>
              <a:rPr lang="en-US" altLang="en-US">
                <a:latin typeface="Aptos"/>
              </a:rPr>
              <a:t>Insert</a:t>
            </a:r>
          </a:p>
          <a:p>
            <a:pPr lvl="1"/>
            <a:r>
              <a:rPr lang="en-US">
                <a:latin typeface="Aptos"/>
              </a:rPr>
              <a:t>Search</a:t>
            </a:r>
          </a:p>
          <a:p>
            <a:pPr lvl="1"/>
            <a:r>
              <a:rPr lang="en-US" altLang="en-US">
                <a:latin typeface="Aptos"/>
              </a:rPr>
              <a:t>Delete</a:t>
            </a:r>
          </a:p>
          <a:p>
            <a:r>
              <a:rPr lang="en-US" altLang="en-US">
                <a:latin typeface="Aptos"/>
              </a:rPr>
              <a:t>How do these differ for an ‘ordered array’?</a:t>
            </a:r>
            <a:endParaRPr lang="en-US"/>
          </a:p>
        </p:txBody>
      </p:sp>
      <p:sp>
        <p:nvSpPr>
          <p:cNvPr id="4" name="Slide Number Placeholder 3">
            <a:extLst>
              <a:ext uri="{FF2B5EF4-FFF2-40B4-BE49-F238E27FC236}">
                <a16:creationId xmlns:a16="http://schemas.microsoft.com/office/drawing/2014/main" id="{C13438CE-C845-9DF4-6E26-EB7AE8613B95}"/>
              </a:ext>
            </a:extLst>
          </p:cNvPr>
          <p:cNvSpPr>
            <a:spLocks noGrp="1"/>
          </p:cNvSpPr>
          <p:nvPr>
            <p:ph type="sldNum" sz="quarter" idx="12"/>
          </p:nvPr>
        </p:nvSpPr>
        <p:spPr/>
        <p:txBody>
          <a:bodyPr/>
          <a:lstStyle/>
          <a:p>
            <a:fld id="{A3AE6EEF-09FB-4745-97EC-5981027EA46D}" type="slidenum">
              <a:rPr lang="en-US" smtClean="0"/>
              <a:t>4</a:t>
            </a:fld>
            <a:endParaRPr lang="en-US"/>
          </a:p>
        </p:txBody>
      </p:sp>
    </p:spTree>
    <p:extLst>
      <p:ext uri="{BB962C8B-B14F-4D97-AF65-F5344CB8AC3E}">
        <p14:creationId xmlns:p14="http://schemas.microsoft.com/office/powerpoint/2010/main" val="972752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09A549BF-9943-4995-93B3-208D58244AD4}"/>
              </a:ext>
            </a:extLst>
          </p:cNvPr>
          <p:cNvSpPr>
            <a:spLocks noGrp="1"/>
          </p:cNvSpPr>
          <p:nvPr>
            <p:ph type="title"/>
          </p:nvPr>
        </p:nvSpPr>
        <p:spPr/>
        <p:txBody>
          <a:bodyPr/>
          <a:lstStyle/>
          <a:p>
            <a:r>
              <a:rPr lang="en-US" altLang="en-US">
                <a:latin typeface="Aptos Display (Headings)"/>
              </a:rPr>
              <a:t>Array Storage</a:t>
            </a:r>
          </a:p>
        </p:txBody>
      </p:sp>
      <p:sp>
        <p:nvSpPr>
          <p:cNvPr id="3" name="Slide Number Placeholder 2">
            <a:extLst>
              <a:ext uri="{FF2B5EF4-FFF2-40B4-BE49-F238E27FC236}">
                <a16:creationId xmlns:a16="http://schemas.microsoft.com/office/drawing/2014/main" id="{6B1D866D-3C22-461C-A22A-CF313790CFB1}"/>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6F4FFBF-354A-4140-8505-6DC9538809B7}" type="slidenum">
              <a:rPr lang="en-US" altLang="en-US">
                <a:latin typeface="Aptos" panose="020B0004020202020204" pitchFamily="34" charset="0"/>
              </a:rPr>
              <a:pPr eaLnBrk="1" hangingPunct="1"/>
              <a:t>5</a:t>
            </a:fld>
            <a:endParaRPr lang="en-US" altLang="en-US">
              <a:latin typeface="Aptos" panose="020B0004020202020204" pitchFamily="34" charset="0"/>
            </a:endParaRPr>
          </a:p>
        </p:txBody>
      </p:sp>
      <p:sp>
        <p:nvSpPr>
          <p:cNvPr id="55300" name="Content Placeholder 3">
            <a:extLst>
              <a:ext uri="{FF2B5EF4-FFF2-40B4-BE49-F238E27FC236}">
                <a16:creationId xmlns:a16="http://schemas.microsoft.com/office/drawing/2014/main" id="{566A0BB4-9DA8-4C4D-BFF1-B1EE18914952}"/>
              </a:ext>
            </a:extLst>
          </p:cNvPr>
          <p:cNvSpPr>
            <a:spLocks noGrp="1"/>
          </p:cNvSpPr>
          <p:nvPr>
            <p:ph sz="quarter" idx="1"/>
          </p:nvPr>
        </p:nvSpPr>
        <p:spPr/>
        <p:txBody>
          <a:bodyPr>
            <a:normAutofit/>
          </a:bodyPr>
          <a:lstStyle/>
          <a:p>
            <a:r>
              <a:rPr lang="en-US" altLang="en-US">
                <a:latin typeface="Aptos" panose="020B0004020202020204" pitchFamily="34" charset="0"/>
              </a:rPr>
              <a:t>An array is a collection of data of the same type</a:t>
            </a:r>
          </a:p>
          <a:p>
            <a:r>
              <a:rPr lang="en-US" altLang="en-US">
                <a:latin typeface="Aptos" panose="020B0004020202020204" pitchFamily="34" charset="0"/>
              </a:rPr>
              <a:t>Stored linearly in memory:</a:t>
            </a:r>
          </a:p>
        </p:txBody>
      </p:sp>
      <p:pic>
        <p:nvPicPr>
          <p:cNvPr id="55301" name="Picture 4" descr="array1D_noindex.JPG">
            <a:extLst>
              <a:ext uri="{FF2B5EF4-FFF2-40B4-BE49-F238E27FC236}">
                <a16:creationId xmlns:a16="http://schemas.microsoft.com/office/drawing/2014/main" id="{DC822CF9-7371-4992-9C3E-8EDC2BCD0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800600" y="2743200"/>
            <a:ext cx="19050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358A7735-1CBF-4D50-9694-69431811E1CC}"/>
              </a:ext>
            </a:extLst>
          </p:cNvPr>
          <p:cNvSpPr>
            <a:spLocks noGrp="1"/>
          </p:cNvSpPr>
          <p:nvPr>
            <p:ph type="title"/>
          </p:nvPr>
        </p:nvSpPr>
        <p:spPr/>
        <p:txBody>
          <a:bodyPr/>
          <a:lstStyle/>
          <a:p>
            <a:r>
              <a:rPr lang="en-US" altLang="en-US">
                <a:latin typeface="Aptos Display (Headings)"/>
              </a:rPr>
              <a:t>Remember, value vs. reference…</a:t>
            </a:r>
          </a:p>
        </p:txBody>
      </p:sp>
      <p:sp>
        <p:nvSpPr>
          <p:cNvPr id="3" name="Slide Number Placeholder 2">
            <a:extLst>
              <a:ext uri="{FF2B5EF4-FFF2-40B4-BE49-F238E27FC236}">
                <a16:creationId xmlns:a16="http://schemas.microsoft.com/office/drawing/2014/main" id="{C1011E7A-1AC2-413B-8C38-7D6259679D76}"/>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2A9816A-EABF-463C-93AD-764835943727}" type="slidenum">
              <a:rPr lang="en-US" altLang="en-US" sz="2000">
                <a:latin typeface="Aptos" panose="020B0004020202020204" pitchFamily="34" charset="0"/>
              </a:rPr>
              <a:pPr eaLnBrk="1" hangingPunct="1"/>
              <a:t>6</a:t>
            </a:fld>
            <a:endParaRPr lang="en-US" altLang="en-US" sz="2000">
              <a:latin typeface="Aptos" panose="020B0004020202020204" pitchFamily="34" charset="0"/>
            </a:endParaRPr>
          </a:p>
        </p:txBody>
      </p:sp>
      <p:sp>
        <p:nvSpPr>
          <p:cNvPr id="56324" name="Content Placeholder 3">
            <a:extLst>
              <a:ext uri="{FF2B5EF4-FFF2-40B4-BE49-F238E27FC236}">
                <a16:creationId xmlns:a16="http://schemas.microsoft.com/office/drawing/2014/main" id="{3414C11A-B994-443E-80A7-630545ED8342}"/>
              </a:ext>
            </a:extLst>
          </p:cNvPr>
          <p:cNvSpPr>
            <a:spLocks noGrp="1"/>
          </p:cNvSpPr>
          <p:nvPr>
            <p:ph sz="quarter" idx="1"/>
          </p:nvPr>
        </p:nvSpPr>
        <p:spPr/>
        <p:txBody>
          <a:bodyPr vert="horz" lIns="91440" tIns="45720" rIns="91440" bIns="45720" rtlCol="0" anchor="t">
            <a:normAutofit/>
          </a:bodyPr>
          <a:lstStyle/>
          <a:p>
            <a:r>
              <a:rPr lang="en-US" altLang="en-US">
                <a:latin typeface="Aptos"/>
              </a:rPr>
              <a:t>In Java:</a:t>
            </a:r>
          </a:p>
          <a:p>
            <a:pPr lvl="1"/>
            <a:r>
              <a:rPr lang="en-US" altLang="en-US">
                <a:latin typeface="Aptos"/>
              </a:rPr>
              <a:t>Data of a primitive type is a </a:t>
            </a:r>
            <a:r>
              <a:rPr lang="en-US" altLang="en-US" b="1">
                <a:latin typeface="Aptos"/>
              </a:rPr>
              <a:t>value</a:t>
            </a:r>
          </a:p>
          <a:p>
            <a:pPr lvl="1"/>
            <a:r>
              <a:rPr lang="en-US" altLang="en-US">
                <a:latin typeface="Aptos"/>
              </a:rPr>
              <a:t>All objects are </a:t>
            </a:r>
            <a:r>
              <a:rPr lang="en-US" altLang="en-US" b="1">
                <a:latin typeface="Aptos"/>
              </a:rPr>
              <a:t>references</a:t>
            </a:r>
            <a:endParaRPr lang="en-US"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5041-DAB3-CD50-0722-276E5EA1217B}"/>
              </a:ext>
            </a:extLst>
          </p:cNvPr>
          <p:cNvSpPr>
            <a:spLocks noGrp="1"/>
          </p:cNvSpPr>
          <p:nvPr>
            <p:ph type="title"/>
          </p:nvPr>
        </p:nvSpPr>
        <p:spPr>
          <a:xfrm>
            <a:off x="648929" y="629266"/>
            <a:ext cx="3505495" cy="1622321"/>
          </a:xfrm>
        </p:spPr>
        <p:txBody>
          <a:bodyPr>
            <a:normAutofit/>
          </a:bodyPr>
          <a:lstStyle/>
          <a:p>
            <a:r>
              <a:rPr lang="en-US">
                <a:cs typeface="Calibri Light"/>
              </a:rPr>
              <a:t>Data Types</a:t>
            </a:r>
            <a:endParaRPr lang="en-US"/>
          </a:p>
        </p:txBody>
      </p:sp>
      <p:sp>
        <p:nvSpPr>
          <p:cNvPr id="3" name="Content Placeholder 2">
            <a:extLst>
              <a:ext uri="{FF2B5EF4-FFF2-40B4-BE49-F238E27FC236}">
                <a16:creationId xmlns:a16="http://schemas.microsoft.com/office/drawing/2014/main" id="{7C0102F2-9CB4-ECFB-689A-89B63EA52451}"/>
              </a:ext>
            </a:extLst>
          </p:cNvPr>
          <p:cNvSpPr>
            <a:spLocks noGrp="1"/>
          </p:cNvSpPr>
          <p:nvPr>
            <p:ph idx="1"/>
          </p:nvPr>
        </p:nvSpPr>
        <p:spPr>
          <a:xfrm>
            <a:off x="648931" y="2438400"/>
            <a:ext cx="4636724" cy="3854691"/>
          </a:xfrm>
        </p:spPr>
        <p:txBody>
          <a:bodyPr vert="horz" lIns="91440" tIns="45720" rIns="91440" bIns="45720" rtlCol="0" anchor="t">
            <a:normAutofit/>
          </a:bodyPr>
          <a:lstStyle/>
          <a:p>
            <a:r>
              <a:rPr lang="en-US" sz="2400">
                <a:latin typeface="Aptos"/>
                <a:cs typeface="Calibri"/>
              </a:rPr>
              <a:t>Variable must be of a specified data type</a:t>
            </a:r>
          </a:p>
          <a:p>
            <a:r>
              <a:rPr lang="en-US" sz="2400">
                <a:latin typeface="Aptos"/>
                <a:cs typeface="Calibri"/>
              </a:rPr>
              <a:t>Data Types are divided into two groups: primitive and non-primitive data type</a:t>
            </a:r>
            <a:endParaRPr lang="en-US" sz="2400">
              <a:latin typeface="Aptos"/>
            </a:endParaRPr>
          </a:p>
          <a:p>
            <a:endParaRPr lang="en-US" sz="2400">
              <a:cs typeface="Calibri"/>
            </a:endParaRPr>
          </a:p>
        </p:txBody>
      </p:sp>
      <p:pic>
        <p:nvPicPr>
          <p:cNvPr id="6" name="Picture 7" descr="Diagram&#10;&#10;Description automatically generated">
            <a:extLst>
              <a:ext uri="{FF2B5EF4-FFF2-40B4-BE49-F238E27FC236}">
                <a16:creationId xmlns:a16="http://schemas.microsoft.com/office/drawing/2014/main" id="{6E5872CD-3CCE-C34F-4E2F-E89F82DC95DF}"/>
              </a:ext>
            </a:extLst>
          </p:cNvPr>
          <p:cNvPicPr>
            <a:picLocks noChangeAspect="1"/>
          </p:cNvPicPr>
          <p:nvPr/>
        </p:nvPicPr>
        <p:blipFill>
          <a:blip r:embed="rId2"/>
          <a:stretch>
            <a:fillRect/>
          </a:stretch>
        </p:blipFill>
        <p:spPr>
          <a:xfrm>
            <a:off x="5405862" y="1576433"/>
            <a:ext cx="6019331" cy="3701888"/>
          </a:xfrm>
          <a:prstGeom prst="rect">
            <a:avLst/>
          </a:prstGeom>
          <a:effectLst/>
        </p:spPr>
      </p:pic>
    </p:spTree>
    <p:extLst>
      <p:ext uri="{BB962C8B-B14F-4D97-AF65-F5344CB8AC3E}">
        <p14:creationId xmlns:p14="http://schemas.microsoft.com/office/powerpoint/2010/main" val="1531125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794D-AFA8-176A-2E8D-4AA00310F5D5}"/>
              </a:ext>
            </a:extLst>
          </p:cNvPr>
          <p:cNvSpPr>
            <a:spLocks noGrp="1"/>
          </p:cNvSpPr>
          <p:nvPr>
            <p:ph type="title"/>
          </p:nvPr>
        </p:nvSpPr>
        <p:spPr/>
        <p:txBody>
          <a:bodyPr/>
          <a:lstStyle/>
          <a:p>
            <a:r>
              <a:rPr lang="en-US">
                <a:cs typeface="Calibri Light"/>
              </a:rPr>
              <a:t>Primitive vs non-primitive Data Types</a:t>
            </a:r>
            <a:endParaRPr lang="en-US" err="1"/>
          </a:p>
        </p:txBody>
      </p:sp>
      <p:sp>
        <p:nvSpPr>
          <p:cNvPr id="3" name="Content Placeholder 2">
            <a:extLst>
              <a:ext uri="{FF2B5EF4-FFF2-40B4-BE49-F238E27FC236}">
                <a16:creationId xmlns:a16="http://schemas.microsoft.com/office/drawing/2014/main" id="{97E48568-4FFB-CC68-C4D5-475C81504823}"/>
              </a:ext>
            </a:extLst>
          </p:cNvPr>
          <p:cNvSpPr>
            <a:spLocks noGrp="1"/>
          </p:cNvSpPr>
          <p:nvPr>
            <p:ph idx="1"/>
          </p:nvPr>
        </p:nvSpPr>
        <p:spPr/>
        <p:txBody>
          <a:bodyPr vert="horz" lIns="91440" tIns="45720" rIns="91440" bIns="45720" rtlCol="0" anchor="t">
            <a:normAutofit/>
          </a:bodyPr>
          <a:lstStyle/>
          <a:p>
            <a:r>
              <a:rPr lang="en-US" sz="2400">
                <a:latin typeface="Aptos"/>
                <a:ea typeface="+mn-lt"/>
                <a:cs typeface="+mn-lt"/>
              </a:rPr>
              <a:t>Primitive data type always has a value and </a:t>
            </a:r>
            <a:r>
              <a:rPr lang="en" sz="2400">
                <a:latin typeface="Aptos"/>
                <a:ea typeface="+mn-lt"/>
                <a:cs typeface="+mn-lt"/>
              </a:rPr>
              <a:t>starts with a lowercase letter</a:t>
            </a:r>
            <a:endParaRPr lang="en-US" sz="2400">
              <a:latin typeface="Aptos"/>
              <a:ea typeface="+mn-lt"/>
              <a:cs typeface="+mn-lt"/>
            </a:endParaRPr>
          </a:p>
          <a:p>
            <a:r>
              <a:rPr lang="en-US" sz="2400">
                <a:latin typeface="Aptos"/>
                <a:ea typeface="+mn-lt"/>
                <a:cs typeface="+mn-lt"/>
              </a:rPr>
              <a:t>Non-primitive data type can be null and </a:t>
            </a:r>
            <a:r>
              <a:rPr lang="en" sz="2400">
                <a:latin typeface="Aptos"/>
                <a:ea typeface="+mn-lt"/>
                <a:cs typeface="+mn-lt"/>
              </a:rPr>
              <a:t>starts with a uppercase letter</a:t>
            </a:r>
            <a:endParaRPr lang="en-US" sz="2400">
              <a:latin typeface="Aptos"/>
              <a:ea typeface="+mn-lt"/>
              <a:cs typeface="+mn-lt"/>
            </a:endParaRPr>
          </a:p>
          <a:p>
            <a:endParaRPr lang="en" sz="2400">
              <a:ea typeface="+mn-lt"/>
              <a:cs typeface="+mn-lt"/>
            </a:endParaRPr>
          </a:p>
          <a:p>
            <a:r>
              <a:rPr lang="en-US" sz="2400">
                <a:latin typeface="Aptos"/>
                <a:ea typeface="+mn-lt"/>
                <a:cs typeface="+mn-lt"/>
              </a:rPr>
              <a:t>Primitive data type includes:</a:t>
            </a:r>
            <a:endParaRPr lang="en-US" sz="2400">
              <a:latin typeface="Aptos"/>
            </a:endParaRPr>
          </a:p>
          <a:p>
            <a:pPr lvl="1"/>
            <a:r>
              <a:rPr lang="en-US">
                <a:latin typeface="Aptos"/>
                <a:ea typeface="+mn-lt"/>
                <a:cs typeface="+mn-lt"/>
              </a:rPr>
              <a:t>byte, short, int, long, float, double, </a:t>
            </a:r>
            <a:r>
              <a:rPr lang="en-US" err="1">
                <a:latin typeface="Aptos"/>
                <a:ea typeface="+mn-lt"/>
                <a:cs typeface="+mn-lt"/>
              </a:rPr>
              <a:t>boolean</a:t>
            </a:r>
            <a:r>
              <a:rPr lang="en-US">
                <a:latin typeface="Aptos"/>
                <a:ea typeface="+mn-lt"/>
                <a:cs typeface="+mn-lt"/>
              </a:rPr>
              <a:t> and char</a:t>
            </a:r>
          </a:p>
          <a:p>
            <a:r>
              <a:rPr lang="en-US" sz="2400">
                <a:latin typeface="Aptos"/>
                <a:ea typeface="+mn-lt"/>
                <a:cs typeface="+mn-lt"/>
              </a:rPr>
              <a:t>Non-primitive data type includes:</a:t>
            </a:r>
          </a:p>
          <a:p>
            <a:pPr lvl="1"/>
            <a:r>
              <a:rPr lang="en-US">
                <a:latin typeface="Aptos"/>
                <a:ea typeface="+mn-lt"/>
                <a:cs typeface="+mn-lt"/>
              </a:rPr>
              <a:t>String, Arrays and Classes </a:t>
            </a:r>
            <a:endParaRPr lang="en-US">
              <a:latin typeface="Aptos"/>
            </a:endParaRPr>
          </a:p>
          <a:p>
            <a:pPr lvl="1"/>
            <a:endParaRPr lang="en-US">
              <a:cs typeface="Calibri"/>
            </a:endParaRPr>
          </a:p>
        </p:txBody>
      </p:sp>
    </p:spTree>
    <p:extLst>
      <p:ext uri="{BB962C8B-B14F-4D97-AF65-F5344CB8AC3E}">
        <p14:creationId xmlns:p14="http://schemas.microsoft.com/office/powerpoint/2010/main" val="4061615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5041-DAB3-CD50-0722-276E5EA1217B}"/>
              </a:ext>
            </a:extLst>
          </p:cNvPr>
          <p:cNvSpPr>
            <a:spLocks noGrp="1"/>
          </p:cNvSpPr>
          <p:nvPr>
            <p:ph type="title"/>
          </p:nvPr>
        </p:nvSpPr>
        <p:spPr/>
        <p:txBody>
          <a:bodyPr/>
          <a:lstStyle/>
          <a:p>
            <a:r>
              <a:rPr lang="en-US">
                <a:cs typeface="Calibri Light"/>
              </a:rPr>
              <a:t>Primitive Data Types</a:t>
            </a:r>
            <a:endParaRPr lang="en-US"/>
          </a:p>
        </p:txBody>
      </p:sp>
      <p:sp>
        <p:nvSpPr>
          <p:cNvPr id="3" name="Content Placeholder 2">
            <a:extLst>
              <a:ext uri="{FF2B5EF4-FFF2-40B4-BE49-F238E27FC236}">
                <a16:creationId xmlns:a16="http://schemas.microsoft.com/office/drawing/2014/main" id="{7C0102F2-9CB4-ECFB-689A-89B63EA52451}"/>
              </a:ext>
            </a:extLst>
          </p:cNvPr>
          <p:cNvSpPr>
            <a:spLocks noGrp="1"/>
          </p:cNvSpPr>
          <p:nvPr>
            <p:ph idx="1"/>
          </p:nvPr>
        </p:nvSpPr>
        <p:spPr/>
        <p:txBody>
          <a:bodyPr vert="horz" lIns="91440" tIns="45720" rIns="91440" bIns="45720" rtlCol="0" anchor="t">
            <a:normAutofit/>
          </a:bodyPr>
          <a:lstStyle/>
          <a:p>
            <a:endParaRPr lang="en-US" b="1">
              <a:cs typeface="Calibri"/>
            </a:endParaRPr>
          </a:p>
        </p:txBody>
      </p:sp>
      <p:graphicFrame>
        <p:nvGraphicFramePr>
          <p:cNvPr id="9" name="Table 8">
            <a:extLst>
              <a:ext uri="{FF2B5EF4-FFF2-40B4-BE49-F238E27FC236}">
                <a16:creationId xmlns:a16="http://schemas.microsoft.com/office/drawing/2014/main" id="{0CA2C56B-C0D9-A698-7BCB-99F84407D6DE}"/>
              </a:ext>
            </a:extLst>
          </p:cNvPr>
          <p:cNvGraphicFramePr>
            <a:graphicFrameLocks noGrp="1"/>
          </p:cNvGraphicFramePr>
          <p:nvPr/>
        </p:nvGraphicFramePr>
        <p:xfrm>
          <a:off x="841168" y="1791194"/>
          <a:ext cx="10519548" cy="4374097"/>
        </p:xfrm>
        <a:graphic>
          <a:graphicData uri="http://schemas.openxmlformats.org/drawingml/2006/table">
            <a:tbl>
              <a:tblPr firstRow="1" bandRow="1">
                <a:tableStyleId>{5C22544A-7EE6-4342-B048-85BDC9FD1C3A}</a:tableStyleId>
              </a:tblPr>
              <a:tblGrid>
                <a:gridCol w="2103907">
                  <a:extLst>
                    <a:ext uri="{9D8B030D-6E8A-4147-A177-3AD203B41FA5}">
                      <a16:colId xmlns:a16="http://schemas.microsoft.com/office/drawing/2014/main" val="2503554155"/>
                    </a:ext>
                  </a:extLst>
                </a:gridCol>
                <a:gridCol w="1788321">
                  <a:extLst>
                    <a:ext uri="{9D8B030D-6E8A-4147-A177-3AD203B41FA5}">
                      <a16:colId xmlns:a16="http://schemas.microsoft.com/office/drawing/2014/main" val="3933243153"/>
                    </a:ext>
                  </a:extLst>
                </a:gridCol>
                <a:gridCol w="6627320">
                  <a:extLst>
                    <a:ext uri="{9D8B030D-6E8A-4147-A177-3AD203B41FA5}">
                      <a16:colId xmlns:a16="http://schemas.microsoft.com/office/drawing/2014/main" val="3031693925"/>
                    </a:ext>
                  </a:extLst>
                </a:gridCol>
              </a:tblGrid>
              <a:tr h="376906">
                <a:tc>
                  <a:txBody>
                    <a:bodyPr/>
                    <a:lstStyle/>
                    <a:p>
                      <a:r>
                        <a:rPr lang="en-US">
                          <a:effectLst/>
                        </a:rPr>
                        <a:t>Data Type</a:t>
                      </a:r>
                    </a:p>
                  </a:txBody>
                  <a:tcPr anchor="ctr"/>
                </a:tc>
                <a:tc>
                  <a:txBody>
                    <a:bodyPr/>
                    <a:lstStyle/>
                    <a:p>
                      <a:r>
                        <a:rPr lang="en-US">
                          <a:effectLst/>
                        </a:rPr>
                        <a:t>Size</a:t>
                      </a:r>
                    </a:p>
                  </a:txBody>
                  <a:tcPr anchor="ctr"/>
                </a:tc>
                <a:tc>
                  <a:txBody>
                    <a:bodyPr/>
                    <a:lstStyle/>
                    <a:p>
                      <a:r>
                        <a:rPr lang="en-US">
                          <a:effectLst/>
                        </a:rPr>
                        <a:t>Description</a:t>
                      </a:r>
                    </a:p>
                  </a:txBody>
                  <a:tcPr anchor="ctr"/>
                </a:tc>
                <a:extLst>
                  <a:ext uri="{0D108BD9-81ED-4DB2-BD59-A6C34878D82A}">
                    <a16:rowId xmlns:a16="http://schemas.microsoft.com/office/drawing/2014/main" val="3228356002"/>
                  </a:ext>
                </a:extLst>
              </a:tr>
              <a:tr h="376906">
                <a:tc>
                  <a:txBody>
                    <a:bodyPr/>
                    <a:lstStyle/>
                    <a:p>
                      <a:r>
                        <a:rPr lang="en-US"/>
                        <a:t>byte</a:t>
                      </a:r>
                    </a:p>
                  </a:txBody>
                  <a:tcPr anchor="ctr"/>
                </a:tc>
                <a:tc>
                  <a:txBody>
                    <a:bodyPr/>
                    <a:lstStyle/>
                    <a:p>
                      <a:r>
                        <a:rPr lang="en-US"/>
                        <a:t>1 byte</a:t>
                      </a:r>
                    </a:p>
                  </a:txBody>
                  <a:tcPr anchor="ctr"/>
                </a:tc>
                <a:tc>
                  <a:txBody>
                    <a:bodyPr/>
                    <a:lstStyle/>
                    <a:p>
                      <a:r>
                        <a:rPr lang="en-US"/>
                        <a:t>Stores whole numbers from -128 to 127</a:t>
                      </a:r>
                    </a:p>
                  </a:txBody>
                  <a:tcPr anchor="ctr"/>
                </a:tc>
                <a:extLst>
                  <a:ext uri="{0D108BD9-81ED-4DB2-BD59-A6C34878D82A}">
                    <a16:rowId xmlns:a16="http://schemas.microsoft.com/office/drawing/2014/main" val="2000938412"/>
                  </a:ext>
                </a:extLst>
              </a:tr>
              <a:tr h="505848">
                <a:tc>
                  <a:txBody>
                    <a:bodyPr/>
                    <a:lstStyle/>
                    <a:p>
                      <a:r>
                        <a:rPr lang="en-US"/>
                        <a:t>short</a:t>
                      </a:r>
                    </a:p>
                  </a:txBody>
                  <a:tcPr anchor="ctr"/>
                </a:tc>
                <a:tc>
                  <a:txBody>
                    <a:bodyPr/>
                    <a:lstStyle/>
                    <a:p>
                      <a:r>
                        <a:rPr lang="en-US"/>
                        <a:t>2 bytes</a:t>
                      </a:r>
                    </a:p>
                  </a:txBody>
                  <a:tcPr anchor="ctr"/>
                </a:tc>
                <a:tc>
                  <a:txBody>
                    <a:bodyPr/>
                    <a:lstStyle/>
                    <a:p>
                      <a:r>
                        <a:rPr lang="en-US"/>
                        <a:t>Stores whole numbers from -32,768 to 32,767</a:t>
                      </a:r>
                    </a:p>
                  </a:txBody>
                  <a:tcPr anchor="ctr"/>
                </a:tc>
                <a:extLst>
                  <a:ext uri="{0D108BD9-81ED-4DB2-BD59-A6C34878D82A}">
                    <a16:rowId xmlns:a16="http://schemas.microsoft.com/office/drawing/2014/main" val="1130111936"/>
                  </a:ext>
                </a:extLst>
              </a:tr>
              <a:tr h="505848">
                <a:tc>
                  <a:txBody>
                    <a:bodyPr/>
                    <a:lstStyle/>
                    <a:p>
                      <a:r>
                        <a:rPr lang="en-US"/>
                        <a:t>int</a:t>
                      </a:r>
                    </a:p>
                  </a:txBody>
                  <a:tcPr anchor="ctr"/>
                </a:tc>
                <a:tc>
                  <a:txBody>
                    <a:bodyPr/>
                    <a:lstStyle/>
                    <a:p>
                      <a:r>
                        <a:rPr lang="en-US"/>
                        <a:t>4 bytes</a:t>
                      </a:r>
                    </a:p>
                  </a:txBody>
                  <a:tcPr anchor="ctr"/>
                </a:tc>
                <a:tc>
                  <a:txBody>
                    <a:bodyPr/>
                    <a:lstStyle/>
                    <a:p>
                      <a:r>
                        <a:rPr lang="en-US"/>
                        <a:t>Stores whole numbers from -2,147,483,648 to 2,147,483,647</a:t>
                      </a:r>
                    </a:p>
                  </a:txBody>
                  <a:tcPr anchor="ctr"/>
                </a:tc>
                <a:extLst>
                  <a:ext uri="{0D108BD9-81ED-4DB2-BD59-A6C34878D82A}">
                    <a16:rowId xmlns:a16="http://schemas.microsoft.com/office/drawing/2014/main" val="94507254"/>
                  </a:ext>
                </a:extLst>
              </a:tr>
              <a:tr h="714139">
                <a:tc>
                  <a:txBody>
                    <a:bodyPr/>
                    <a:lstStyle/>
                    <a:p>
                      <a:r>
                        <a:rPr lang="en-US"/>
                        <a:t>long</a:t>
                      </a:r>
                    </a:p>
                  </a:txBody>
                  <a:tcPr anchor="ctr"/>
                </a:tc>
                <a:tc>
                  <a:txBody>
                    <a:bodyPr/>
                    <a:lstStyle/>
                    <a:p>
                      <a:r>
                        <a:rPr lang="en-US"/>
                        <a:t>8 bytes</a:t>
                      </a:r>
                    </a:p>
                  </a:txBody>
                  <a:tcPr anchor="ctr"/>
                </a:tc>
                <a:tc>
                  <a:txBody>
                    <a:bodyPr/>
                    <a:lstStyle/>
                    <a:p>
                      <a:r>
                        <a:rPr lang="en-US"/>
                        <a:t>Stores whole numbers from -9,223,372,036,854,775,808 to 9,223,372,036,854,775,807</a:t>
                      </a:r>
                    </a:p>
                  </a:txBody>
                  <a:tcPr anchor="ctr"/>
                </a:tc>
                <a:extLst>
                  <a:ext uri="{0D108BD9-81ED-4DB2-BD59-A6C34878D82A}">
                    <a16:rowId xmlns:a16="http://schemas.microsoft.com/office/drawing/2014/main" val="3645130739"/>
                  </a:ext>
                </a:extLst>
              </a:tr>
              <a:tr h="505848">
                <a:tc>
                  <a:txBody>
                    <a:bodyPr/>
                    <a:lstStyle/>
                    <a:p>
                      <a:r>
                        <a:rPr lang="en-US"/>
                        <a:t>float</a:t>
                      </a:r>
                    </a:p>
                  </a:txBody>
                  <a:tcPr anchor="ctr"/>
                </a:tc>
                <a:tc>
                  <a:txBody>
                    <a:bodyPr/>
                    <a:lstStyle/>
                    <a:p>
                      <a:r>
                        <a:rPr lang="en-US"/>
                        <a:t>4 bytes</a:t>
                      </a:r>
                    </a:p>
                  </a:txBody>
                  <a:tcPr anchor="ctr"/>
                </a:tc>
                <a:tc>
                  <a:txBody>
                    <a:bodyPr/>
                    <a:lstStyle/>
                    <a:p>
                      <a:r>
                        <a:rPr lang="en-US"/>
                        <a:t>Stores fractional numbers. Sufficient for storing 6 to 7 decimal digits</a:t>
                      </a:r>
                    </a:p>
                  </a:txBody>
                  <a:tcPr anchor="ctr"/>
                </a:tc>
                <a:extLst>
                  <a:ext uri="{0D108BD9-81ED-4DB2-BD59-A6C34878D82A}">
                    <a16:rowId xmlns:a16="http://schemas.microsoft.com/office/drawing/2014/main" val="2768001852"/>
                  </a:ext>
                </a:extLst>
              </a:tr>
              <a:tr h="505848">
                <a:tc>
                  <a:txBody>
                    <a:bodyPr/>
                    <a:lstStyle/>
                    <a:p>
                      <a:r>
                        <a:rPr lang="en-US"/>
                        <a:t>double</a:t>
                      </a:r>
                    </a:p>
                  </a:txBody>
                  <a:tcPr anchor="ctr"/>
                </a:tc>
                <a:tc>
                  <a:txBody>
                    <a:bodyPr/>
                    <a:lstStyle/>
                    <a:p>
                      <a:r>
                        <a:rPr lang="en-US"/>
                        <a:t>8 bytes</a:t>
                      </a:r>
                    </a:p>
                  </a:txBody>
                  <a:tcPr anchor="ctr"/>
                </a:tc>
                <a:tc>
                  <a:txBody>
                    <a:bodyPr/>
                    <a:lstStyle/>
                    <a:p>
                      <a:r>
                        <a:rPr lang="en-US"/>
                        <a:t>Stores fractional numbers. Sufficient for storing 15 decimal digits</a:t>
                      </a:r>
                    </a:p>
                  </a:txBody>
                  <a:tcPr anchor="ctr"/>
                </a:tc>
                <a:extLst>
                  <a:ext uri="{0D108BD9-81ED-4DB2-BD59-A6C34878D82A}">
                    <a16:rowId xmlns:a16="http://schemas.microsoft.com/office/drawing/2014/main" val="2969010881"/>
                  </a:ext>
                </a:extLst>
              </a:tr>
              <a:tr h="376906">
                <a:tc>
                  <a:txBody>
                    <a:bodyPr/>
                    <a:lstStyle/>
                    <a:p>
                      <a:r>
                        <a:rPr lang="en-US" err="1"/>
                        <a:t>boolean</a:t>
                      </a:r>
                    </a:p>
                  </a:txBody>
                  <a:tcPr anchor="ctr"/>
                </a:tc>
                <a:tc>
                  <a:txBody>
                    <a:bodyPr/>
                    <a:lstStyle/>
                    <a:p>
                      <a:r>
                        <a:rPr lang="en-US"/>
                        <a:t>1 bit</a:t>
                      </a:r>
                    </a:p>
                  </a:txBody>
                  <a:tcPr anchor="ctr"/>
                </a:tc>
                <a:tc>
                  <a:txBody>
                    <a:bodyPr/>
                    <a:lstStyle/>
                    <a:p>
                      <a:r>
                        <a:rPr lang="en-US"/>
                        <a:t>Stores true or false values</a:t>
                      </a:r>
                    </a:p>
                  </a:txBody>
                  <a:tcPr anchor="ctr"/>
                </a:tc>
                <a:extLst>
                  <a:ext uri="{0D108BD9-81ED-4DB2-BD59-A6C34878D82A}">
                    <a16:rowId xmlns:a16="http://schemas.microsoft.com/office/drawing/2014/main" val="865738148"/>
                  </a:ext>
                </a:extLst>
              </a:tr>
              <a:tr h="505848">
                <a:tc>
                  <a:txBody>
                    <a:bodyPr/>
                    <a:lstStyle/>
                    <a:p>
                      <a:r>
                        <a:rPr lang="en-US"/>
                        <a:t>char</a:t>
                      </a:r>
                    </a:p>
                  </a:txBody>
                  <a:tcPr anchor="ctr"/>
                </a:tc>
                <a:tc>
                  <a:txBody>
                    <a:bodyPr/>
                    <a:lstStyle/>
                    <a:p>
                      <a:r>
                        <a:rPr lang="en-US"/>
                        <a:t>2 bytes</a:t>
                      </a:r>
                    </a:p>
                  </a:txBody>
                  <a:tcPr anchor="ctr"/>
                </a:tc>
                <a:tc>
                  <a:txBody>
                    <a:bodyPr/>
                    <a:lstStyle/>
                    <a:p>
                      <a:r>
                        <a:rPr lang="en-US"/>
                        <a:t>Stores a single character/letter or ASCII values</a:t>
                      </a:r>
                    </a:p>
                  </a:txBody>
                  <a:tcPr anchor="ctr"/>
                </a:tc>
                <a:extLst>
                  <a:ext uri="{0D108BD9-81ED-4DB2-BD59-A6C34878D82A}">
                    <a16:rowId xmlns:a16="http://schemas.microsoft.com/office/drawing/2014/main" val="1235205940"/>
                  </a:ext>
                </a:extLst>
              </a:tr>
            </a:tbl>
          </a:graphicData>
        </a:graphic>
      </p:graphicFrame>
    </p:spTree>
    <p:extLst>
      <p:ext uri="{BB962C8B-B14F-4D97-AF65-F5344CB8AC3E}">
        <p14:creationId xmlns:p14="http://schemas.microsoft.com/office/powerpoint/2010/main" val="282353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152C4-CCDE-85F2-FEEC-A2F70DCFD14E}"/>
              </a:ext>
            </a:extLst>
          </p:cNvPr>
          <p:cNvSpPr>
            <a:spLocks noGrp="1"/>
          </p:cNvSpPr>
          <p:nvPr>
            <p:ph type="title"/>
          </p:nvPr>
        </p:nvSpPr>
        <p:spPr/>
        <p:txBody>
          <a:bodyPr/>
          <a:lstStyle/>
          <a:p>
            <a:r>
              <a:rPr lang="en-US">
                <a:cs typeface="Calibri Light"/>
              </a:rPr>
              <a:t>Non-Primitive Data Type  - Array</a:t>
            </a:r>
            <a:endParaRPr lang="en-US"/>
          </a:p>
        </p:txBody>
      </p:sp>
      <p:sp>
        <p:nvSpPr>
          <p:cNvPr id="3" name="Content Placeholder 2">
            <a:extLst>
              <a:ext uri="{FF2B5EF4-FFF2-40B4-BE49-F238E27FC236}">
                <a16:creationId xmlns:a16="http://schemas.microsoft.com/office/drawing/2014/main" id="{CCA337B2-98A8-F907-34B5-374CA8234E88}"/>
              </a:ext>
            </a:extLst>
          </p:cNvPr>
          <p:cNvSpPr>
            <a:spLocks noGrp="1"/>
          </p:cNvSpPr>
          <p:nvPr>
            <p:ph idx="1"/>
          </p:nvPr>
        </p:nvSpPr>
        <p:spPr/>
        <p:txBody>
          <a:bodyPr vert="horz" lIns="91440" tIns="45720" rIns="91440" bIns="45720" rtlCol="0" anchor="t">
            <a:normAutofit/>
          </a:bodyPr>
          <a:lstStyle/>
          <a:p>
            <a:r>
              <a:rPr lang="en-US" sz="2400" b="1" dirty="0">
                <a:latin typeface="Aptos"/>
                <a:ea typeface="+mn-lt"/>
                <a:cs typeface="+mn-lt"/>
              </a:rPr>
              <a:t>Arrays </a:t>
            </a:r>
            <a:r>
              <a:rPr lang="en-US" sz="2400" dirty="0">
                <a:latin typeface="Aptos"/>
                <a:ea typeface="+mn-lt"/>
                <a:cs typeface="+mn-lt"/>
              </a:rPr>
              <a:t>are used to store multiple values in a single variable, instead of declaring separate variables for each value.</a:t>
            </a:r>
          </a:p>
          <a:p>
            <a:r>
              <a:rPr lang="en-US" sz="2400" dirty="0">
                <a:latin typeface="Aptos"/>
                <a:cs typeface="Calibri"/>
              </a:rPr>
              <a:t>An </a:t>
            </a:r>
            <a:r>
              <a:rPr lang="en-US" sz="2400" b="1" dirty="0">
                <a:latin typeface="Aptos"/>
                <a:cs typeface="Calibri"/>
              </a:rPr>
              <a:t>array </a:t>
            </a:r>
            <a:r>
              <a:rPr lang="en-US" sz="2400" dirty="0">
                <a:latin typeface="Aptos"/>
                <a:cs typeface="Calibri"/>
              </a:rPr>
              <a:t>can be of any data-type (int, float, </a:t>
            </a:r>
            <a:r>
              <a:rPr lang="en-US" sz="2400" dirty="0" err="1">
                <a:latin typeface="Aptos"/>
                <a:cs typeface="Calibri"/>
              </a:rPr>
              <a:t>boolean</a:t>
            </a:r>
            <a:r>
              <a:rPr lang="en-US" sz="2400" dirty="0">
                <a:latin typeface="Aptos"/>
                <a:cs typeface="Calibri"/>
              </a:rPr>
              <a:t>, char...</a:t>
            </a:r>
            <a:r>
              <a:rPr lang="en-US" sz="2400" dirty="0" err="1">
                <a:latin typeface="Aptos"/>
                <a:cs typeface="Calibri"/>
              </a:rPr>
              <a:t>etc</a:t>
            </a:r>
            <a:r>
              <a:rPr lang="en-US" sz="2400" dirty="0">
                <a:latin typeface="Aptos"/>
                <a:cs typeface="Calibri"/>
              </a:rPr>
              <a:t>, or even user-defined data type).</a:t>
            </a:r>
            <a:endParaRPr lang="en-US" sz="2400" dirty="0">
              <a:cs typeface="Calibri"/>
            </a:endParaRPr>
          </a:p>
          <a:p>
            <a:r>
              <a:rPr lang="en-US" sz="2400" dirty="0">
                <a:latin typeface="Aptos"/>
                <a:cs typeface="Calibri"/>
              </a:rPr>
              <a:t>For instance, you need to read 100 numbers, compute their average, and find out how many numbers are above the average. Declaring int x1,x2,x3,x4...,x99,x100?</a:t>
            </a:r>
          </a:p>
          <a:p>
            <a:r>
              <a:rPr lang="en-US" sz="2400" dirty="0">
                <a:latin typeface="Aptos"/>
                <a:cs typeface="Calibri"/>
              </a:rPr>
              <a:t>In this case, using Array would be a better option.</a:t>
            </a:r>
          </a:p>
        </p:txBody>
      </p:sp>
    </p:spTree>
    <p:extLst>
      <p:ext uri="{BB962C8B-B14F-4D97-AF65-F5344CB8AC3E}">
        <p14:creationId xmlns:p14="http://schemas.microsoft.com/office/powerpoint/2010/main" val="271526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8AE17EA-13AC-4DDC-8056-AA77A4371EA3}"/>
              </a:ext>
            </a:extLst>
          </p:cNvPr>
          <p:cNvSpPr>
            <a:spLocks noGrp="1"/>
          </p:cNvSpPr>
          <p:nvPr>
            <p:ph type="title"/>
          </p:nvPr>
        </p:nvSpPr>
        <p:spPr/>
        <p:txBody>
          <a:bodyPr/>
          <a:lstStyle/>
          <a:p>
            <a:r>
              <a:rPr lang="en-US" altLang="en-US">
                <a:latin typeface="Aptos Display (Headings)"/>
              </a:rPr>
              <a:t>Defining a Java Array</a:t>
            </a:r>
          </a:p>
        </p:txBody>
      </p:sp>
      <p:sp>
        <p:nvSpPr>
          <p:cNvPr id="3" name="Slide Number Placeholder 2">
            <a:extLst>
              <a:ext uri="{FF2B5EF4-FFF2-40B4-BE49-F238E27FC236}">
                <a16:creationId xmlns:a16="http://schemas.microsoft.com/office/drawing/2014/main" id="{9B6B4F9A-F06B-435D-804B-ED9B9EA5A44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CCBD144-40C0-4B29-9B1C-E620848C7979}" type="slidenum">
              <a:rPr lang="en-US" altLang="en-US" sz="2000">
                <a:latin typeface="Aptos" panose="020B0004020202020204" pitchFamily="34" charset="0"/>
              </a:rPr>
              <a:pPr eaLnBrk="1" hangingPunct="1"/>
              <a:t>11</a:t>
            </a:fld>
            <a:endParaRPr lang="en-US" altLang="en-US" sz="2000">
              <a:latin typeface="Aptos" panose="020B0004020202020204" pitchFamily="34" charset="0"/>
            </a:endParaRPr>
          </a:p>
        </p:txBody>
      </p:sp>
      <p:sp>
        <p:nvSpPr>
          <p:cNvPr id="57348" name="Content Placeholder 3">
            <a:extLst>
              <a:ext uri="{FF2B5EF4-FFF2-40B4-BE49-F238E27FC236}">
                <a16:creationId xmlns:a16="http://schemas.microsoft.com/office/drawing/2014/main" id="{CD6097AD-1576-4D17-8839-9721E594D614}"/>
              </a:ext>
            </a:extLst>
          </p:cNvPr>
          <p:cNvSpPr>
            <a:spLocks noGrp="1"/>
          </p:cNvSpPr>
          <p:nvPr>
            <p:ph sz="quarter" idx="1"/>
          </p:nvPr>
        </p:nvSpPr>
        <p:spPr/>
        <p:txBody>
          <a:bodyPr vert="horz" lIns="91440" tIns="45720" rIns="91440" bIns="45720" rtlCol="0" anchor="t">
            <a:normAutofit/>
          </a:bodyPr>
          <a:lstStyle/>
          <a:p>
            <a:r>
              <a:rPr lang="en-US" altLang="en-US" sz="2400" dirty="0">
                <a:latin typeface="Aptos"/>
              </a:rPr>
              <a:t>Let’s create an array of 100 integers:</a:t>
            </a:r>
          </a:p>
          <a:p>
            <a:pPr lvl="1"/>
            <a:endParaRPr lang="en-US" altLang="en-US" dirty="0">
              <a:cs typeface="Courier New"/>
            </a:endParaRPr>
          </a:p>
        </p:txBody>
      </p:sp>
      <p:pic>
        <p:nvPicPr>
          <p:cNvPr id="8" name="Picture 7">
            <a:extLst>
              <a:ext uri="{FF2B5EF4-FFF2-40B4-BE49-F238E27FC236}">
                <a16:creationId xmlns:a16="http://schemas.microsoft.com/office/drawing/2014/main" id="{129ECD6D-60AE-C364-4295-791A1AD68851}"/>
              </a:ext>
            </a:extLst>
          </p:cNvPr>
          <p:cNvPicPr>
            <a:picLocks noChangeAspect="1"/>
          </p:cNvPicPr>
          <p:nvPr/>
        </p:nvPicPr>
        <p:blipFill>
          <a:blip r:embed="rId2"/>
          <a:stretch>
            <a:fillRect/>
          </a:stretch>
        </p:blipFill>
        <p:spPr>
          <a:xfrm>
            <a:off x="3040046" y="2378313"/>
            <a:ext cx="6111907" cy="32459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9A36ADEE-019F-4BCE-99E5-E6C0AB791997}"/>
              </a:ext>
            </a:extLst>
          </p:cNvPr>
          <p:cNvSpPr>
            <a:spLocks noGrp="1"/>
          </p:cNvSpPr>
          <p:nvPr>
            <p:ph type="title"/>
          </p:nvPr>
        </p:nvSpPr>
        <p:spPr/>
        <p:txBody>
          <a:bodyPr/>
          <a:lstStyle/>
          <a:p>
            <a:r>
              <a:rPr lang="en-US" altLang="en-US">
                <a:latin typeface="Aptos Display (Headings)"/>
              </a:rPr>
              <a:t>We said an array was a reference…</a:t>
            </a:r>
          </a:p>
        </p:txBody>
      </p:sp>
      <p:sp>
        <p:nvSpPr>
          <p:cNvPr id="3" name="Slide Number Placeholder 2">
            <a:extLst>
              <a:ext uri="{FF2B5EF4-FFF2-40B4-BE49-F238E27FC236}">
                <a16:creationId xmlns:a16="http://schemas.microsoft.com/office/drawing/2014/main" id="{96F87F07-8D7D-4588-9B09-538511CAB383}"/>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21AA577-1368-4DE2-BBC3-543F97A4C478}" type="slidenum">
              <a:rPr lang="en-US" altLang="en-US" sz="2000">
                <a:latin typeface="Aptos" panose="020B0004020202020204" pitchFamily="34" charset="0"/>
              </a:rPr>
              <a:pPr eaLnBrk="1" hangingPunct="1"/>
              <a:t>12</a:t>
            </a:fld>
            <a:endParaRPr lang="en-US" altLang="en-US" sz="2000">
              <a:latin typeface="Aptos" panose="020B0004020202020204" pitchFamily="34" charset="0"/>
            </a:endParaRPr>
          </a:p>
        </p:txBody>
      </p:sp>
      <p:sp>
        <p:nvSpPr>
          <p:cNvPr id="58372" name="Content Placeholder 3">
            <a:extLst>
              <a:ext uri="{FF2B5EF4-FFF2-40B4-BE49-F238E27FC236}">
                <a16:creationId xmlns:a16="http://schemas.microsoft.com/office/drawing/2014/main" id="{0C0F3C07-7EB1-4C79-A7F2-21EDEC201343}"/>
              </a:ext>
            </a:extLst>
          </p:cNvPr>
          <p:cNvSpPr>
            <a:spLocks noGrp="1"/>
          </p:cNvSpPr>
          <p:nvPr>
            <p:ph sz="quarter" idx="1"/>
          </p:nvPr>
        </p:nvSpPr>
        <p:spPr/>
        <p:txBody>
          <a:bodyPr/>
          <a:lstStyle/>
          <a:p>
            <a:r>
              <a:rPr lang="en-US" altLang="en-US" dirty="0">
                <a:latin typeface="Aptos" panose="020B0004020202020204" pitchFamily="34" charset="0"/>
              </a:rPr>
              <a:t>That means if we do this:</a:t>
            </a:r>
          </a:p>
          <a:p>
            <a:endParaRPr lang="en-US" altLang="en-US" dirty="0">
              <a:latin typeface="Aptos" panose="020B0004020202020204" pitchFamily="34" charset="0"/>
            </a:endParaRPr>
          </a:p>
          <a:p>
            <a:endParaRPr lang="en-US" altLang="en-US" dirty="0"/>
          </a:p>
          <a:p>
            <a:endParaRPr lang="en-US" altLang="en-US" dirty="0">
              <a:latin typeface="Aptos" panose="020B0004020202020204" pitchFamily="34" charset="0"/>
            </a:endParaRPr>
          </a:p>
          <a:p>
            <a:endParaRPr lang="en-US" altLang="en-US" dirty="0">
              <a:latin typeface="Aptos" panose="020B0004020202020204" pitchFamily="34" charset="0"/>
            </a:endParaRPr>
          </a:p>
          <a:p>
            <a:endParaRPr lang="en-US" altLang="en-US" dirty="0"/>
          </a:p>
          <a:p>
            <a:endParaRPr lang="en-US" altLang="en-US" dirty="0">
              <a:latin typeface="Aptos" panose="020B0004020202020204" pitchFamily="34" charset="0"/>
            </a:endParaRPr>
          </a:p>
          <a:p>
            <a:endParaRPr lang="en-US" altLang="en-US" dirty="0">
              <a:latin typeface="Aptos" panose="020B0004020202020204" pitchFamily="34" charset="0"/>
            </a:endParaRPr>
          </a:p>
          <a:p>
            <a:r>
              <a:rPr lang="en-US" altLang="en-US" dirty="0">
                <a:latin typeface="Aptos" panose="020B0004020202020204" pitchFamily="34" charset="0"/>
              </a:rPr>
              <a:t>What exactly does </a:t>
            </a:r>
            <a:r>
              <a:rPr lang="en-US" altLang="en-US" dirty="0" err="1">
                <a:latin typeface="Aptos" panose="020B0004020202020204" pitchFamily="34" charset="0"/>
              </a:rPr>
              <a:t>arr</a:t>
            </a:r>
            <a:r>
              <a:rPr lang="en-US" altLang="en-US" dirty="0">
                <a:latin typeface="Aptos" panose="020B0004020202020204" pitchFamily="34" charset="0"/>
              </a:rPr>
              <a:t> contain?</a:t>
            </a:r>
          </a:p>
        </p:txBody>
      </p:sp>
      <p:pic>
        <p:nvPicPr>
          <p:cNvPr id="10" name="Picture 9">
            <a:extLst>
              <a:ext uri="{FF2B5EF4-FFF2-40B4-BE49-F238E27FC236}">
                <a16:creationId xmlns:a16="http://schemas.microsoft.com/office/drawing/2014/main" id="{379B9BFF-D74A-8791-6996-939BFC2FA89A}"/>
              </a:ext>
            </a:extLst>
          </p:cNvPr>
          <p:cNvPicPr>
            <a:picLocks noChangeAspect="1"/>
          </p:cNvPicPr>
          <p:nvPr/>
        </p:nvPicPr>
        <p:blipFill>
          <a:blip r:embed="rId2"/>
          <a:stretch>
            <a:fillRect/>
          </a:stretch>
        </p:blipFill>
        <p:spPr>
          <a:xfrm>
            <a:off x="2537105" y="2450969"/>
            <a:ext cx="7117789" cy="28193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0EF81-ABB8-C9B4-B8E8-C0663157C1FF}"/>
            </a:ext>
          </a:extLst>
        </p:cNvPr>
        <p:cNvGrpSpPr/>
        <p:nvPr/>
      </p:nvGrpSpPr>
      <p:grpSpPr>
        <a:xfrm>
          <a:off x="0" y="0"/>
          <a:ext cx="0" cy="0"/>
          <a:chOff x="0" y="0"/>
          <a:chExt cx="0" cy="0"/>
        </a:xfrm>
      </p:grpSpPr>
      <p:sp>
        <p:nvSpPr>
          <p:cNvPr id="58370" name="Title 1">
            <a:extLst>
              <a:ext uri="{FF2B5EF4-FFF2-40B4-BE49-F238E27FC236}">
                <a16:creationId xmlns:a16="http://schemas.microsoft.com/office/drawing/2014/main" id="{6A7435BE-CDB1-18A3-D5DB-2837D99B9CCB}"/>
              </a:ext>
            </a:extLst>
          </p:cNvPr>
          <p:cNvSpPr>
            <a:spLocks noGrp="1"/>
          </p:cNvSpPr>
          <p:nvPr>
            <p:ph type="title"/>
          </p:nvPr>
        </p:nvSpPr>
        <p:spPr/>
        <p:txBody>
          <a:bodyPr/>
          <a:lstStyle/>
          <a:p>
            <a:r>
              <a:rPr lang="en-US" altLang="en-US" dirty="0">
                <a:latin typeface="Aptos Display (Headings)"/>
              </a:rPr>
              <a:t>Defining a Java Array with data</a:t>
            </a:r>
          </a:p>
        </p:txBody>
      </p:sp>
      <p:sp>
        <p:nvSpPr>
          <p:cNvPr id="3" name="Slide Number Placeholder 2">
            <a:extLst>
              <a:ext uri="{FF2B5EF4-FFF2-40B4-BE49-F238E27FC236}">
                <a16:creationId xmlns:a16="http://schemas.microsoft.com/office/drawing/2014/main" id="{FFEE477C-6200-A345-A0B1-75A9838E69DE}"/>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21AA577-1368-4DE2-BBC3-543F97A4C478}" type="slidenum">
              <a:rPr lang="en-US" altLang="en-US" sz="2000">
                <a:latin typeface="Aptos" panose="020B0004020202020204" pitchFamily="34" charset="0"/>
              </a:rPr>
              <a:pPr eaLnBrk="1" hangingPunct="1"/>
              <a:t>13</a:t>
            </a:fld>
            <a:endParaRPr lang="en-US" altLang="en-US" sz="2000">
              <a:latin typeface="Aptos" panose="020B0004020202020204" pitchFamily="34" charset="0"/>
            </a:endParaRPr>
          </a:p>
        </p:txBody>
      </p:sp>
      <p:sp>
        <p:nvSpPr>
          <p:cNvPr id="58372" name="Content Placeholder 3">
            <a:extLst>
              <a:ext uri="{FF2B5EF4-FFF2-40B4-BE49-F238E27FC236}">
                <a16:creationId xmlns:a16="http://schemas.microsoft.com/office/drawing/2014/main" id="{5DE50DDA-5110-EAA8-8A24-9242BF564401}"/>
              </a:ext>
            </a:extLst>
          </p:cNvPr>
          <p:cNvSpPr>
            <a:spLocks noGrp="1"/>
          </p:cNvSpPr>
          <p:nvPr>
            <p:ph sz="quarter" idx="1"/>
          </p:nvPr>
        </p:nvSpPr>
        <p:spPr/>
        <p:txBody>
          <a:bodyPr/>
          <a:lstStyle/>
          <a:p>
            <a:pPr marL="0" indent="0">
              <a:buNone/>
            </a:pPr>
            <a:endParaRPr lang="en-US" altLang="en-US" dirty="0">
              <a:latin typeface="Aptos" panose="020B0004020202020204" pitchFamily="34" charset="0"/>
            </a:endParaRPr>
          </a:p>
          <a:p>
            <a:endParaRPr lang="en-US" altLang="en-US" dirty="0"/>
          </a:p>
          <a:p>
            <a:endParaRPr lang="en-US" altLang="en-US" dirty="0">
              <a:latin typeface="Aptos" panose="020B0004020202020204" pitchFamily="34" charset="0"/>
            </a:endParaRPr>
          </a:p>
          <a:p>
            <a:endParaRPr lang="en-US" altLang="en-US" dirty="0">
              <a:latin typeface="Aptos" panose="020B0004020202020204" pitchFamily="34" charset="0"/>
            </a:endParaRPr>
          </a:p>
          <a:p>
            <a:endParaRPr lang="en-US" altLang="en-US" dirty="0"/>
          </a:p>
          <a:p>
            <a:endParaRPr lang="en-US" altLang="en-US" dirty="0">
              <a:latin typeface="Aptos" panose="020B0004020202020204" pitchFamily="34" charset="0"/>
            </a:endParaRPr>
          </a:p>
          <a:p>
            <a:endParaRPr lang="en-US" altLang="en-US" dirty="0">
              <a:latin typeface="Aptos" panose="020B0004020202020204" pitchFamily="34" charset="0"/>
            </a:endParaRPr>
          </a:p>
        </p:txBody>
      </p:sp>
      <p:pic>
        <p:nvPicPr>
          <p:cNvPr id="4" name="Picture 3">
            <a:extLst>
              <a:ext uri="{FF2B5EF4-FFF2-40B4-BE49-F238E27FC236}">
                <a16:creationId xmlns:a16="http://schemas.microsoft.com/office/drawing/2014/main" id="{C275F0C8-E816-45EC-7A07-AE25A6E7B6D1}"/>
              </a:ext>
            </a:extLst>
          </p:cNvPr>
          <p:cNvPicPr>
            <a:picLocks noChangeAspect="1"/>
          </p:cNvPicPr>
          <p:nvPr/>
        </p:nvPicPr>
        <p:blipFill>
          <a:blip r:embed="rId2"/>
          <a:stretch>
            <a:fillRect/>
          </a:stretch>
        </p:blipFill>
        <p:spPr>
          <a:xfrm>
            <a:off x="2055436" y="2765841"/>
            <a:ext cx="7926764" cy="3727034"/>
          </a:xfrm>
          <a:prstGeom prst="rect">
            <a:avLst/>
          </a:prstGeom>
        </p:spPr>
      </p:pic>
      <p:sp>
        <p:nvSpPr>
          <p:cNvPr id="6" name="TextBox 5">
            <a:extLst>
              <a:ext uri="{FF2B5EF4-FFF2-40B4-BE49-F238E27FC236}">
                <a16:creationId xmlns:a16="http://schemas.microsoft.com/office/drawing/2014/main" id="{1D72DF6D-1342-0D7A-7C1C-2BAE3CB5FD38}"/>
              </a:ext>
            </a:extLst>
          </p:cNvPr>
          <p:cNvSpPr txBox="1"/>
          <p:nvPr/>
        </p:nvSpPr>
        <p:spPr>
          <a:xfrm>
            <a:off x="838200" y="1755457"/>
            <a:ext cx="6094428" cy="830997"/>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ptos" panose="020B0004020202020204" pitchFamily="34" charset="0"/>
              </a:rPr>
              <a:t>Automatically determines the size</a:t>
            </a:r>
          </a:p>
          <a:p>
            <a:pPr marL="342900" indent="-342900">
              <a:buFont typeface="Arial" panose="020B0604020202020204" pitchFamily="34" charset="0"/>
              <a:buChar char="•"/>
            </a:pPr>
            <a:r>
              <a:rPr lang="en-US" sz="2400" dirty="0">
                <a:latin typeface="Aptos" panose="020B0004020202020204" pitchFamily="34" charset="0"/>
              </a:rPr>
              <a:t>Can do this with primitives or objects</a:t>
            </a:r>
          </a:p>
        </p:txBody>
      </p:sp>
    </p:spTree>
    <p:extLst>
      <p:ext uri="{BB962C8B-B14F-4D97-AF65-F5344CB8AC3E}">
        <p14:creationId xmlns:p14="http://schemas.microsoft.com/office/powerpoint/2010/main" val="4173975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80CE2072-D642-41D6-8079-251FC36C7349}"/>
              </a:ext>
            </a:extLst>
          </p:cNvPr>
          <p:cNvSpPr>
            <a:spLocks noGrp="1"/>
          </p:cNvSpPr>
          <p:nvPr>
            <p:ph type="title"/>
          </p:nvPr>
        </p:nvSpPr>
        <p:spPr/>
        <p:txBody>
          <a:bodyPr/>
          <a:lstStyle/>
          <a:p>
            <a:r>
              <a:rPr lang="en-US" altLang="en-US" dirty="0"/>
              <a:t>The Size</a:t>
            </a:r>
          </a:p>
        </p:txBody>
      </p:sp>
      <p:sp>
        <p:nvSpPr>
          <p:cNvPr id="3" name="Slide Number Placeholder 2">
            <a:extLst>
              <a:ext uri="{FF2B5EF4-FFF2-40B4-BE49-F238E27FC236}">
                <a16:creationId xmlns:a16="http://schemas.microsoft.com/office/drawing/2014/main" id="{3C485413-6C52-40ED-916F-ADF528E60724}"/>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608004E-8B25-4347-884F-95A0033DEEF2}" type="slidenum">
              <a:rPr lang="en-US" altLang="en-US" sz="2000">
                <a:latin typeface="Aptos" panose="020B0004020202020204" pitchFamily="34" charset="0"/>
              </a:rPr>
              <a:pPr eaLnBrk="1" hangingPunct="1"/>
              <a:t>14</a:t>
            </a:fld>
            <a:endParaRPr lang="en-US" altLang="en-US" sz="2000">
              <a:latin typeface="Aptos" panose="020B0004020202020204" pitchFamily="34" charset="0"/>
            </a:endParaRPr>
          </a:p>
        </p:txBody>
      </p:sp>
      <p:sp>
        <p:nvSpPr>
          <p:cNvPr id="59396" name="Content Placeholder 3">
            <a:extLst>
              <a:ext uri="{FF2B5EF4-FFF2-40B4-BE49-F238E27FC236}">
                <a16:creationId xmlns:a16="http://schemas.microsoft.com/office/drawing/2014/main" id="{045DF7CB-BB8D-4525-944E-47125FD4B0DE}"/>
              </a:ext>
            </a:extLst>
          </p:cNvPr>
          <p:cNvSpPr>
            <a:spLocks noGrp="1"/>
          </p:cNvSpPr>
          <p:nvPr>
            <p:ph sz="quarter" idx="1"/>
          </p:nvPr>
        </p:nvSpPr>
        <p:spPr/>
        <p:txBody>
          <a:bodyPr/>
          <a:lstStyle/>
          <a:p>
            <a:r>
              <a:rPr lang="en-US" altLang="en-US" dirty="0"/>
              <a:t>Size of an array cannot change once it’s been declared:</a:t>
            </a:r>
          </a:p>
          <a:p>
            <a:endParaRPr lang="en-US" altLang="en-US" dirty="0"/>
          </a:p>
          <a:p>
            <a:endParaRPr lang="en-US" altLang="en-US" dirty="0"/>
          </a:p>
          <a:p>
            <a:pPr lvl="1"/>
            <a:endParaRPr lang="en-US" altLang="en-US" dirty="0"/>
          </a:p>
          <a:p>
            <a:r>
              <a:rPr lang="en-US" altLang="en-US" dirty="0"/>
              <a:t>But, one nice thing is that arrays are objects.  So you can access its size easily:</a:t>
            </a:r>
          </a:p>
        </p:txBody>
      </p:sp>
      <p:pic>
        <p:nvPicPr>
          <p:cNvPr id="2" name="Picture 1">
            <a:extLst>
              <a:ext uri="{FF2B5EF4-FFF2-40B4-BE49-F238E27FC236}">
                <a16:creationId xmlns:a16="http://schemas.microsoft.com/office/drawing/2014/main" id="{B6CED04F-E536-C3B1-79DA-95F4EB716D0F}"/>
              </a:ext>
            </a:extLst>
          </p:cNvPr>
          <p:cNvPicPr>
            <a:picLocks noChangeAspect="1"/>
          </p:cNvPicPr>
          <p:nvPr/>
        </p:nvPicPr>
        <p:blipFill>
          <a:blip r:embed="rId2"/>
          <a:srcRect l="13967" t="25237" r="13773" b="26706"/>
          <a:stretch>
            <a:fillRect/>
          </a:stretch>
        </p:blipFill>
        <p:spPr>
          <a:xfrm>
            <a:off x="1772239" y="2288665"/>
            <a:ext cx="3582186" cy="1265239"/>
          </a:xfrm>
          <a:prstGeom prst="rect">
            <a:avLst/>
          </a:prstGeom>
        </p:spPr>
      </p:pic>
      <p:pic>
        <p:nvPicPr>
          <p:cNvPr id="7" name="Picture 6">
            <a:extLst>
              <a:ext uri="{FF2B5EF4-FFF2-40B4-BE49-F238E27FC236}">
                <a16:creationId xmlns:a16="http://schemas.microsoft.com/office/drawing/2014/main" id="{92DCA340-4EA8-28E8-D0BC-99A86AE17298}"/>
              </a:ext>
            </a:extLst>
          </p:cNvPr>
          <p:cNvPicPr>
            <a:picLocks noChangeAspect="1"/>
          </p:cNvPicPr>
          <p:nvPr/>
        </p:nvPicPr>
        <p:blipFill>
          <a:blip r:embed="rId3"/>
          <a:srcRect l="12357" t="20850" r="12281" b="20945"/>
          <a:stretch>
            <a:fillRect/>
          </a:stretch>
        </p:blipFill>
        <p:spPr>
          <a:xfrm>
            <a:off x="1772239" y="4569334"/>
            <a:ext cx="4160363" cy="1923541"/>
          </a:xfrm>
          <a:prstGeom prst="rect">
            <a:avLst/>
          </a:prstGeom>
        </p:spPr>
      </p:pic>
      <p:pic>
        <p:nvPicPr>
          <p:cNvPr id="9" name="Picture 8">
            <a:extLst>
              <a:ext uri="{FF2B5EF4-FFF2-40B4-BE49-F238E27FC236}">
                <a16:creationId xmlns:a16="http://schemas.microsoft.com/office/drawing/2014/main" id="{C56FF615-480B-1500-DA42-C4E00A486E01}"/>
              </a:ext>
            </a:extLst>
          </p:cNvPr>
          <p:cNvPicPr>
            <a:picLocks noChangeAspect="1"/>
          </p:cNvPicPr>
          <p:nvPr/>
        </p:nvPicPr>
        <p:blipFill>
          <a:blip r:embed="rId4"/>
          <a:srcRect l="10124" t="20091" r="10156" b="20376"/>
          <a:stretch>
            <a:fillRect/>
          </a:stretch>
        </p:blipFill>
        <p:spPr>
          <a:xfrm>
            <a:off x="6334812" y="4569334"/>
            <a:ext cx="5200911" cy="19235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A601E198-1DF4-4F7F-964C-192FD7E5ED9E}"/>
              </a:ext>
            </a:extLst>
          </p:cNvPr>
          <p:cNvSpPr>
            <a:spLocks noGrp="1"/>
          </p:cNvSpPr>
          <p:nvPr>
            <p:ph type="title"/>
          </p:nvPr>
        </p:nvSpPr>
        <p:spPr/>
        <p:txBody>
          <a:bodyPr/>
          <a:lstStyle/>
          <a:p>
            <a:r>
              <a:rPr lang="en-US" altLang="en-US"/>
              <a:t>Access</a:t>
            </a:r>
          </a:p>
        </p:txBody>
      </p:sp>
      <p:sp>
        <p:nvSpPr>
          <p:cNvPr id="3" name="Slide Number Placeholder 2">
            <a:extLst>
              <a:ext uri="{FF2B5EF4-FFF2-40B4-BE49-F238E27FC236}">
                <a16:creationId xmlns:a16="http://schemas.microsoft.com/office/drawing/2014/main" id="{700A8DC8-9DAA-469D-B37C-71EEFD20449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2BE9C55-160C-4753-B1BD-2B1AA0EF8753}" type="slidenum">
              <a:rPr lang="en-US" altLang="en-US" sz="2000">
                <a:latin typeface="Aptos" panose="020B0004020202020204" pitchFamily="34" charset="0"/>
              </a:rPr>
              <a:pPr eaLnBrk="1" hangingPunct="1"/>
              <a:t>15</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2178E71C-91E4-41FA-A400-957976E8369E}"/>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Done by using an index number in square brackets: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777240" lvl="1" indent="-457200">
              <a:spcBef>
                <a:spcPts val="370"/>
              </a:spcBef>
              <a:spcAft>
                <a:spcPct val="0"/>
              </a:spcAft>
              <a:defRPr/>
            </a:pPr>
            <a:endParaRPr lang="en-US" dirty="0"/>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How do we access the last element of the array, if we don’t remember its size?</a:t>
            </a:r>
          </a:p>
          <a:p>
            <a:pPr>
              <a:spcBef>
                <a:spcPts val="580"/>
              </a:spcBef>
              <a:spcAft>
                <a:spcPct val="0"/>
              </a:spcAft>
              <a:defRPr/>
            </a:pPr>
            <a:endParaRPr lang="en-US" dirty="0"/>
          </a:p>
          <a:p>
            <a:pPr>
              <a:spcBef>
                <a:spcPts val="580"/>
              </a:spcBef>
              <a:spcAft>
                <a:spcPct val="0"/>
              </a:spcAft>
              <a:defRPr/>
            </a:pPr>
            <a:r>
              <a:rPr lang="en-US" dirty="0">
                <a:latin typeface="Aptos"/>
              </a:rPr>
              <a:t>What range of indices will generate the </a:t>
            </a:r>
            <a:r>
              <a:rPr lang="en-US" dirty="0" err="1">
                <a:latin typeface="Aptos"/>
              </a:rPr>
              <a:t>IndexOutOfBounds</a:t>
            </a:r>
            <a:r>
              <a:rPr lang="en-US" dirty="0">
                <a:latin typeface="Aptos"/>
              </a:rPr>
              <a:t> exception?</a:t>
            </a:r>
          </a:p>
        </p:txBody>
      </p:sp>
      <p:pic>
        <p:nvPicPr>
          <p:cNvPr id="11" name="Picture 10">
            <a:extLst>
              <a:ext uri="{FF2B5EF4-FFF2-40B4-BE49-F238E27FC236}">
                <a16:creationId xmlns:a16="http://schemas.microsoft.com/office/drawing/2014/main" id="{72D6EA2A-0079-BFDC-3717-52150180E87D}"/>
              </a:ext>
            </a:extLst>
          </p:cNvPr>
          <p:cNvPicPr>
            <a:picLocks noChangeAspect="1"/>
          </p:cNvPicPr>
          <p:nvPr/>
        </p:nvPicPr>
        <p:blipFill>
          <a:blip r:embed="rId2"/>
          <a:stretch>
            <a:fillRect/>
          </a:stretch>
        </p:blipFill>
        <p:spPr>
          <a:xfrm>
            <a:off x="1701343" y="2248982"/>
            <a:ext cx="6160612" cy="118001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5978C-24FF-F9DA-350B-6B91FFF2E272}"/>
            </a:ext>
          </a:extLst>
        </p:cNvPr>
        <p:cNvGrpSpPr/>
        <p:nvPr/>
      </p:nvGrpSpPr>
      <p:grpSpPr>
        <a:xfrm>
          <a:off x="0" y="0"/>
          <a:ext cx="0" cy="0"/>
          <a:chOff x="0" y="0"/>
          <a:chExt cx="0" cy="0"/>
        </a:xfrm>
      </p:grpSpPr>
      <p:sp>
        <p:nvSpPr>
          <p:cNvPr id="60418" name="Title 1">
            <a:extLst>
              <a:ext uri="{FF2B5EF4-FFF2-40B4-BE49-F238E27FC236}">
                <a16:creationId xmlns:a16="http://schemas.microsoft.com/office/drawing/2014/main" id="{B2FBC33B-FC7F-597D-2F19-43423F975B8B}"/>
              </a:ext>
            </a:extLst>
          </p:cNvPr>
          <p:cNvSpPr>
            <a:spLocks noGrp="1"/>
          </p:cNvSpPr>
          <p:nvPr>
            <p:ph type="title"/>
          </p:nvPr>
        </p:nvSpPr>
        <p:spPr/>
        <p:txBody>
          <a:bodyPr/>
          <a:lstStyle/>
          <a:p>
            <a:r>
              <a:rPr lang="en-US" altLang="en-US"/>
              <a:t>Access</a:t>
            </a:r>
          </a:p>
        </p:txBody>
      </p:sp>
      <p:sp>
        <p:nvSpPr>
          <p:cNvPr id="3" name="Slide Number Placeholder 2">
            <a:extLst>
              <a:ext uri="{FF2B5EF4-FFF2-40B4-BE49-F238E27FC236}">
                <a16:creationId xmlns:a16="http://schemas.microsoft.com/office/drawing/2014/main" id="{41AAEC79-2EB1-25CF-1ECA-07C2EBA658B0}"/>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2BE9C55-160C-4753-B1BD-2B1AA0EF8753}" type="slidenum">
              <a:rPr lang="en-US" altLang="en-US" sz="2000">
                <a:latin typeface="Aptos" panose="020B0004020202020204" pitchFamily="34" charset="0"/>
              </a:rPr>
              <a:pPr eaLnBrk="1" hangingPunct="1"/>
              <a:t>16</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8623BEA3-0EC4-BC50-A25A-2F4209EF396E}"/>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How do we access the last element of the array, if we don’t remember its size?</a:t>
            </a:r>
          </a:p>
          <a:p>
            <a:pPr>
              <a:spcBef>
                <a:spcPts val="580"/>
              </a:spcBef>
              <a:spcAft>
                <a:spcPct val="0"/>
              </a:spcAft>
              <a:defRPr/>
            </a:pPr>
            <a:endParaRPr lang="en-US" dirty="0">
              <a:latin typeface="Aptos"/>
            </a:endParaRPr>
          </a:p>
          <a:p>
            <a:pPr>
              <a:spcBef>
                <a:spcPts val="580"/>
              </a:spcBef>
              <a:spcAft>
                <a:spcPct val="0"/>
              </a:spcAft>
              <a:defRPr/>
            </a:pPr>
            <a:endParaRPr lang="en-US" dirty="0"/>
          </a:p>
          <a:p>
            <a:pPr>
              <a:spcBef>
                <a:spcPts val="580"/>
              </a:spcBef>
              <a:spcAft>
                <a:spcPct val="0"/>
              </a:spcAft>
              <a:defRPr/>
            </a:pPr>
            <a:r>
              <a:rPr lang="en-US" dirty="0">
                <a:latin typeface="Aptos"/>
              </a:rPr>
              <a:t>What range of indices will generate the </a:t>
            </a:r>
            <a:r>
              <a:rPr lang="en-US" dirty="0" err="1">
                <a:latin typeface="Aptos"/>
              </a:rPr>
              <a:t>IndexOutOfBounds</a:t>
            </a:r>
            <a:r>
              <a:rPr lang="en-US" dirty="0">
                <a:latin typeface="Aptos"/>
              </a:rPr>
              <a:t> exception?</a:t>
            </a:r>
          </a:p>
          <a:p>
            <a:pPr lvl="1">
              <a:spcBef>
                <a:spcPts val="580"/>
              </a:spcBef>
              <a:spcAft>
                <a:spcPct val="0"/>
              </a:spcAft>
              <a:defRPr/>
            </a:pPr>
            <a:r>
              <a:rPr lang="en-US" dirty="0"/>
              <a:t>Index </a:t>
            </a:r>
            <a:r>
              <a:rPr lang="en-US" b="1" dirty="0"/>
              <a:t>less than 0</a:t>
            </a:r>
            <a:r>
              <a:rPr lang="en-US" dirty="0"/>
              <a:t> or index </a:t>
            </a:r>
            <a:r>
              <a:rPr lang="en-US" b="1" dirty="0"/>
              <a:t>equal array length and above</a:t>
            </a:r>
          </a:p>
          <a:p>
            <a:pPr>
              <a:spcBef>
                <a:spcPts val="580"/>
              </a:spcBef>
              <a:spcAft>
                <a:spcPct val="0"/>
              </a:spcAft>
              <a:defRPr/>
            </a:pPr>
            <a:endParaRPr lang="en-US" dirty="0"/>
          </a:p>
          <a:p>
            <a:pPr marL="0" indent="0">
              <a:spcBef>
                <a:spcPts val="580"/>
              </a:spcBef>
              <a:spcAft>
                <a:spcPct val="0"/>
              </a:spcAft>
              <a:buNone/>
              <a:defRPr/>
            </a:pPr>
            <a:endParaRPr lang="en-US" dirty="0"/>
          </a:p>
          <a:p>
            <a:pPr>
              <a:spcBef>
                <a:spcPts val="580"/>
              </a:spcBef>
              <a:spcAft>
                <a:spcPct val="0"/>
              </a:spcAft>
              <a:defRPr/>
            </a:pPr>
            <a:endParaRPr lang="en-US" dirty="0"/>
          </a:p>
          <a:p>
            <a:pPr>
              <a:spcBef>
                <a:spcPts val="580"/>
              </a:spcBef>
              <a:spcAft>
                <a:spcPct val="0"/>
              </a:spcAft>
              <a:defRPr/>
            </a:pPr>
            <a:r>
              <a:rPr lang="en-US" dirty="0">
                <a:latin typeface="Aptos"/>
              </a:rPr>
              <a:t>The index start at 0.</a:t>
            </a:r>
          </a:p>
        </p:txBody>
      </p:sp>
      <p:pic>
        <p:nvPicPr>
          <p:cNvPr id="13" name="Picture 12">
            <a:extLst>
              <a:ext uri="{FF2B5EF4-FFF2-40B4-BE49-F238E27FC236}">
                <a16:creationId xmlns:a16="http://schemas.microsoft.com/office/drawing/2014/main" id="{0F2A4823-BC80-2EE5-7037-983953381CA5}"/>
              </a:ext>
            </a:extLst>
          </p:cNvPr>
          <p:cNvPicPr>
            <a:picLocks noChangeAspect="1"/>
          </p:cNvPicPr>
          <p:nvPr/>
        </p:nvPicPr>
        <p:blipFill>
          <a:blip r:embed="rId2"/>
          <a:stretch>
            <a:fillRect/>
          </a:stretch>
        </p:blipFill>
        <p:spPr>
          <a:xfrm>
            <a:off x="1481972" y="2567593"/>
            <a:ext cx="7680882" cy="861407"/>
          </a:xfrm>
          <a:prstGeom prst="rect">
            <a:avLst/>
          </a:prstGeom>
        </p:spPr>
      </p:pic>
      <p:pic>
        <p:nvPicPr>
          <p:cNvPr id="5" name="Picture 4">
            <a:extLst>
              <a:ext uri="{FF2B5EF4-FFF2-40B4-BE49-F238E27FC236}">
                <a16:creationId xmlns:a16="http://schemas.microsoft.com/office/drawing/2014/main" id="{680F8319-02D9-C184-70FD-7C1D912ED29B}"/>
              </a:ext>
            </a:extLst>
          </p:cNvPr>
          <p:cNvPicPr>
            <a:picLocks noChangeAspect="1"/>
          </p:cNvPicPr>
          <p:nvPr/>
        </p:nvPicPr>
        <p:blipFill>
          <a:blip r:embed="rId3"/>
          <a:stretch>
            <a:fillRect/>
          </a:stretch>
        </p:blipFill>
        <p:spPr>
          <a:xfrm>
            <a:off x="1481972" y="4406301"/>
            <a:ext cx="7680882" cy="1062764"/>
          </a:xfrm>
          <a:prstGeom prst="rect">
            <a:avLst/>
          </a:prstGeom>
        </p:spPr>
      </p:pic>
    </p:spTree>
    <p:extLst>
      <p:ext uri="{BB962C8B-B14F-4D97-AF65-F5344CB8AC3E}">
        <p14:creationId xmlns:p14="http://schemas.microsoft.com/office/powerpoint/2010/main" val="2673415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5B8400CA-9145-4D4C-892F-CD548C9575E9}"/>
              </a:ext>
            </a:extLst>
          </p:cNvPr>
          <p:cNvSpPr>
            <a:spLocks noGrp="1"/>
          </p:cNvSpPr>
          <p:nvPr>
            <p:ph type="title"/>
          </p:nvPr>
        </p:nvSpPr>
        <p:spPr/>
        <p:txBody>
          <a:bodyPr/>
          <a:lstStyle/>
          <a:p>
            <a:r>
              <a:rPr lang="en-US" altLang="en-US"/>
              <a:t>Initialization</a:t>
            </a:r>
          </a:p>
        </p:txBody>
      </p:sp>
      <p:sp>
        <p:nvSpPr>
          <p:cNvPr id="3" name="Slide Number Placeholder 2">
            <a:extLst>
              <a:ext uri="{FF2B5EF4-FFF2-40B4-BE49-F238E27FC236}">
                <a16:creationId xmlns:a16="http://schemas.microsoft.com/office/drawing/2014/main" id="{8670EEC0-2E97-4E0C-913C-7C2571DFD500}"/>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8ABE64C-9FC7-4E38-87A1-1FF4D70D1593}" type="slidenum">
              <a:rPr lang="en-US" altLang="en-US" sz="2000">
                <a:latin typeface="Aptos" panose="020B0004020202020204" pitchFamily="34" charset="0"/>
              </a:rPr>
              <a:pPr eaLnBrk="1" hangingPunct="1"/>
              <a:t>17</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0B812968-BA7B-4BAE-A6BA-4380E1035293}"/>
              </a:ext>
            </a:extLst>
          </p:cNvPr>
          <p:cNvSpPr>
            <a:spLocks noGrp="1"/>
          </p:cNvSpPr>
          <p:nvPr>
            <p:ph sz="quarter" idx="1"/>
          </p:nvPr>
        </p:nvSpPr>
        <p:spPr>
          <a:xfrm>
            <a:off x="822960" y="1690687"/>
            <a:ext cx="10687168" cy="4802187"/>
          </a:xfrm>
        </p:spPr>
        <p:txBody>
          <a:bodyPr>
            <a:normAutofit/>
          </a:bodyPr>
          <a:lstStyle/>
          <a:p>
            <a:pPr>
              <a:spcBef>
                <a:spcPts val="580"/>
              </a:spcBef>
              <a:spcAft>
                <a:spcPct val="0"/>
              </a:spcAft>
              <a:defRPr/>
            </a:pPr>
            <a:r>
              <a:rPr lang="en-US" dirty="0"/>
              <a:t>What do each of the elements of this array contain:</a:t>
            </a:r>
          </a:p>
          <a:p>
            <a:pPr>
              <a:spcBef>
                <a:spcPts val="580"/>
              </a:spcBef>
              <a:spcAft>
                <a:spcPct val="0"/>
              </a:spcAft>
              <a:defRPr/>
            </a:pPr>
            <a:endParaRPr lang="en-US" dirty="0"/>
          </a:p>
          <a:p>
            <a:pPr>
              <a:spcBef>
                <a:spcPts val="580"/>
              </a:spcBef>
              <a:spcAft>
                <a:spcPct val="0"/>
              </a:spcAft>
              <a:defRPr/>
            </a:pPr>
            <a:endParaRPr lang="en-US" dirty="0"/>
          </a:p>
          <a:p>
            <a:pPr>
              <a:spcBef>
                <a:spcPts val="580"/>
              </a:spcBef>
              <a:spcAft>
                <a:spcPct val="0"/>
              </a:spcAft>
              <a:defRPr/>
            </a:pPr>
            <a:r>
              <a:rPr lang="en-US" dirty="0"/>
              <a:t>How about this one:</a:t>
            </a:r>
          </a:p>
          <a:p>
            <a:pPr marL="320040" lvl="1" indent="0">
              <a:spcBef>
                <a:spcPts val="370"/>
              </a:spcBef>
              <a:spcAft>
                <a:spcPct val="0"/>
              </a:spcAft>
              <a:buNone/>
              <a:defRPr/>
            </a:pPr>
            <a:endParaRPr lang="en-US" sz="2400" dirty="0"/>
          </a:p>
          <a:p>
            <a:pPr marL="320040" lvl="1" indent="0">
              <a:spcBef>
                <a:spcPts val="370"/>
              </a:spcBef>
              <a:spcAft>
                <a:spcPct val="0"/>
              </a:spcAft>
              <a:buNone/>
              <a:defRPr/>
            </a:pPr>
            <a:endParaRPr lang="en-US" sz="2400" dirty="0"/>
          </a:p>
          <a:p>
            <a:pPr marL="777240" lvl="1" indent="-457200">
              <a:spcBef>
                <a:spcPts val="370"/>
              </a:spcBef>
              <a:spcAft>
                <a:spcPct val="0"/>
              </a:spcAft>
              <a:defRPr/>
            </a:pPr>
            <a:r>
              <a:rPr lang="en-US" sz="2400" dirty="0"/>
              <a:t>What happens if we attempt to access one of these values?</a:t>
            </a:r>
          </a:p>
          <a:p>
            <a:pPr marL="320040" lvl="1" indent="0">
              <a:spcBef>
                <a:spcPts val="370"/>
              </a:spcBef>
              <a:spcAft>
                <a:spcPct val="0"/>
              </a:spcAft>
              <a:buNone/>
              <a:defRPr/>
            </a:pPr>
            <a:endParaRPr lang="en-US" dirty="0"/>
          </a:p>
        </p:txBody>
      </p:sp>
      <p:pic>
        <p:nvPicPr>
          <p:cNvPr id="7" name="Picture 6">
            <a:extLst>
              <a:ext uri="{FF2B5EF4-FFF2-40B4-BE49-F238E27FC236}">
                <a16:creationId xmlns:a16="http://schemas.microsoft.com/office/drawing/2014/main" id="{86BF7BEE-FB6D-697E-ECC9-AA45A7526C62}"/>
              </a:ext>
            </a:extLst>
          </p:cNvPr>
          <p:cNvPicPr>
            <a:picLocks noChangeAspect="1"/>
          </p:cNvPicPr>
          <p:nvPr/>
        </p:nvPicPr>
        <p:blipFill>
          <a:blip r:embed="rId2"/>
          <a:srcRect t="32694"/>
          <a:stretch>
            <a:fillRect/>
          </a:stretch>
        </p:blipFill>
        <p:spPr>
          <a:xfrm>
            <a:off x="1458307" y="2064470"/>
            <a:ext cx="7237592" cy="490194"/>
          </a:xfrm>
          <a:prstGeom prst="rect">
            <a:avLst/>
          </a:prstGeom>
        </p:spPr>
      </p:pic>
      <p:pic>
        <p:nvPicPr>
          <p:cNvPr id="9" name="Picture 8">
            <a:extLst>
              <a:ext uri="{FF2B5EF4-FFF2-40B4-BE49-F238E27FC236}">
                <a16:creationId xmlns:a16="http://schemas.microsoft.com/office/drawing/2014/main" id="{BA4D30CF-EAB4-2F7B-176B-16540E91E240}"/>
              </a:ext>
            </a:extLst>
          </p:cNvPr>
          <p:cNvPicPr>
            <a:picLocks noChangeAspect="1"/>
          </p:cNvPicPr>
          <p:nvPr/>
        </p:nvPicPr>
        <p:blipFill>
          <a:blip r:embed="rId3"/>
          <a:srcRect t="28608"/>
          <a:stretch>
            <a:fillRect/>
          </a:stretch>
        </p:blipFill>
        <p:spPr>
          <a:xfrm>
            <a:off x="1458307" y="3429000"/>
            <a:ext cx="7237592" cy="51995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4CDCC-0CFC-6D11-F9C2-E14586B9FA42}"/>
            </a:ext>
          </a:extLst>
        </p:cNvPr>
        <p:cNvGrpSpPr/>
        <p:nvPr/>
      </p:nvGrpSpPr>
      <p:grpSpPr>
        <a:xfrm>
          <a:off x="0" y="0"/>
          <a:ext cx="0" cy="0"/>
          <a:chOff x="0" y="0"/>
          <a:chExt cx="0" cy="0"/>
        </a:xfrm>
      </p:grpSpPr>
      <p:sp>
        <p:nvSpPr>
          <p:cNvPr id="61442" name="Title 1">
            <a:extLst>
              <a:ext uri="{FF2B5EF4-FFF2-40B4-BE49-F238E27FC236}">
                <a16:creationId xmlns:a16="http://schemas.microsoft.com/office/drawing/2014/main" id="{F66A9D00-6E0C-8395-965F-0BF9D2FE8803}"/>
              </a:ext>
            </a:extLst>
          </p:cNvPr>
          <p:cNvSpPr>
            <a:spLocks noGrp="1"/>
          </p:cNvSpPr>
          <p:nvPr>
            <p:ph type="title"/>
          </p:nvPr>
        </p:nvSpPr>
        <p:spPr/>
        <p:txBody>
          <a:bodyPr/>
          <a:lstStyle/>
          <a:p>
            <a:r>
              <a:rPr lang="en-US" altLang="en-US"/>
              <a:t>Initialization</a:t>
            </a:r>
          </a:p>
        </p:txBody>
      </p:sp>
      <p:sp>
        <p:nvSpPr>
          <p:cNvPr id="3" name="Slide Number Placeholder 2">
            <a:extLst>
              <a:ext uri="{FF2B5EF4-FFF2-40B4-BE49-F238E27FC236}">
                <a16:creationId xmlns:a16="http://schemas.microsoft.com/office/drawing/2014/main" id="{67183EDE-8BA4-2CB8-3B57-D600AE974F95}"/>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8ABE64C-9FC7-4E38-87A1-1FF4D70D1593}" type="slidenum">
              <a:rPr lang="en-US" altLang="en-US" sz="2000">
                <a:latin typeface="Aptos" panose="020B0004020202020204" pitchFamily="34" charset="0"/>
              </a:rPr>
              <a:pPr eaLnBrk="1" hangingPunct="1"/>
              <a:t>18</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C108A40D-814A-F40A-4EF4-80BCBB041968}"/>
              </a:ext>
            </a:extLst>
          </p:cNvPr>
          <p:cNvSpPr>
            <a:spLocks noGrp="1"/>
          </p:cNvSpPr>
          <p:nvPr>
            <p:ph sz="quarter" idx="1"/>
          </p:nvPr>
        </p:nvSpPr>
        <p:spPr>
          <a:xfrm>
            <a:off x="822960" y="1690687"/>
            <a:ext cx="10687168" cy="4802187"/>
          </a:xfrm>
        </p:spPr>
        <p:txBody>
          <a:bodyPr>
            <a:normAutofit/>
          </a:bodyPr>
          <a:lstStyle/>
          <a:p>
            <a:pPr>
              <a:spcBef>
                <a:spcPts val="580"/>
              </a:spcBef>
              <a:spcAft>
                <a:spcPct val="0"/>
              </a:spcAft>
              <a:defRPr/>
            </a:pPr>
            <a:r>
              <a:rPr lang="en-US" dirty="0"/>
              <a:t>What do each of the elements of this array contain:</a:t>
            </a:r>
          </a:p>
          <a:p>
            <a:pPr>
              <a:spcBef>
                <a:spcPts val="580"/>
              </a:spcBef>
              <a:spcAft>
                <a:spcPct val="0"/>
              </a:spcAft>
              <a:defRPr/>
            </a:pPr>
            <a:endParaRPr lang="en-US" sz="2400" dirty="0"/>
          </a:p>
          <a:p>
            <a:pPr lvl="1">
              <a:spcBef>
                <a:spcPts val="580"/>
              </a:spcBef>
              <a:spcAft>
                <a:spcPct val="0"/>
              </a:spcAft>
              <a:defRPr/>
            </a:pPr>
            <a:r>
              <a:rPr lang="en-US" sz="2000" dirty="0">
                <a:solidFill>
                  <a:srgbClr val="FF0000"/>
                </a:solidFill>
              </a:rPr>
              <a:t>Each of the element is an int</a:t>
            </a:r>
          </a:p>
          <a:p>
            <a:pPr>
              <a:spcBef>
                <a:spcPts val="580"/>
              </a:spcBef>
              <a:spcAft>
                <a:spcPct val="0"/>
              </a:spcAft>
              <a:defRPr/>
            </a:pPr>
            <a:endParaRPr lang="en-US" dirty="0"/>
          </a:p>
          <a:p>
            <a:pPr>
              <a:spcBef>
                <a:spcPts val="580"/>
              </a:spcBef>
              <a:spcAft>
                <a:spcPct val="0"/>
              </a:spcAft>
              <a:defRPr/>
            </a:pPr>
            <a:r>
              <a:rPr lang="en-US" dirty="0"/>
              <a:t>How about this one:</a:t>
            </a:r>
          </a:p>
          <a:p>
            <a:pPr marL="320040" lvl="1" indent="0">
              <a:spcBef>
                <a:spcPts val="370"/>
              </a:spcBef>
              <a:spcAft>
                <a:spcPct val="0"/>
              </a:spcAft>
              <a:buNone/>
              <a:defRPr/>
            </a:pPr>
            <a:endParaRPr lang="en-US" sz="2400" dirty="0"/>
          </a:p>
          <a:p>
            <a:pPr marL="320040" lvl="1" indent="0">
              <a:spcBef>
                <a:spcPts val="370"/>
              </a:spcBef>
              <a:spcAft>
                <a:spcPct val="0"/>
              </a:spcAft>
              <a:buNone/>
              <a:defRPr/>
            </a:pPr>
            <a:endParaRPr lang="en-US" sz="2400" dirty="0"/>
          </a:p>
          <a:p>
            <a:pPr marL="777240" lvl="1" indent="-457200">
              <a:spcBef>
                <a:spcPts val="370"/>
              </a:spcBef>
              <a:spcAft>
                <a:spcPct val="0"/>
              </a:spcAft>
              <a:defRPr/>
            </a:pPr>
            <a:r>
              <a:rPr lang="en-US" sz="2400" dirty="0"/>
              <a:t>What happens if we attempt to access one of these values?</a:t>
            </a:r>
          </a:p>
          <a:p>
            <a:pPr marL="1234440" lvl="2" indent="-457200">
              <a:spcBef>
                <a:spcPts val="370"/>
              </a:spcBef>
              <a:spcAft>
                <a:spcPct val="0"/>
              </a:spcAft>
              <a:defRPr/>
            </a:pPr>
            <a:r>
              <a:rPr lang="en-US" sz="2000" dirty="0">
                <a:solidFill>
                  <a:srgbClr val="FF0000"/>
                </a:solidFill>
              </a:rPr>
              <a:t>The reference to a </a:t>
            </a:r>
            <a:r>
              <a:rPr lang="en-US" sz="2000" dirty="0" err="1">
                <a:solidFill>
                  <a:srgbClr val="FF0000"/>
                </a:solidFill>
              </a:rPr>
              <a:t>BankAccount</a:t>
            </a:r>
            <a:r>
              <a:rPr lang="en-US" sz="2000" dirty="0">
                <a:solidFill>
                  <a:srgbClr val="FF0000"/>
                </a:solidFill>
              </a:rPr>
              <a:t>, it’s an object</a:t>
            </a:r>
            <a:endParaRPr lang="en-US" sz="2000" dirty="0"/>
          </a:p>
        </p:txBody>
      </p:sp>
      <p:pic>
        <p:nvPicPr>
          <p:cNvPr id="7" name="Picture 6">
            <a:extLst>
              <a:ext uri="{FF2B5EF4-FFF2-40B4-BE49-F238E27FC236}">
                <a16:creationId xmlns:a16="http://schemas.microsoft.com/office/drawing/2014/main" id="{193FF886-8675-92A1-2388-EB2554CB6E4D}"/>
              </a:ext>
            </a:extLst>
          </p:cNvPr>
          <p:cNvPicPr>
            <a:picLocks noChangeAspect="1"/>
          </p:cNvPicPr>
          <p:nvPr/>
        </p:nvPicPr>
        <p:blipFill>
          <a:blip r:embed="rId2"/>
          <a:srcRect t="32694"/>
          <a:stretch>
            <a:fillRect/>
          </a:stretch>
        </p:blipFill>
        <p:spPr>
          <a:xfrm>
            <a:off x="1458307" y="2064470"/>
            <a:ext cx="7237592" cy="490194"/>
          </a:xfrm>
          <a:prstGeom prst="rect">
            <a:avLst/>
          </a:prstGeom>
        </p:spPr>
      </p:pic>
      <p:pic>
        <p:nvPicPr>
          <p:cNvPr id="9" name="Picture 8">
            <a:extLst>
              <a:ext uri="{FF2B5EF4-FFF2-40B4-BE49-F238E27FC236}">
                <a16:creationId xmlns:a16="http://schemas.microsoft.com/office/drawing/2014/main" id="{95610E0A-C8AB-C69B-AE05-868BD4F33F65}"/>
              </a:ext>
            </a:extLst>
          </p:cNvPr>
          <p:cNvPicPr>
            <a:picLocks noChangeAspect="1"/>
          </p:cNvPicPr>
          <p:nvPr/>
        </p:nvPicPr>
        <p:blipFill>
          <a:blip r:embed="rId3"/>
          <a:srcRect t="28608"/>
          <a:stretch>
            <a:fillRect/>
          </a:stretch>
        </p:blipFill>
        <p:spPr>
          <a:xfrm>
            <a:off x="1458307" y="3831804"/>
            <a:ext cx="7237592" cy="519954"/>
          </a:xfrm>
          <a:prstGeom prst="rect">
            <a:avLst/>
          </a:prstGeom>
        </p:spPr>
      </p:pic>
    </p:spTree>
    <p:extLst>
      <p:ext uri="{BB962C8B-B14F-4D97-AF65-F5344CB8AC3E}">
        <p14:creationId xmlns:p14="http://schemas.microsoft.com/office/powerpoint/2010/main" val="1214718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006DD-224D-479E-EDE8-4BF2AB976E1D}"/>
              </a:ext>
            </a:extLst>
          </p:cNvPr>
          <p:cNvSpPr>
            <a:spLocks noGrp="1"/>
          </p:cNvSpPr>
          <p:nvPr>
            <p:ph type="title"/>
          </p:nvPr>
        </p:nvSpPr>
        <p:spPr/>
        <p:txBody>
          <a:bodyPr/>
          <a:lstStyle/>
          <a:p>
            <a:r>
              <a:rPr lang="en-US">
                <a:cs typeface="Calibri Light"/>
              </a:rPr>
              <a:t>Using Array</a:t>
            </a:r>
          </a:p>
        </p:txBody>
      </p:sp>
      <p:sp>
        <p:nvSpPr>
          <p:cNvPr id="3" name="Content Placeholder 2">
            <a:extLst>
              <a:ext uri="{FF2B5EF4-FFF2-40B4-BE49-F238E27FC236}">
                <a16:creationId xmlns:a16="http://schemas.microsoft.com/office/drawing/2014/main" id="{2A248E33-7D11-5D30-B625-24B9811F90FF}"/>
              </a:ext>
            </a:extLst>
          </p:cNvPr>
          <p:cNvSpPr>
            <a:spLocks noGrp="1"/>
          </p:cNvSpPr>
          <p:nvPr>
            <p:ph idx="1"/>
          </p:nvPr>
        </p:nvSpPr>
        <p:spPr>
          <a:xfrm>
            <a:off x="838200" y="1825625"/>
            <a:ext cx="10515600" cy="4790953"/>
          </a:xfrm>
        </p:spPr>
        <p:txBody>
          <a:bodyPr vert="horz" lIns="91440" tIns="45720" rIns="91440" bIns="45720" rtlCol="0" anchor="t">
            <a:normAutofit/>
          </a:bodyPr>
          <a:lstStyle/>
          <a:p>
            <a:r>
              <a:rPr lang="en-US" dirty="0">
                <a:cs typeface="Calibri"/>
              </a:rPr>
              <a:t>We can specify which </a:t>
            </a:r>
            <a:r>
              <a:rPr lang="en-US" b="1" dirty="0">
                <a:cs typeface="Calibri"/>
              </a:rPr>
              <a:t>element </a:t>
            </a:r>
            <a:r>
              <a:rPr lang="en-US" dirty="0">
                <a:cs typeface="Calibri"/>
              </a:rPr>
              <a:t>in the </a:t>
            </a:r>
            <a:r>
              <a:rPr lang="en-US" b="1" dirty="0">
                <a:cs typeface="Calibri"/>
              </a:rPr>
              <a:t>array </a:t>
            </a:r>
            <a:r>
              <a:rPr lang="en-US" dirty="0">
                <a:cs typeface="Calibri"/>
              </a:rPr>
              <a:t>we want to access by provide an </a:t>
            </a:r>
            <a:r>
              <a:rPr lang="en-US" b="1" dirty="0">
                <a:cs typeface="Calibri"/>
              </a:rPr>
              <a:t>index</a:t>
            </a:r>
            <a:r>
              <a:rPr lang="en-US" dirty="0">
                <a:cs typeface="Calibri"/>
              </a:rPr>
              <a:t>.</a:t>
            </a:r>
          </a:p>
          <a:p>
            <a:r>
              <a:rPr lang="en-US" dirty="0">
                <a:cs typeface="Calibri"/>
              </a:rPr>
              <a:t>Array </a:t>
            </a:r>
            <a:r>
              <a:rPr lang="en-US" b="1" dirty="0">
                <a:cs typeface="Calibri"/>
              </a:rPr>
              <a:t>index </a:t>
            </a:r>
            <a:r>
              <a:rPr lang="en-US" dirty="0">
                <a:cs typeface="Calibri"/>
              </a:rPr>
              <a:t>start at 0, </a:t>
            </a:r>
          </a:p>
          <a:p>
            <a:pPr marL="457200" lvl="1" indent="0">
              <a:buNone/>
            </a:pPr>
            <a:endParaRPr lang="en-US" dirty="0">
              <a:latin typeface="Consolas"/>
              <a:cs typeface="Calibri"/>
            </a:endParaRPr>
          </a:p>
          <a:p>
            <a:pPr lvl="1"/>
            <a:endParaRPr lang="en-US" dirty="0">
              <a:latin typeface="Calibri" panose="020F0502020204030204"/>
              <a:cs typeface="Calibri"/>
            </a:endParaRPr>
          </a:p>
        </p:txBody>
      </p:sp>
      <p:pic>
        <p:nvPicPr>
          <p:cNvPr id="5" name="Picture 4">
            <a:extLst>
              <a:ext uri="{FF2B5EF4-FFF2-40B4-BE49-F238E27FC236}">
                <a16:creationId xmlns:a16="http://schemas.microsoft.com/office/drawing/2014/main" id="{CF27E555-5998-EB05-7F81-935C845B4925}"/>
              </a:ext>
            </a:extLst>
          </p:cNvPr>
          <p:cNvPicPr>
            <a:picLocks noChangeAspect="1"/>
          </p:cNvPicPr>
          <p:nvPr/>
        </p:nvPicPr>
        <p:blipFill>
          <a:blip r:embed="rId2"/>
          <a:stretch>
            <a:fillRect/>
          </a:stretch>
        </p:blipFill>
        <p:spPr>
          <a:xfrm>
            <a:off x="2418122" y="3299938"/>
            <a:ext cx="7355755" cy="2744915"/>
          </a:xfrm>
          <a:prstGeom prst="rect">
            <a:avLst/>
          </a:prstGeom>
        </p:spPr>
      </p:pic>
    </p:spTree>
    <p:extLst>
      <p:ext uri="{BB962C8B-B14F-4D97-AF65-F5344CB8AC3E}">
        <p14:creationId xmlns:p14="http://schemas.microsoft.com/office/powerpoint/2010/main" val="578443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FEFDE-9C97-63E6-86F7-F495114095D7}"/>
              </a:ext>
            </a:extLst>
          </p:cNvPr>
          <p:cNvSpPr>
            <a:spLocks noGrp="1"/>
          </p:cNvSpPr>
          <p:nvPr>
            <p:ph type="title"/>
          </p:nvPr>
        </p:nvSpPr>
        <p:spPr/>
        <p:txBody>
          <a:bodyPr/>
          <a:lstStyle/>
          <a:p>
            <a:r>
              <a:rPr lang="en-US">
                <a:cs typeface="Calibri Light"/>
              </a:rPr>
              <a:t>Loop through an Array</a:t>
            </a:r>
          </a:p>
        </p:txBody>
      </p:sp>
      <p:sp>
        <p:nvSpPr>
          <p:cNvPr id="3" name="Content Placeholder 2">
            <a:extLst>
              <a:ext uri="{FF2B5EF4-FFF2-40B4-BE49-F238E27FC236}">
                <a16:creationId xmlns:a16="http://schemas.microsoft.com/office/drawing/2014/main" id="{90376116-85DF-1722-C5E1-05BA951B841B}"/>
              </a:ext>
            </a:extLst>
          </p:cNvPr>
          <p:cNvSpPr>
            <a:spLocks noGrp="1"/>
          </p:cNvSpPr>
          <p:nvPr>
            <p:ph idx="1"/>
          </p:nvPr>
        </p:nvSpPr>
        <p:spPr/>
        <p:txBody>
          <a:bodyPr vert="horz" lIns="91440" tIns="45720" rIns="91440" bIns="45720" rtlCol="0" anchor="t">
            <a:normAutofit/>
          </a:bodyPr>
          <a:lstStyle/>
          <a:p>
            <a:r>
              <a:rPr lang="en-US" dirty="0">
                <a:ea typeface="+mn-lt"/>
                <a:cs typeface="+mn-lt"/>
              </a:rPr>
              <a:t>You can loop through the array elements with the </a:t>
            </a:r>
            <a:r>
              <a:rPr lang="en-US" dirty="0">
                <a:latin typeface="Consolas"/>
              </a:rPr>
              <a:t>for</a:t>
            </a:r>
            <a:r>
              <a:rPr lang="en-US" dirty="0">
                <a:ea typeface="+mn-lt"/>
                <a:cs typeface="+mn-lt"/>
              </a:rPr>
              <a:t> loop, </a:t>
            </a:r>
          </a:p>
          <a:p>
            <a:r>
              <a:rPr lang="en-US" dirty="0">
                <a:ea typeface="+mn-lt"/>
                <a:cs typeface="+mn-lt"/>
              </a:rPr>
              <a:t>Use the </a:t>
            </a:r>
            <a:r>
              <a:rPr lang="en-US" dirty="0">
                <a:latin typeface="Consolas"/>
              </a:rPr>
              <a:t>length</a:t>
            </a:r>
            <a:r>
              <a:rPr lang="en-US" dirty="0">
                <a:ea typeface="+mn-lt"/>
                <a:cs typeface="+mn-lt"/>
              </a:rPr>
              <a:t> property to specify how many times the loop should run.</a:t>
            </a:r>
          </a:p>
          <a:p>
            <a:r>
              <a:rPr lang="en-US" dirty="0">
                <a:cs typeface="Calibri"/>
              </a:rPr>
              <a:t>Example:</a:t>
            </a:r>
          </a:p>
          <a:p>
            <a:pPr lvl="1" indent="0">
              <a:buNone/>
            </a:pPr>
            <a:endParaRPr lang="en-US" dirty="0">
              <a:cs typeface="Calibri"/>
            </a:endParaRPr>
          </a:p>
        </p:txBody>
      </p:sp>
      <p:pic>
        <p:nvPicPr>
          <p:cNvPr id="5" name="Picture 4">
            <a:extLst>
              <a:ext uri="{FF2B5EF4-FFF2-40B4-BE49-F238E27FC236}">
                <a16:creationId xmlns:a16="http://schemas.microsoft.com/office/drawing/2014/main" id="{0B4038B3-2395-9B5E-3379-5009E9C0373B}"/>
              </a:ext>
            </a:extLst>
          </p:cNvPr>
          <p:cNvPicPr>
            <a:picLocks noChangeAspect="1"/>
          </p:cNvPicPr>
          <p:nvPr/>
        </p:nvPicPr>
        <p:blipFill>
          <a:blip r:embed="rId2"/>
          <a:stretch>
            <a:fillRect/>
          </a:stretch>
        </p:blipFill>
        <p:spPr>
          <a:xfrm>
            <a:off x="2899228" y="3099111"/>
            <a:ext cx="7155734" cy="2955303"/>
          </a:xfrm>
          <a:prstGeom prst="rect">
            <a:avLst/>
          </a:prstGeom>
        </p:spPr>
      </p:pic>
    </p:spTree>
    <p:extLst>
      <p:ext uri="{BB962C8B-B14F-4D97-AF65-F5344CB8AC3E}">
        <p14:creationId xmlns:p14="http://schemas.microsoft.com/office/powerpoint/2010/main" val="985981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F69A3421-6C4B-4F61-B3F1-C7CC39870822}"/>
              </a:ext>
            </a:extLst>
          </p:cNvPr>
          <p:cNvSpPr>
            <a:spLocks noGrp="1"/>
          </p:cNvSpPr>
          <p:nvPr>
            <p:ph type="title"/>
          </p:nvPr>
        </p:nvSpPr>
        <p:spPr/>
        <p:txBody>
          <a:bodyPr/>
          <a:lstStyle/>
          <a:p>
            <a:r>
              <a:rPr lang="en-US" altLang="en-US"/>
              <a:t>Look at a book example…</a:t>
            </a:r>
          </a:p>
        </p:txBody>
      </p:sp>
      <p:sp>
        <p:nvSpPr>
          <p:cNvPr id="3" name="Slide Number Placeholder 2">
            <a:extLst>
              <a:ext uri="{FF2B5EF4-FFF2-40B4-BE49-F238E27FC236}">
                <a16:creationId xmlns:a16="http://schemas.microsoft.com/office/drawing/2014/main" id="{E9FF5D92-C59E-48DD-B73F-2B1A9A5712BF}"/>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0F40183-013C-470C-8103-48D994C02BA5}" type="slidenum">
              <a:rPr lang="en-US" altLang="en-US" sz="2000">
                <a:latin typeface="Aptos" panose="020B0004020202020204" pitchFamily="34" charset="0"/>
              </a:rPr>
              <a:pPr eaLnBrk="1" hangingPunct="1"/>
              <a:t>21</a:t>
            </a:fld>
            <a:endParaRPr lang="en-US" altLang="en-US" sz="2000">
              <a:latin typeface="Aptos" panose="020B0004020202020204" pitchFamily="34" charset="0"/>
            </a:endParaRPr>
          </a:p>
        </p:txBody>
      </p:sp>
      <p:sp>
        <p:nvSpPr>
          <p:cNvPr id="62468" name="Content Placeholder 3">
            <a:extLst>
              <a:ext uri="{FF2B5EF4-FFF2-40B4-BE49-F238E27FC236}">
                <a16:creationId xmlns:a16="http://schemas.microsoft.com/office/drawing/2014/main" id="{FAC08E6E-E6E0-453E-B8E3-4FEC1942FA6E}"/>
              </a:ext>
            </a:extLst>
          </p:cNvPr>
          <p:cNvSpPr>
            <a:spLocks noGrp="1"/>
          </p:cNvSpPr>
          <p:nvPr>
            <p:ph sz="quarter" idx="1"/>
          </p:nvPr>
        </p:nvSpPr>
        <p:spPr/>
        <p:txBody>
          <a:bodyPr>
            <a:normAutofit/>
          </a:bodyPr>
          <a:lstStyle/>
          <a:p>
            <a:r>
              <a:rPr lang="en-US" altLang="en-US" sz="2600"/>
              <a:t>See the example on p. 41-42, where we do the following:</a:t>
            </a:r>
          </a:p>
          <a:p>
            <a:pPr lvl="1"/>
            <a:r>
              <a:rPr lang="en-US" altLang="en-US"/>
              <a:t>Insert 10 elements into an array of integers</a:t>
            </a:r>
          </a:p>
          <a:p>
            <a:pPr lvl="1"/>
            <a:r>
              <a:rPr lang="en-US" altLang="en-US"/>
              <a:t>Display them</a:t>
            </a:r>
          </a:p>
          <a:p>
            <a:pPr lvl="1"/>
            <a:r>
              <a:rPr lang="en-US" altLang="en-US"/>
              <a:t>Find item with key 66</a:t>
            </a:r>
          </a:p>
          <a:p>
            <a:pPr lvl="1"/>
            <a:r>
              <a:rPr lang="en-US" altLang="en-US"/>
              <a:t>Delete item with key 55</a:t>
            </a:r>
          </a:p>
          <a:p>
            <a:pPr lvl="1"/>
            <a:r>
              <a:rPr lang="en-US" altLang="en-US"/>
              <a:t>Display them</a:t>
            </a:r>
          </a:p>
          <a:p>
            <a:pPr lvl="1"/>
            <a:endParaRPr lang="en-US" altLang="en-US"/>
          </a:p>
          <a:p>
            <a:r>
              <a:rPr lang="en-US" altLang="en-US"/>
              <a:t>Ask ourselves:</a:t>
            </a:r>
          </a:p>
          <a:p>
            <a:pPr lvl="1"/>
            <a:r>
              <a:rPr lang="en-US" altLang="en-US"/>
              <a:t>How could we make the initialization shorter?</a:t>
            </a:r>
          </a:p>
          <a:p>
            <a:pPr lvl="1"/>
            <a:r>
              <a:rPr lang="en-US" altLang="en-US"/>
              <a:t>How could we save declaring </a:t>
            </a:r>
            <a:r>
              <a:rPr lang="en-US" altLang="en-US" err="1"/>
              <a:t>nElems</a:t>
            </a:r>
            <a:r>
              <a:rPr lang="en-US" altLang="en-US"/>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91A7-26CA-89FE-95F4-9B3EF2E7B02B}"/>
            </a:ext>
          </a:extLst>
        </p:cNvPr>
        <p:cNvGrpSpPr/>
        <p:nvPr/>
      </p:nvGrpSpPr>
      <p:grpSpPr>
        <a:xfrm>
          <a:off x="0" y="0"/>
          <a:ext cx="0" cy="0"/>
          <a:chOff x="0" y="0"/>
          <a:chExt cx="0" cy="0"/>
        </a:xfrm>
      </p:grpSpPr>
      <p:sp>
        <p:nvSpPr>
          <p:cNvPr id="62466" name="Title 1">
            <a:extLst>
              <a:ext uri="{FF2B5EF4-FFF2-40B4-BE49-F238E27FC236}">
                <a16:creationId xmlns:a16="http://schemas.microsoft.com/office/drawing/2014/main" id="{95A8D84A-FF48-6929-DFC5-C54265081EE3}"/>
              </a:ext>
            </a:extLst>
          </p:cNvPr>
          <p:cNvSpPr>
            <a:spLocks noGrp="1"/>
          </p:cNvSpPr>
          <p:nvPr>
            <p:ph type="title"/>
          </p:nvPr>
        </p:nvSpPr>
        <p:spPr>
          <a:xfrm>
            <a:off x="838200" y="365125"/>
            <a:ext cx="3347301" cy="1325563"/>
          </a:xfrm>
        </p:spPr>
        <p:txBody>
          <a:bodyPr/>
          <a:lstStyle/>
          <a:p>
            <a:r>
              <a:rPr lang="en-US" altLang="en-US" dirty="0"/>
              <a:t>Look at a book example</a:t>
            </a:r>
          </a:p>
        </p:txBody>
      </p:sp>
      <p:sp>
        <p:nvSpPr>
          <p:cNvPr id="3" name="Slide Number Placeholder 2">
            <a:extLst>
              <a:ext uri="{FF2B5EF4-FFF2-40B4-BE49-F238E27FC236}">
                <a16:creationId xmlns:a16="http://schemas.microsoft.com/office/drawing/2014/main" id="{425C7D01-9F17-64E5-3444-5D9F875074A6}"/>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0F40183-013C-470C-8103-48D994C02BA5}" type="slidenum">
              <a:rPr lang="en-US" altLang="en-US" sz="2000">
                <a:latin typeface="Aptos" panose="020B0004020202020204" pitchFamily="34" charset="0"/>
              </a:rPr>
              <a:pPr eaLnBrk="1" hangingPunct="1"/>
              <a:t>22</a:t>
            </a:fld>
            <a:endParaRPr lang="en-US" altLang="en-US" sz="2000">
              <a:latin typeface="Aptos" panose="020B0004020202020204" pitchFamily="34" charset="0"/>
            </a:endParaRPr>
          </a:p>
        </p:txBody>
      </p:sp>
      <p:sp>
        <p:nvSpPr>
          <p:cNvPr id="62468" name="Content Placeholder 3">
            <a:extLst>
              <a:ext uri="{FF2B5EF4-FFF2-40B4-BE49-F238E27FC236}">
                <a16:creationId xmlns:a16="http://schemas.microsoft.com/office/drawing/2014/main" id="{3A905242-DDFA-FA37-7A4A-64DCA00C6C00}"/>
              </a:ext>
            </a:extLst>
          </p:cNvPr>
          <p:cNvSpPr>
            <a:spLocks noGrp="1"/>
          </p:cNvSpPr>
          <p:nvPr>
            <p:ph sz="quarter" idx="1"/>
          </p:nvPr>
        </p:nvSpPr>
        <p:spPr/>
        <p:txBody>
          <a:bodyPr>
            <a:normAutofit/>
          </a:bodyPr>
          <a:lstStyle/>
          <a:p>
            <a:r>
              <a:rPr lang="en-US" altLang="en-US" sz="2600" dirty="0"/>
              <a:t>See the example on p. 41-42</a:t>
            </a:r>
          </a:p>
        </p:txBody>
      </p:sp>
      <p:pic>
        <p:nvPicPr>
          <p:cNvPr id="4" name="Picture 3">
            <a:extLst>
              <a:ext uri="{FF2B5EF4-FFF2-40B4-BE49-F238E27FC236}">
                <a16:creationId xmlns:a16="http://schemas.microsoft.com/office/drawing/2014/main" id="{863537A9-40EC-5242-8E4F-00624D8CFCE3}"/>
              </a:ext>
            </a:extLst>
          </p:cNvPr>
          <p:cNvPicPr>
            <a:picLocks noChangeAspect="1"/>
          </p:cNvPicPr>
          <p:nvPr/>
        </p:nvPicPr>
        <p:blipFill>
          <a:blip r:embed="rId2"/>
          <a:srcRect b="31271"/>
          <a:stretch>
            <a:fillRect/>
          </a:stretch>
        </p:blipFill>
        <p:spPr>
          <a:xfrm>
            <a:off x="5863559" y="-15599"/>
            <a:ext cx="5819393" cy="6873599"/>
          </a:xfrm>
          <a:prstGeom prst="rect">
            <a:avLst/>
          </a:prstGeom>
        </p:spPr>
      </p:pic>
    </p:spTree>
    <p:extLst>
      <p:ext uri="{BB962C8B-B14F-4D97-AF65-F5344CB8AC3E}">
        <p14:creationId xmlns:p14="http://schemas.microsoft.com/office/powerpoint/2010/main" val="74277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AD8A-0AE1-066F-CF26-2AA1FABDE59E}"/>
              </a:ext>
            </a:extLst>
          </p:cNvPr>
          <p:cNvSpPr>
            <a:spLocks noGrp="1"/>
          </p:cNvSpPr>
          <p:nvPr>
            <p:ph type="title"/>
          </p:nvPr>
        </p:nvSpPr>
        <p:spPr/>
        <p:txBody>
          <a:bodyPr/>
          <a:lstStyle/>
          <a:p>
            <a:r>
              <a:rPr lang="en-US"/>
              <a:t>The Array.java</a:t>
            </a:r>
          </a:p>
        </p:txBody>
      </p:sp>
      <p:sp>
        <p:nvSpPr>
          <p:cNvPr id="3" name="Content Placeholder 2">
            <a:extLst>
              <a:ext uri="{FF2B5EF4-FFF2-40B4-BE49-F238E27FC236}">
                <a16:creationId xmlns:a16="http://schemas.microsoft.com/office/drawing/2014/main" id="{13946F28-2F3E-3CA1-AD9D-6C41812BA581}"/>
              </a:ext>
            </a:extLst>
          </p:cNvPr>
          <p:cNvSpPr>
            <a:spLocks noGrp="1"/>
          </p:cNvSpPr>
          <p:nvPr>
            <p:ph idx="1"/>
          </p:nvPr>
        </p:nvSpPr>
        <p:spPr/>
        <p:txBody>
          <a:bodyPr vert="horz" lIns="91440" tIns="45720" rIns="91440" bIns="45720" rtlCol="0" anchor="t">
            <a:normAutofit/>
          </a:bodyPr>
          <a:lstStyle/>
          <a:p>
            <a:r>
              <a:rPr lang="en-US">
                <a:latin typeface="Aptos"/>
                <a:hlinkClick r:id="rId2"/>
              </a:rPr>
              <a:t>https://github.com/biblelamp/JavaExercises/blob/master/Algorithms/array/array.java</a:t>
            </a:r>
            <a:endParaRPr lang="en-US"/>
          </a:p>
          <a:p>
            <a:endParaRPr lang="en-US"/>
          </a:p>
          <a:p>
            <a:r>
              <a:rPr lang="en-US">
                <a:latin typeface="Aptos"/>
              </a:rPr>
              <a:t>What operations would be nice to have?</a:t>
            </a:r>
            <a:endParaRPr lang="en-US"/>
          </a:p>
          <a:p>
            <a:r>
              <a:rPr lang="en-US">
                <a:latin typeface="Aptos"/>
              </a:rPr>
              <a:t>How do we insert new element? </a:t>
            </a:r>
          </a:p>
          <a:p>
            <a:r>
              <a:rPr lang="en-US">
                <a:latin typeface="Aptos"/>
              </a:rPr>
              <a:t>How to Search? </a:t>
            </a:r>
          </a:p>
          <a:p>
            <a:r>
              <a:rPr lang="en-US">
                <a:latin typeface="Aptos"/>
              </a:rPr>
              <a:t>How to Delete?</a:t>
            </a:r>
          </a:p>
        </p:txBody>
      </p:sp>
      <p:sp>
        <p:nvSpPr>
          <p:cNvPr id="4" name="Slide Number Placeholder 3">
            <a:extLst>
              <a:ext uri="{FF2B5EF4-FFF2-40B4-BE49-F238E27FC236}">
                <a16:creationId xmlns:a16="http://schemas.microsoft.com/office/drawing/2014/main" id="{3D3B338C-9927-071D-0294-041D67AF4A17}"/>
              </a:ext>
            </a:extLst>
          </p:cNvPr>
          <p:cNvSpPr>
            <a:spLocks noGrp="1"/>
          </p:cNvSpPr>
          <p:nvPr>
            <p:ph type="sldNum" sz="quarter" idx="12"/>
          </p:nvPr>
        </p:nvSpPr>
        <p:spPr/>
        <p:txBody>
          <a:bodyPr/>
          <a:lstStyle/>
          <a:p>
            <a:fld id="{A3AE6EEF-09FB-4745-97EC-5981027EA46D}" type="slidenum">
              <a:rPr lang="en-US" smtClean="0"/>
              <a:pPr/>
              <a:t>23</a:t>
            </a:fld>
            <a:endParaRPr lang="en-US"/>
          </a:p>
        </p:txBody>
      </p:sp>
    </p:spTree>
    <p:extLst>
      <p:ext uri="{BB962C8B-B14F-4D97-AF65-F5344CB8AC3E}">
        <p14:creationId xmlns:p14="http://schemas.microsoft.com/office/powerpoint/2010/main" val="1239301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78398DC-61F1-4A84-962B-C3D4D5DD03AF}"/>
              </a:ext>
            </a:extLst>
          </p:cNvPr>
          <p:cNvSpPr>
            <a:spLocks noGrp="1"/>
          </p:cNvSpPr>
          <p:nvPr>
            <p:ph type="title"/>
          </p:nvPr>
        </p:nvSpPr>
        <p:spPr/>
        <p:txBody>
          <a:bodyPr/>
          <a:lstStyle/>
          <a:p>
            <a:r>
              <a:rPr lang="en-US" altLang="en-US"/>
              <a:t>This did not use OOP</a:t>
            </a:r>
          </a:p>
        </p:txBody>
      </p:sp>
      <p:sp>
        <p:nvSpPr>
          <p:cNvPr id="3" name="Slide Number Placeholder 2">
            <a:extLst>
              <a:ext uri="{FF2B5EF4-FFF2-40B4-BE49-F238E27FC236}">
                <a16:creationId xmlns:a16="http://schemas.microsoft.com/office/drawing/2014/main" id="{ECAF76FF-F118-4644-873E-7AE2C1DA1B65}"/>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EEBF249-72BF-45E7-AE30-3A131D2E31A0}" type="slidenum">
              <a:rPr lang="en-US" altLang="en-US" sz="2000">
                <a:latin typeface="Aptos" panose="020B0004020202020204" pitchFamily="34" charset="0"/>
              </a:rPr>
              <a:pPr eaLnBrk="1" hangingPunct="1"/>
              <a:t>24</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D42EDB47-AC18-4883-ADC7-D1DEC9425584}"/>
              </a:ext>
            </a:extLst>
          </p:cNvPr>
          <p:cNvSpPr>
            <a:spLocks noGrp="1"/>
          </p:cNvSpPr>
          <p:nvPr>
            <p:ph sz="quarter" idx="1"/>
          </p:nvPr>
        </p:nvSpPr>
        <p:spPr>
          <a:xfrm>
            <a:off x="838200" y="1828800"/>
            <a:ext cx="10515600" cy="4351338"/>
          </a:xfrm>
        </p:spPr>
        <p:txBody>
          <a:bodyPr>
            <a:normAutofit lnSpcReduction="10000"/>
          </a:bodyPr>
          <a:lstStyle/>
          <a:p>
            <a:pPr>
              <a:spcBef>
                <a:spcPts val="580"/>
              </a:spcBef>
              <a:spcAft>
                <a:spcPct val="0"/>
              </a:spcAft>
              <a:defRPr/>
            </a:pPr>
            <a:r>
              <a:rPr lang="en-US" dirty="0"/>
              <a:t>So our next task will be to divide it up (p. 45)</a:t>
            </a:r>
          </a:p>
          <a:p>
            <a:pPr>
              <a:spcBef>
                <a:spcPts val="580"/>
              </a:spcBef>
              <a:spcAft>
                <a:spcPct val="0"/>
              </a:spcAft>
              <a:defRPr/>
            </a:pPr>
            <a:r>
              <a:rPr lang="en-US" dirty="0"/>
              <a:t>What will we want for the array class?  Let’s think about the purpose of classes.  They have data, and functions to manipulate that data.</a:t>
            </a:r>
          </a:p>
          <a:p>
            <a:pPr>
              <a:spcBef>
                <a:spcPts val="580"/>
              </a:spcBef>
              <a:spcAft>
                <a:spcPct val="0"/>
              </a:spcAft>
              <a:defRPr/>
            </a:pPr>
            <a:endParaRPr lang="en-US" dirty="0"/>
          </a:p>
          <a:p>
            <a:pPr>
              <a:spcBef>
                <a:spcPts val="580"/>
              </a:spcBef>
              <a:spcAft>
                <a:spcPct val="0"/>
              </a:spcAft>
              <a:defRPr/>
            </a:pPr>
            <a:r>
              <a:rPr lang="en-US" dirty="0"/>
              <a:t>So in this case, what will our data be?</a:t>
            </a:r>
          </a:p>
          <a:p>
            <a:pPr>
              <a:spcBef>
                <a:spcPts val="580"/>
              </a:spcBef>
              <a:spcAft>
                <a:spcPct val="0"/>
              </a:spcAft>
              <a:defRPr/>
            </a:pPr>
            <a:endParaRPr lang="en-US" dirty="0"/>
          </a:p>
          <a:p>
            <a:pPr>
              <a:spcBef>
                <a:spcPts val="580"/>
              </a:spcBef>
              <a:spcAft>
                <a:spcPct val="0"/>
              </a:spcAft>
              <a:defRPr/>
            </a:pPr>
            <a:r>
              <a:rPr lang="en-US" dirty="0"/>
              <a:t>For functions, we’ll provide:</a:t>
            </a:r>
          </a:p>
          <a:p>
            <a:pPr marL="777240" lvl="1" indent="-457200">
              <a:spcBef>
                <a:spcPts val="370"/>
              </a:spcBef>
              <a:spcAft>
                <a:spcPct val="0"/>
              </a:spcAft>
              <a:defRPr/>
            </a:pPr>
            <a:r>
              <a:rPr lang="en-US" dirty="0"/>
              <a:t>A constructor which takes a size and initializes the array</a:t>
            </a:r>
          </a:p>
          <a:p>
            <a:pPr marL="777240" lvl="1" indent="-457200">
              <a:spcBef>
                <a:spcPts val="370"/>
              </a:spcBef>
              <a:spcAft>
                <a:spcPct val="0"/>
              </a:spcAft>
              <a:defRPr/>
            </a:pPr>
            <a:r>
              <a:rPr lang="en-US" dirty="0"/>
              <a:t>A function to retrieve a single element</a:t>
            </a:r>
          </a:p>
          <a:p>
            <a:pPr marL="777240" lvl="1" indent="-457200">
              <a:spcBef>
                <a:spcPts val="370"/>
              </a:spcBef>
              <a:spcAft>
                <a:spcPct val="0"/>
              </a:spcAft>
              <a:defRPr/>
            </a:pPr>
            <a:r>
              <a:rPr lang="en-US" dirty="0"/>
              <a:t>A function to set a single element</a:t>
            </a:r>
          </a:p>
          <a:p>
            <a:pPr>
              <a:spcBef>
                <a:spcPts val="580"/>
              </a:spcBef>
              <a:spcAft>
                <a:spcPct val="0"/>
              </a:spcAft>
              <a:defRPr/>
            </a:pPr>
            <a:r>
              <a:rPr lang="en-US" dirty="0"/>
              <a:t>And then modify main()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78F7F0FB-1B6C-4DB0-B6DE-7BD1F6BD0248}"/>
              </a:ext>
            </a:extLst>
          </p:cNvPr>
          <p:cNvSpPr>
            <a:spLocks noGrp="1"/>
          </p:cNvSpPr>
          <p:nvPr>
            <p:ph type="title"/>
          </p:nvPr>
        </p:nvSpPr>
        <p:spPr/>
        <p:txBody>
          <a:bodyPr/>
          <a:lstStyle/>
          <a:p>
            <a:r>
              <a:rPr lang="en-US" altLang="en-US"/>
              <a:t>The </a:t>
            </a:r>
            <a:r>
              <a:rPr lang="en-US" altLang="en-US" err="1"/>
              <a:t>LowArray</a:t>
            </a:r>
            <a:r>
              <a:rPr lang="en-US" altLang="en-US"/>
              <a:t> interface</a:t>
            </a:r>
          </a:p>
        </p:txBody>
      </p:sp>
      <p:sp>
        <p:nvSpPr>
          <p:cNvPr id="3" name="Slide Number Placeholder 2">
            <a:extLst>
              <a:ext uri="{FF2B5EF4-FFF2-40B4-BE49-F238E27FC236}">
                <a16:creationId xmlns:a16="http://schemas.microsoft.com/office/drawing/2014/main" id="{EB73E2FD-A01F-47FF-863F-A4ABEB2A4EA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A982EA5-D6A3-4B6B-8BB2-7839FA1E54D7}" type="slidenum">
              <a:rPr lang="en-US" altLang="en-US" sz="2000">
                <a:latin typeface="Aptos" panose="020B0004020202020204" pitchFamily="34" charset="0"/>
              </a:rPr>
              <a:pPr eaLnBrk="1" hangingPunct="1"/>
              <a:t>25</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654C164D-9EEA-43F0-9641-9CD5AB54F676}"/>
              </a:ext>
            </a:extLst>
          </p:cNvPr>
          <p:cNvSpPr>
            <a:spLocks noGrp="1"/>
          </p:cNvSpPr>
          <p:nvPr>
            <p:ph sz="quarter" idx="1"/>
          </p:nvPr>
        </p:nvSpPr>
        <p:spPr>
          <a:xfrm>
            <a:off x="822960" y="1828800"/>
            <a:ext cx="7772400" cy="5105400"/>
          </a:xfrm>
        </p:spPr>
        <p:txBody>
          <a:bodyPr vert="horz" lIns="91440" tIns="45720" rIns="91440" bIns="45720" rtlCol="0" anchor="t">
            <a:normAutofit/>
          </a:bodyPr>
          <a:lstStyle/>
          <a:p>
            <a:pPr>
              <a:spcBef>
                <a:spcPts val="580"/>
              </a:spcBef>
              <a:spcAft>
                <a:spcPct val="0"/>
              </a:spcAft>
              <a:defRPr/>
            </a:pPr>
            <a:r>
              <a:rPr lang="en-US">
                <a:latin typeface="Aptos"/>
              </a:rPr>
              <a:t>Here’s what it looked like:</a:t>
            </a:r>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a:p>
            <a:pPr marL="274320" indent="-274320">
              <a:spcBef>
                <a:spcPts val="580"/>
              </a:spcBef>
              <a:spcAft>
                <a:spcPct val="0"/>
              </a:spcAft>
              <a:buFont typeface="Wingdings 2"/>
              <a:buChar char=""/>
              <a:defRPr/>
            </a:pPr>
            <a:endParaRPr lang="en-US"/>
          </a:p>
        </p:txBody>
      </p:sp>
      <p:pic>
        <p:nvPicPr>
          <p:cNvPr id="2" name="Picture 1" descr="A diagram of a face&#10;&#10;Description automatically generated">
            <a:extLst>
              <a:ext uri="{FF2B5EF4-FFF2-40B4-BE49-F238E27FC236}">
                <a16:creationId xmlns:a16="http://schemas.microsoft.com/office/drawing/2014/main" id="{6D5541BE-8837-4E84-3648-27860164AFAF}"/>
              </a:ext>
            </a:extLst>
          </p:cNvPr>
          <p:cNvPicPr>
            <a:picLocks noChangeAspect="1"/>
          </p:cNvPicPr>
          <p:nvPr/>
        </p:nvPicPr>
        <p:blipFill>
          <a:blip r:embed="rId2"/>
          <a:stretch>
            <a:fillRect/>
          </a:stretch>
        </p:blipFill>
        <p:spPr>
          <a:xfrm>
            <a:off x="1942070" y="2380735"/>
            <a:ext cx="4724400" cy="3352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F51A7-CE16-FBA6-3047-C705EB78201C}"/>
            </a:ext>
          </a:extLst>
        </p:cNvPr>
        <p:cNvGrpSpPr/>
        <p:nvPr/>
      </p:nvGrpSpPr>
      <p:grpSpPr>
        <a:xfrm>
          <a:off x="0" y="0"/>
          <a:ext cx="0" cy="0"/>
          <a:chOff x="0" y="0"/>
          <a:chExt cx="0" cy="0"/>
        </a:xfrm>
      </p:grpSpPr>
      <p:sp>
        <p:nvSpPr>
          <p:cNvPr id="64514" name="Title 1">
            <a:extLst>
              <a:ext uri="{FF2B5EF4-FFF2-40B4-BE49-F238E27FC236}">
                <a16:creationId xmlns:a16="http://schemas.microsoft.com/office/drawing/2014/main" id="{B14030F9-B194-66AE-987C-333876CB69E7}"/>
              </a:ext>
            </a:extLst>
          </p:cNvPr>
          <p:cNvSpPr>
            <a:spLocks noGrp="1"/>
          </p:cNvSpPr>
          <p:nvPr>
            <p:ph type="title"/>
          </p:nvPr>
        </p:nvSpPr>
        <p:spPr/>
        <p:txBody>
          <a:bodyPr/>
          <a:lstStyle/>
          <a:p>
            <a:r>
              <a:rPr lang="en-US" altLang="en-US" dirty="0"/>
              <a:t>What does it mean “Interface”</a:t>
            </a:r>
          </a:p>
        </p:txBody>
      </p:sp>
      <p:sp>
        <p:nvSpPr>
          <p:cNvPr id="3" name="Slide Number Placeholder 2">
            <a:extLst>
              <a:ext uri="{FF2B5EF4-FFF2-40B4-BE49-F238E27FC236}">
                <a16:creationId xmlns:a16="http://schemas.microsoft.com/office/drawing/2014/main" id="{496E39F2-2DBE-6F2B-4CEC-8A09F5651F43}"/>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2A982EA5-D6A3-4B6B-8BB2-7839FA1E54D7}" type="slidenum">
              <a:rPr lang="en-US" altLang="en-US" sz="2000">
                <a:latin typeface="Aptos" panose="020B0004020202020204" pitchFamily="34" charset="0"/>
              </a:rPr>
              <a:pPr eaLnBrk="1" hangingPunct="1"/>
              <a:t>26</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A78B8A0D-4D97-220E-DC97-C251A5A9C4BF}"/>
              </a:ext>
            </a:extLst>
          </p:cNvPr>
          <p:cNvSpPr>
            <a:spLocks noGrp="1"/>
          </p:cNvSpPr>
          <p:nvPr>
            <p:ph sz="quarter" idx="1"/>
          </p:nvPr>
        </p:nvSpPr>
        <p:spPr>
          <a:xfrm>
            <a:off x="822960" y="1828799"/>
            <a:ext cx="10649461" cy="4664075"/>
          </a:xfrm>
        </p:spPr>
        <p:txBody>
          <a:bodyPr vert="horz" lIns="91440" tIns="45720" rIns="91440" bIns="45720" rtlCol="0" anchor="t">
            <a:normAutofit/>
          </a:bodyPr>
          <a:lstStyle/>
          <a:p>
            <a:pPr>
              <a:spcBef>
                <a:spcPts val="580"/>
              </a:spcBef>
              <a:spcAft>
                <a:spcPct val="0"/>
              </a:spcAft>
              <a:defRPr/>
            </a:pPr>
            <a:r>
              <a:rPr lang="en-US" dirty="0"/>
              <a:t>An </a:t>
            </a:r>
            <a:r>
              <a:rPr lang="en-US" b="1" dirty="0"/>
              <a:t>interface</a:t>
            </a:r>
            <a:r>
              <a:rPr lang="en-US" dirty="0"/>
              <a:t> is the boundary or contract that defines how two different software components or systems interact, exchange data, and use each other's functions.</a:t>
            </a:r>
          </a:p>
          <a:p>
            <a:pPr>
              <a:spcBef>
                <a:spcPts val="580"/>
              </a:spcBef>
              <a:spcAft>
                <a:spcPct val="0"/>
              </a:spcAft>
              <a:defRPr/>
            </a:pPr>
            <a:r>
              <a:rPr lang="en-US" dirty="0">
                <a:latin typeface="Aptos"/>
              </a:rPr>
              <a:t>The </a:t>
            </a:r>
            <a:r>
              <a:rPr lang="en-US" dirty="0" err="1">
                <a:latin typeface="Aptos"/>
              </a:rPr>
              <a:t>LowArray</a:t>
            </a:r>
            <a:r>
              <a:rPr lang="en-US" dirty="0">
                <a:latin typeface="Aptos"/>
              </a:rPr>
              <a:t> interface: sets of methods that can be called to used</a:t>
            </a: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Example: </a:t>
            </a:r>
            <a:r>
              <a:rPr lang="en-US" dirty="0" err="1">
                <a:latin typeface="Aptos"/>
              </a:rPr>
              <a:t>BasicCalculator</a:t>
            </a:r>
            <a:r>
              <a:rPr lang="en-US" dirty="0">
                <a:latin typeface="Aptos"/>
              </a:rPr>
              <a:t> java class from assignment 0</a:t>
            </a:r>
          </a:p>
          <a:p>
            <a:pPr lvl="1">
              <a:spcBef>
                <a:spcPts val="580"/>
              </a:spcBef>
              <a:spcAft>
                <a:spcPct val="0"/>
              </a:spcAft>
              <a:defRPr/>
            </a:pPr>
            <a:r>
              <a:rPr lang="en-US" dirty="0">
                <a:latin typeface="Aptos"/>
              </a:rPr>
              <a:t>Offers set of functions like addition, subtraction,…etc. for other classes to call and use</a:t>
            </a:r>
          </a:p>
          <a:p>
            <a:pPr lvl="1">
              <a:spcBef>
                <a:spcPts val="580"/>
              </a:spcBef>
              <a:spcAft>
                <a:spcPct val="0"/>
              </a:spcAft>
              <a:defRPr/>
            </a:pPr>
            <a:endParaRPr lang="en-US" dirty="0">
              <a:latin typeface="Aptos"/>
            </a:endParaRPr>
          </a:p>
          <a:p>
            <a:pPr>
              <a:spcBef>
                <a:spcPts val="580"/>
              </a:spcBef>
              <a:spcAft>
                <a:spcPct val="0"/>
              </a:spcAft>
              <a:defRPr/>
            </a:pPr>
            <a:r>
              <a:rPr lang="en-US" dirty="0">
                <a:latin typeface="Aptos"/>
              </a:rPr>
              <a:t>Think of our Array class, what kind of function do we need? </a:t>
            </a:r>
            <a:endParaRPr lang="en-US" dirty="0"/>
          </a:p>
          <a:p>
            <a:pPr marL="274320" indent="-274320">
              <a:spcBef>
                <a:spcPts val="580"/>
              </a:spcBef>
              <a:spcAft>
                <a:spcPct val="0"/>
              </a:spcAft>
              <a:buFont typeface="Wingdings 2"/>
              <a:buChar char=""/>
              <a:defRPr/>
            </a:pPr>
            <a:endParaRPr lang="en-US" dirty="0"/>
          </a:p>
          <a:p>
            <a:pPr marL="274320" indent="-274320">
              <a:spcBef>
                <a:spcPts val="580"/>
              </a:spcBef>
              <a:spcAft>
                <a:spcPct val="0"/>
              </a:spcAft>
              <a:buFont typeface="Wingdings 2"/>
              <a:buChar char=""/>
              <a:defRPr/>
            </a:pPr>
            <a:endParaRPr lang="en-US" dirty="0"/>
          </a:p>
          <a:p>
            <a:pPr marL="274320" indent="-274320">
              <a:spcBef>
                <a:spcPts val="580"/>
              </a:spcBef>
              <a:spcAft>
                <a:spcPct val="0"/>
              </a:spcAft>
              <a:buFont typeface="Wingdings 2"/>
              <a:buChar char=""/>
              <a:defRPr/>
            </a:pPr>
            <a:endParaRPr lang="en-US" dirty="0"/>
          </a:p>
          <a:p>
            <a:pPr marL="274320" indent="-274320">
              <a:spcBef>
                <a:spcPts val="580"/>
              </a:spcBef>
              <a:spcAft>
                <a:spcPct val="0"/>
              </a:spcAft>
              <a:buFont typeface="Wingdings 2"/>
              <a:buChar char=""/>
              <a:defRPr/>
            </a:pPr>
            <a:endParaRPr lang="en-US" dirty="0"/>
          </a:p>
          <a:p>
            <a:pPr marL="274320" indent="-274320">
              <a:spcBef>
                <a:spcPts val="580"/>
              </a:spcBef>
              <a:spcAft>
                <a:spcPct val="0"/>
              </a:spcAft>
              <a:buFont typeface="Wingdings 2"/>
              <a:buChar char=""/>
              <a:defRPr/>
            </a:pPr>
            <a:endParaRPr lang="en-US" dirty="0"/>
          </a:p>
        </p:txBody>
      </p:sp>
    </p:spTree>
    <p:extLst>
      <p:ext uri="{BB962C8B-B14F-4D97-AF65-F5344CB8AC3E}">
        <p14:creationId xmlns:p14="http://schemas.microsoft.com/office/powerpoint/2010/main" val="36609046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5CDB-ED29-DDD7-AEAF-12AC857D8ABE}"/>
              </a:ext>
            </a:extLst>
          </p:cNvPr>
          <p:cNvSpPr>
            <a:spLocks noGrp="1"/>
          </p:cNvSpPr>
          <p:nvPr>
            <p:ph type="title"/>
          </p:nvPr>
        </p:nvSpPr>
        <p:spPr/>
        <p:txBody>
          <a:bodyPr/>
          <a:lstStyle/>
          <a:p>
            <a:r>
              <a:rPr lang="en-US" sz="4400" baseline="0">
                <a:latin typeface="Segoe UI"/>
              </a:rPr>
              <a:t>The LowArray interface</a:t>
            </a:r>
            <a:r>
              <a:rPr lang="en-US" sz="4400">
                <a:latin typeface="Segoe UI"/>
                <a:ea typeface="Segoe UI"/>
                <a:cs typeface="Segoe UI"/>
              </a:rPr>
              <a:t>​</a:t>
            </a:r>
            <a:endParaRPr lang="en-US"/>
          </a:p>
        </p:txBody>
      </p:sp>
      <p:sp>
        <p:nvSpPr>
          <p:cNvPr id="3" name="Content Placeholder 2">
            <a:extLst>
              <a:ext uri="{FF2B5EF4-FFF2-40B4-BE49-F238E27FC236}">
                <a16:creationId xmlns:a16="http://schemas.microsoft.com/office/drawing/2014/main" id="{46BDA1F2-22FF-E9E7-4654-645729A072B7}"/>
              </a:ext>
            </a:extLst>
          </p:cNvPr>
          <p:cNvSpPr>
            <a:spLocks noGrp="1"/>
          </p:cNvSpPr>
          <p:nvPr>
            <p:ph idx="1"/>
          </p:nvPr>
        </p:nvSpPr>
        <p:spPr/>
        <p:txBody>
          <a:bodyPr vert="horz" lIns="91440" tIns="45720" rIns="91440" bIns="45720" rtlCol="0" anchor="t">
            <a:normAutofit/>
          </a:bodyPr>
          <a:lstStyle/>
          <a:p>
            <a:r>
              <a:rPr lang="en-US" dirty="0">
                <a:latin typeface="Aptos"/>
              </a:rPr>
              <a:t>Member Variables:</a:t>
            </a:r>
            <a:endParaRPr lang="en-US" dirty="0"/>
          </a:p>
          <a:p>
            <a:pPr lvl="1">
              <a:buFont typeface="Courier New" panose="020B0604020202020204" pitchFamily="34" charset="0"/>
              <a:buChar char="o"/>
            </a:pPr>
            <a:r>
              <a:rPr lang="en-US" dirty="0">
                <a:latin typeface="Aptos"/>
              </a:rPr>
              <a:t>long[] a</a:t>
            </a:r>
          </a:p>
          <a:p>
            <a:endParaRPr lang="en-US" dirty="0"/>
          </a:p>
          <a:p>
            <a:r>
              <a:rPr lang="en-US" dirty="0">
                <a:latin typeface="Aptos"/>
              </a:rPr>
              <a:t>Constructor:</a:t>
            </a:r>
          </a:p>
          <a:p>
            <a:pPr lvl="1">
              <a:buFont typeface="Courier New" panose="020B0604020202020204" pitchFamily="34" charset="0"/>
              <a:buChar char="o"/>
            </a:pPr>
            <a:r>
              <a:rPr lang="en-US" dirty="0" err="1">
                <a:latin typeface="Aptos"/>
              </a:rPr>
              <a:t>LowArray</a:t>
            </a:r>
            <a:r>
              <a:rPr lang="en-US" dirty="0">
                <a:latin typeface="Aptos"/>
              </a:rPr>
              <a:t>(int size)</a:t>
            </a:r>
            <a:endParaRPr lang="en-US" dirty="0"/>
          </a:p>
          <a:p>
            <a:pPr lvl="1">
              <a:buFont typeface="Courier New" panose="020B0604020202020204" pitchFamily="34" charset="0"/>
              <a:buChar char="o"/>
            </a:pPr>
            <a:endParaRPr lang="en-US" dirty="0"/>
          </a:p>
          <a:p>
            <a:r>
              <a:rPr lang="en-US" dirty="0">
                <a:latin typeface="Aptos"/>
              </a:rPr>
              <a:t>Methods:</a:t>
            </a:r>
          </a:p>
          <a:p>
            <a:pPr lvl="1">
              <a:buFont typeface="Courier New" panose="020B0604020202020204" pitchFamily="34" charset="0"/>
              <a:buChar char="o"/>
            </a:pPr>
            <a:r>
              <a:rPr lang="en-US" dirty="0">
                <a:latin typeface="Aptos"/>
              </a:rPr>
              <a:t>void </a:t>
            </a:r>
            <a:r>
              <a:rPr lang="en-US" dirty="0" err="1">
                <a:latin typeface="Aptos"/>
              </a:rPr>
              <a:t>setElem</a:t>
            </a:r>
            <a:r>
              <a:rPr lang="en-US" dirty="0">
                <a:latin typeface="Aptos"/>
              </a:rPr>
              <a:t>(int index, long value)</a:t>
            </a:r>
          </a:p>
          <a:p>
            <a:pPr lvl="1">
              <a:buFont typeface="Courier New" panose="020B0604020202020204" pitchFamily="34" charset="0"/>
              <a:buChar char="o"/>
            </a:pPr>
            <a:r>
              <a:rPr lang="en-US" dirty="0">
                <a:latin typeface="Aptos"/>
              </a:rPr>
              <a:t>int </a:t>
            </a:r>
            <a:r>
              <a:rPr lang="en-US" dirty="0" err="1">
                <a:latin typeface="Aptos"/>
              </a:rPr>
              <a:t>getElem</a:t>
            </a:r>
            <a:r>
              <a:rPr lang="en-US" dirty="0">
                <a:latin typeface="Aptos"/>
              </a:rPr>
              <a:t>(int index)</a:t>
            </a:r>
            <a:endParaRPr lang="en-US" dirty="0"/>
          </a:p>
        </p:txBody>
      </p:sp>
      <p:sp>
        <p:nvSpPr>
          <p:cNvPr id="4" name="Slide Number Placeholder 3">
            <a:extLst>
              <a:ext uri="{FF2B5EF4-FFF2-40B4-BE49-F238E27FC236}">
                <a16:creationId xmlns:a16="http://schemas.microsoft.com/office/drawing/2014/main" id="{9BD0FD28-CE94-53CA-5944-FB332817BC21}"/>
              </a:ext>
            </a:extLst>
          </p:cNvPr>
          <p:cNvSpPr>
            <a:spLocks noGrp="1"/>
          </p:cNvSpPr>
          <p:nvPr>
            <p:ph type="sldNum" sz="quarter" idx="12"/>
          </p:nvPr>
        </p:nvSpPr>
        <p:spPr/>
        <p:txBody>
          <a:bodyPr/>
          <a:lstStyle/>
          <a:p>
            <a:fld id="{A3AE6EEF-09FB-4745-97EC-5981027EA46D}" type="slidenum">
              <a:rPr lang="en-US" smtClean="0"/>
              <a:pPr/>
              <a:t>27</a:t>
            </a:fld>
            <a:endParaRPr lang="en-US"/>
          </a:p>
        </p:txBody>
      </p:sp>
    </p:spTree>
    <p:extLst>
      <p:ext uri="{BB962C8B-B14F-4D97-AF65-F5344CB8AC3E}">
        <p14:creationId xmlns:p14="http://schemas.microsoft.com/office/powerpoint/2010/main" val="3057118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09B46-0DB1-989D-B89B-76EFCAE32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57B50-FCFA-177A-4CAA-F9A5EFED1E03}"/>
              </a:ext>
            </a:extLst>
          </p:cNvPr>
          <p:cNvSpPr>
            <a:spLocks noGrp="1"/>
          </p:cNvSpPr>
          <p:nvPr>
            <p:ph type="title"/>
          </p:nvPr>
        </p:nvSpPr>
        <p:spPr/>
        <p:txBody>
          <a:bodyPr/>
          <a:lstStyle/>
          <a:p>
            <a:r>
              <a:rPr lang="en-US"/>
              <a:t>The </a:t>
            </a:r>
            <a:r>
              <a:rPr lang="en-US" err="1"/>
              <a:t>LowArray</a:t>
            </a:r>
            <a:r>
              <a:rPr lang="en-US"/>
              <a:t> interface</a:t>
            </a:r>
          </a:p>
        </p:txBody>
      </p:sp>
      <p:sp>
        <p:nvSpPr>
          <p:cNvPr id="3" name="Content Placeholder 2">
            <a:extLst>
              <a:ext uri="{FF2B5EF4-FFF2-40B4-BE49-F238E27FC236}">
                <a16:creationId xmlns:a16="http://schemas.microsoft.com/office/drawing/2014/main" id="{F0F22136-1F39-F018-82B2-4485F26720A2}"/>
              </a:ext>
            </a:extLst>
          </p:cNvPr>
          <p:cNvSpPr>
            <a:spLocks noGrp="1"/>
          </p:cNvSpPr>
          <p:nvPr>
            <p:ph idx="1"/>
          </p:nvPr>
        </p:nvSpPr>
        <p:spPr>
          <a:xfrm>
            <a:off x="838200" y="1825625"/>
            <a:ext cx="10906897" cy="4351338"/>
          </a:xfrm>
        </p:spPr>
        <p:txBody>
          <a:bodyPr vert="horz" lIns="91440" tIns="45720" rIns="91440" bIns="45720" rtlCol="0" anchor="t">
            <a:normAutofit/>
          </a:bodyPr>
          <a:lstStyle/>
          <a:p>
            <a:r>
              <a:rPr lang="en-US" dirty="0">
                <a:latin typeface="Aptos"/>
              </a:rPr>
              <a:t>Link to </a:t>
            </a:r>
            <a:r>
              <a:rPr lang="en-US" dirty="0" err="1">
                <a:latin typeface="Aptos"/>
              </a:rPr>
              <a:t>LowArray</a:t>
            </a:r>
            <a:r>
              <a:rPr lang="en-US" dirty="0">
                <a:latin typeface="Aptos"/>
              </a:rPr>
              <a:t>:</a:t>
            </a:r>
            <a:endParaRPr lang="en-US" dirty="0"/>
          </a:p>
          <a:p>
            <a:pPr lvl="1">
              <a:buFont typeface="Courier New" panose="020B0604020202020204" pitchFamily="34" charset="0"/>
              <a:buChar char="o"/>
            </a:pPr>
            <a:r>
              <a:rPr lang="en-US" dirty="0">
                <a:latin typeface="Aptos"/>
                <a:hlinkClick r:id="rId2"/>
              </a:rPr>
              <a:t>https://github.com/biblelamp/JavaExercises/blob/master/Algorithms/array/lowArray.java</a:t>
            </a: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90817F4E-3748-478D-4CB0-DD013822E4FE}"/>
              </a:ext>
            </a:extLst>
          </p:cNvPr>
          <p:cNvSpPr>
            <a:spLocks noGrp="1"/>
          </p:cNvSpPr>
          <p:nvPr>
            <p:ph type="sldNum" sz="quarter" idx="12"/>
          </p:nvPr>
        </p:nvSpPr>
        <p:spPr/>
        <p:txBody>
          <a:bodyPr/>
          <a:lstStyle/>
          <a:p>
            <a:fld id="{A3AE6EEF-09FB-4745-97EC-5981027EA46D}" type="slidenum">
              <a:rPr lang="en-US" smtClean="0"/>
              <a:pPr/>
              <a:t>28</a:t>
            </a:fld>
            <a:endParaRPr lang="en-US"/>
          </a:p>
        </p:txBody>
      </p:sp>
    </p:spTree>
    <p:extLst>
      <p:ext uri="{BB962C8B-B14F-4D97-AF65-F5344CB8AC3E}">
        <p14:creationId xmlns:p14="http://schemas.microsoft.com/office/powerpoint/2010/main" val="51031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48C0-52E6-D840-CC6E-8C0CF3BB3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11D97-F102-1756-085C-F68EAD891E93}"/>
              </a:ext>
            </a:extLst>
          </p:cNvPr>
          <p:cNvSpPr>
            <a:spLocks noGrp="1"/>
          </p:cNvSpPr>
          <p:nvPr>
            <p:ph type="title"/>
          </p:nvPr>
        </p:nvSpPr>
        <p:spPr/>
        <p:txBody>
          <a:bodyPr/>
          <a:lstStyle/>
          <a:p>
            <a:r>
              <a:rPr lang="en-US" dirty="0"/>
              <a:t>The </a:t>
            </a:r>
            <a:r>
              <a:rPr lang="en-US" dirty="0" err="1"/>
              <a:t>LowArray</a:t>
            </a:r>
            <a:r>
              <a:rPr lang="en-US" dirty="0"/>
              <a:t> interface</a:t>
            </a:r>
          </a:p>
        </p:txBody>
      </p:sp>
      <p:sp>
        <p:nvSpPr>
          <p:cNvPr id="3" name="Content Placeholder 2">
            <a:extLst>
              <a:ext uri="{FF2B5EF4-FFF2-40B4-BE49-F238E27FC236}">
                <a16:creationId xmlns:a16="http://schemas.microsoft.com/office/drawing/2014/main" id="{6D9D3619-355F-50A4-EF48-2C2838E99C5F}"/>
              </a:ext>
            </a:extLst>
          </p:cNvPr>
          <p:cNvSpPr>
            <a:spLocks noGrp="1"/>
          </p:cNvSpPr>
          <p:nvPr>
            <p:ph idx="1"/>
          </p:nvPr>
        </p:nvSpPr>
        <p:spPr>
          <a:xfrm>
            <a:off x="838200" y="1825625"/>
            <a:ext cx="10906897" cy="4351338"/>
          </a:xfrm>
        </p:spPr>
        <p:txBody>
          <a:bodyPr vert="horz" lIns="91440" tIns="45720" rIns="91440" bIns="45720" rtlCol="0" anchor="t">
            <a:normAutofit/>
          </a:bodyPr>
          <a:lstStyle/>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C798C92-0E69-F486-98D0-B92429C11D06}"/>
              </a:ext>
            </a:extLst>
          </p:cNvPr>
          <p:cNvSpPr>
            <a:spLocks noGrp="1"/>
          </p:cNvSpPr>
          <p:nvPr>
            <p:ph type="sldNum" sz="quarter" idx="12"/>
          </p:nvPr>
        </p:nvSpPr>
        <p:spPr/>
        <p:txBody>
          <a:bodyPr/>
          <a:lstStyle/>
          <a:p>
            <a:fld id="{A3AE6EEF-09FB-4745-97EC-5981027EA46D}" type="slidenum">
              <a:rPr lang="en-US" smtClean="0"/>
              <a:pPr/>
              <a:t>29</a:t>
            </a:fld>
            <a:endParaRPr lang="en-US"/>
          </a:p>
        </p:txBody>
      </p:sp>
      <p:pic>
        <p:nvPicPr>
          <p:cNvPr id="6" name="Picture 5">
            <a:extLst>
              <a:ext uri="{FF2B5EF4-FFF2-40B4-BE49-F238E27FC236}">
                <a16:creationId xmlns:a16="http://schemas.microsoft.com/office/drawing/2014/main" id="{ED56B4E6-C13F-5756-E212-4F6F77F0C41B}"/>
              </a:ext>
            </a:extLst>
          </p:cNvPr>
          <p:cNvPicPr>
            <a:picLocks noChangeAspect="1"/>
          </p:cNvPicPr>
          <p:nvPr/>
        </p:nvPicPr>
        <p:blipFill>
          <a:blip r:embed="rId2"/>
          <a:stretch>
            <a:fillRect/>
          </a:stretch>
        </p:blipFill>
        <p:spPr>
          <a:xfrm>
            <a:off x="122547" y="2083404"/>
            <a:ext cx="6415223" cy="2865817"/>
          </a:xfrm>
          <a:prstGeom prst="rect">
            <a:avLst/>
          </a:prstGeom>
        </p:spPr>
      </p:pic>
      <p:pic>
        <p:nvPicPr>
          <p:cNvPr id="10" name="Picture 9">
            <a:extLst>
              <a:ext uri="{FF2B5EF4-FFF2-40B4-BE49-F238E27FC236}">
                <a16:creationId xmlns:a16="http://schemas.microsoft.com/office/drawing/2014/main" id="{E3233290-BD26-23E4-0C7E-BF3B5DD88F6D}"/>
              </a:ext>
            </a:extLst>
          </p:cNvPr>
          <p:cNvPicPr>
            <a:picLocks noChangeAspect="1"/>
          </p:cNvPicPr>
          <p:nvPr/>
        </p:nvPicPr>
        <p:blipFill>
          <a:blip r:embed="rId3"/>
          <a:srcRect r="18132"/>
          <a:stretch>
            <a:fillRect/>
          </a:stretch>
        </p:blipFill>
        <p:spPr>
          <a:xfrm>
            <a:off x="7039286" y="0"/>
            <a:ext cx="4951608" cy="6858000"/>
          </a:xfrm>
          <a:prstGeom prst="rect">
            <a:avLst/>
          </a:prstGeom>
        </p:spPr>
      </p:pic>
    </p:spTree>
    <p:extLst>
      <p:ext uri="{BB962C8B-B14F-4D97-AF65-F5344CB8AC3E}">
        <p14:creationId xmlns:p14="http://schemas.microsoft.com/office/powerpoint/2010/main" val="269663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5B4BB-FBDC-05E6-B873-1BD0034DD984}"/>
              </a:ext>
            </a:extLst>
          </p:cNvPr>
          <p:cNvSpPr>
            <a:spLocks noGrp="1"/>
          </p:cNvSpPr>
          <p:nvPr>
            <p:ph type="title"/>
          </p:nvPr>
        </p:nvSpPr>
        <p:spPr/>
        <p:txBody>
          <a:bodyPr/>
          <a:lstStyle/>
          <a:p>
            <a:r>
              <a:rPr lang="en-US"/>
              <a:t>The </a:t>
            </a:r>
            <a:r>
              <a:rPr lang="en-US" err="1"/>
              <a:t>LowArray</a:t>
            </a:r>
            <a:r>
              <a:rPr lang="en-US"/>
              <a:t> interface</a:t>
            </a:r>
          </a:p>
        </p:txBody>
      </p:sp>
      <p:sp>
        <p:nvSpPr>
          <p:cNvPr id="3" name="Content Placeholder 2">
            <a:extLst>
              <a:ext uri="{FF2B5EF4-FFF2-40B4-BE49-F238E27FC236}">
                <a16:creationId xmlns:a16="http://schemas.microsoft.com/office/drawing/2014/main" id="{3842A7F1-3E69-7E4B-7894-F967A39FE6BB}"/>
              </a:ext>
            </a:extLst>
          </p:cNvPr>
          <p:cNvSpPr>
            <a:spLocks noGrp="1"/>
          </p:cNvSpPr>
          <p:nvPr>
            <p:ph idx="1"/>
          </p:nvPr>
        </p:nvSpPr>
        <p:spPr>
          <a:xfrm>
            <a:off x="838200" y="1825625"/>
            <a:ext cx="10906897" cy="4351338"/>
          </a:xfrm>
        </p:spPr>
        <p:txBody>
          <a:bodyPr vert="horz" lIns="91440" tIns="45720" rIns="91440" bIns="45720" rtlCol="0" anchor="t">
            <a:normAutofit/>
          </a:bodyPr>
          <a:lstStyle/>
          <a:p>
            <a:r>
              <a:rPr lang="en-US" dirty="0">
                <a:latin typeface="Aptos"/>
              </a:rPr>
              <a:t>Link to </a:t>
            </a:r>
            <a:r>
              <a:rPr lang="en-US" dirty="0" err="1">
                <a:latin typeface="Aptos"/>
              </a:rPr>
              <a:t>LowArray</a:t>
            </a:r>
            <a:r>
              <a:rPr lang="en-US" dirty="0">
                <a:latin typeface="Aptos"/>
              </a:rPr>
              <a:t>:</a:t>
            </a:r>
            <a:endParaRPr lang="en-US" dirty="0"/>
          </a:p>
          <a:p>
            <a:pPr lvl="1">
              <a:buFont typeface="Courier New" panose="020B0604020202020204" pitchFamily="34" charset="0"/>
              <a:buChar char="o"/>
            </a:pPr>
            <a:r>
              <a:rPr lang="en-US" dirty="0">
                <a:latin typeface="Aptos"/>
                <a:hlinkClick r:id="rId2"/>
              </a:rPr>
              <a:t>https://github.com/biblelamp/JavaExercises/blob/master/Algorithms/array/lowArray.java</a:t>
            </a:r>
            <a:endParaRPr lang="en-US" dirty="0"/>
          </a:p>
          <a:p>
            <a:endParaRPr lang="en-US" dirty="0"/>
          </a:p>
          <a:p>
            <a:endParaRPr lang="en-US" dirty="0"/>
          </a:p>
          <a:p>
            <a:pPr>
              <a:spcBef>
                <a:spcPts val="580"/>
              </a:spcBef>
              <a:spcAft>
                <a:spcPct val="0"/>
              </a:spcAft>
            </a:pPr>
            <a:r>
              <a:rPr lang="en-US" dirty="0">
                <a:latin typeface="Arial"/>
                <a:cs typeface="Arial"/>
              </a:rPr>
              <a:t>What’s inadequate currently in terms of operations?</a:t>
            </a:r>
          </a:p>
          <a:p>
            <a:pPr>
              <a:spcBef>
                <a:spcPts val="580"/>
              </a:spcBef>
              <a:spcAft>
                <a:spcPct val="0"/>
              </a:spcAft>
            </a:pPr>
            <a:r>
              <a:rPr lang="en-US" dirty="0">
                <a:latin typeface="Arial"/>
                <a:cs typeface="Arial"/>
              </a:rPr>
              <a:t>How can we improve things?</a:t>
            </a:r>
            <a:endParaRPr lang="en-US" dirty="0"/>
          </a:p>
        </p:txBody>
      </p:sp>
      <p:sp>
        <p:nvSpPr>
          <p:cNvPr id="4" name="Slide Number Placeholder 3">
            <a:extLst>
              <a:ext uri="{FF2B5EF4-FFF2-40B4-BE49-F238E27FC236}">
                <a16:creationId xmlns:a16="http://schemas.microsoft.com/office/drawing/2014/main" id="{E4C5ACA0-E217-1FEB-5D45-1174804D8D20}"/>
              </a:ext>
            </a:extLst>
          </p:cNvPr>
          <p:cNvSpPr>
            <a:spLocks noGrp="1"/>
          </p:cNvSpPr>
          <p:nvPr>
            <p:ph type="sldNum" sz="quarter" idx="12"/>
          </p:nvPr>
        </p:nvSpPr>
        <p:spPr/>
        <p:txBody>
          <a:bodyPr/>
          <a:lstStyle/>
          <a:p>
            <a:fld id="{A3AE6EEF-09FB-4745-97EC-5981027EA46D}" type="slidenum">
              <a:rPr lang="en-US" smtClean="0"/>
              <a:pPr/>
              <a:t>30</a:t>
            </a:fld>
            <a:endParaRPr lang="en-US"/>
          </a:p>
        </p:txBody>
      </p:sp>
    </p:spTree>
    <p:extLst>
      <p:ext uri="{BB962C8B-B14F-4D97-AF65-F5344CB8AC3E}">
        <p14:creationId xmlns:p14="http://schemas.microsoft.com/office/powerpoint/2010/main" val="1115391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0BA78-C331-A9FB-87CA-5E0D0D9582CC}"/>
              </a:ext>
            </a:extLst>
          </p:cNvPr>
          <p:cNvSpPr>
            <a:spLocks noGrp="1"/>
          </p:cNvSpPr>
          <p:nvPr>
            <p:ph type="title"/>
          </p:nvPr>
        </p:nvSpPr>
        <p:spPr/>
        <p:txBody>
          <a:bodyPr/>
          <a:lstStyle/>
          <a:p>
            <a:r>
              <a:rPr lang="en-US"/>
              <a:t>The </a:t>
            </a:r>
            <a:r>
              <a:rPr lang="en-US" err="1"/>
              <a:t>LowArray</a:t>
            </a:r>
            <a:r>
              <a:rPr lang="en-US"/>
              <a:t> interface</a:t>
            </a:r>
          </a:p>
        </p:txBody>
      </p:sp>
      <p:sp>
        <p:nvSpPr>
          <p:cNvPr id="3" name="Content Placeholder 2">
            <a:extLst>
              <a:ext uri="{FF2B5EF4-FFF2-40B4-BE49-F238E27FC236}">
                <a16:creationId xmlns:a16="http://schemas.microsoft.com/office/drawing/2014/main" id="{8C14ECA0-86F1-6CAF-FDC4-F1F1A793D305}"/>
              </a:ext>
            </a:extLst>
          </p:cNvPr>
          <p:cNvSpPr>
            <a:spLocks noGrp="1"/>
          </p:cNvSpPr>
          <p:nvPr>
            <p:ph idx="1"/>
          </p:nvPr>
        </p:nvSpPr>
        <p:spPr/>
        <p:txBody>
          <a:bodyPr vert="horz" lIns="91440" tIns="45720" rIns="91440" bIns="45720" rtlCol="0" anchor="t">
            <a:normAutofit/>
          </a:bodyPr>
          <a:lstStyle/>
          <a:p>
            <a:r>
              <a:rPr lang="en-US" dirty="0">
                <a:latin typeface="Arial"/>
                <a:cs typeface="Arial"/>
              </a:rPr>
              <a:t>What’s inadequate currently in terms of operations?</a:t>
            </a:r>
            <a:endParaRPr lang="en-US" dirty="0">
              <a:latin typeface="Aptos"/>
            </a:endParaRPr>
          </a:p>
          <a:p>
            <a:pPr lvl="1">
              <a:buFont typeface="Courier New" panose="020B0604020202020204" pitchFamily="34" charset="0"/>
              <a:buChar char="o"/>
            </a:pPr>
            <a:r>
              <a:rPr lang="en-US" dirty="0">
                <a:latin typeface="Aptos"/>
              </a:rPr>
              <a:t>Cannot tell us which element in the array is occupied and which are free</a:t>
            </a:r>
            <a:endParaRPr lang="en-US" dirty="0"/>
          </a:p>
          <a:p>
            <a:endParaRPr lang="en-US" dirty="0">
              <a:latin typeface="Aptos"/>
            </a:endParaRPr>
          </a:p>
          <a:p>
            <a:r>
              <a:rPr lang="en-US" dirty="0">
                <a:latin typeface="Aptos"/>
              </a:rPr>
              <a:t>How to improve on that?</a:t>
            </a:r>
            <a:endParaRPr lang="en-US" dirty="0"/>
          </a:p>
          <a:p>
            <a:pPr lvl="1">
              <a:buFont typeface="Courier New" panose="020B0604020202020204" pitchFamily="34" charset="0"/>
              <a:buChar char="o"/>
            </a:pPr>
            <a:r>
              <a:rPr lang="en-US" dirty="0">
                <a:latin typeface="Aptos"/>
              </a:rPr>
              <a:t>Some sort of counter that point to the next element that is not occupied?</a:t>
            </a:r>
            <a:endParaRPr lang="en-US" dirty="0"/>
          </a:p>
        </p:txBody>
      </p:sp>
      <p:sp>
        <p:nvSpPr>
          <p:cNvPr id="4" name="Slide Number Placeholder 3">
            <a:extLst>
              <a:ext uri="{FF2B5EF4-FFF2-40B4-BE49-F238E27FC236}">
                <a16:creationId xmlns:a16="http://schemas.microsoft.com/office/drawing/2014/main" id="{51AD270D-51CD-17EC-24A2-8EC91E0D4D51}"/>
              </a:ext>
            </a:extLst>
          </p:cNvPr>
          <p:cNvSpPr>
            <a:spLocks noGrp="1"/>
          </p:cNvSpPr>
          <p:nvPr>
            <p:ph type="sldNum" sz="quarter" idx="12"/>
          </p:nvPr>
        </p:nvSpPr>
        <p:spPr/>
        <p:txBody>
          <a:bodyPr/>
          <a:lstStyle/>
          <a:p>
            <a:fld id="{A3AE6EEF-09FB-4745-97EC-5981027EA46D}" type="slidenum">
              <a:rPr lang="en-US" smtClean="0"/>
              <a:pPr/>
              <a:t>31</a:t>
            </a:fld>
            <a:endParaRPr lang="en-US"/>
          </a:p>
        </p:txBody>
      </p:sp>
    </p:spTree>
    <p:extLst>
      <p:ext uri="{BB962C8B-B14F-4D97-AF65-F5344CB8AC3E}">
        <p14:creationId xmlns:p14="http://schemas.microsoft.com/office/powerpoint/2010/main" val="2637913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C458ACD3-8A71-46CA-836F-59D2E4BA9E31}"/>
              </a:ext>
            </a:extLst>
          </p:cNvPr>
          <p:cNvSpPr>
            <a:spLocks noGrp="1"/>
          </p:cNvSpPr>
          <p:nvPr>
            <p:ph type="title"/>
          </p:nvPr>
        </p:nvSpPr>
        <p:spPr/>
        <p:txBody>
          <a:bodyPr/>
          <a:lstStyle/>
          <a:p>
            <a:r>
              <a:rPr lang="en-US">
                <a:latin typeface="Segoe UI"/>
                <a:cs typeface="Segoe UI"/>
              </a:rPr>
              <a:t>The </a:t>
            </a:r>
            <a:r>
              <a:rPr lang="en-US" err="1">
                <a:latin typeface="Segoe UI"/>
                <a:cs typeface="Segoe UI"/>
              </a:rPr>
              <a:t>HighArray</a:t>
            </a:r>
            <a:r>
              <a:rPr lang="en-US">
                <a:latin typeface="Segoe UI"/>
                <a:cs typeface="Segoe UI"/>
              </a:rPr>
              <a:t> interface</a:t>
            </a:r>
            <a:endParaRPr lang="en-US"/>
          </a:p>
        </p:txBody>
      </p:sp>
      <p:sp>
        <p:nvSpPr>
          <p:cNvPr id="3" name="Slide Number Placeholder 2">
            <a:extLst>
              <a:ext uri="{FF2B5EF4-FFF2-40B4-BE49-F238E27FC236}">
                <a16:creationId xmlns:a16="http://schemas.microsoft.com/office/drawing/2014/main" id="{797584C9-CE8A-409D-BE91-48F1287BD977}"/>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32</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53945413-78F0-441B-BC79-DA8A0D25FBCD}"/>
              </a:ext>
            </a:extLst>
          </p:cNvPr>
          <p:cNvSpPr>
            <a:spLocks noGrp="1"/>
          </p:cNvSpPr>
          <p:nvPr>
            <p:ph sz="quarter" idx="1"/>
          </p:nvPr>
        </p:nvSpPr>
        <p:spPr/>
        <p:txBody>
          <a:bodyPr vert="horz" lIns="91440" tIns="45720" rIns="91440" bIns="45720" rtlCol="0" anchor="t">
            <a:normAutofit lnSpcReduction="10000"/>
          </a:bodyPr>
          <a:lstStyle/>
          <a:p>
            <a:pPr>
              <a:spcBef>
                <a:spcPts val="580"/>
              </a:spcBef>
              <a:spcAft>
                <a:spcPct val="0"/>
              </a:spcAft>
              <a:defRPr/>
            </a:pPr>
            <a:r>
              <a:rPr lang="en-US" dirty="0">
                <a:latin typeface="Aptos"/>
              </a:rPr>
              <a:t>Let’s make a new </a:t>
            </a:r>
            <a:r>
              <a:rPr lang="en-US" dirty="0" err="1">
                <a:latin typeface="Aptos"/>
              </a:rPr>
              <a:t>HighArray</a:t>
            </a:r>
            <a:r>
              <a:rPr lang="en-US" dirty="0">
                <a:latin typeface="Aptos"/>
              </a:rPr>
              <a:t> class (p. 49) which includes the following functions:</a:t>
            </a:r>
          </a:p>
          <a:p>
            <a:pPr marL="662940" lvl="1" indent="-342900">
              <a:spcBef>
                <a:spcPts val="370"/>
              </a:spcBef>
              <a:spcAft>
                <a:spcPct val="0"/>
              </a:spcAft>
              <a:defRPr/>
            </a:pPr>
            <a:r>
              <a:rPr lang="en-US" dirty="0">
                <a:latin typeface="Aptos"/>
              </a:rPr>
              <a:t>Constructor which takes an integer for the size</a:t>
            </a:r>
          </a:p>
          <a:p>
            <a:pPr marL="662940" lvl="1" indent="-342900">
              <a:spcBef>
                <a:spcPts val="370"/>
              </a:spcBef>
              <a:spcAft>
                <a:spcPct val="0"/>
              </a:spcAft>
              <a:defRPr/>
            </a:pPr>
            <a:r>
              <a:rPr lang="en-US" dirty="0">
                <a:latin typeface="Aptos"/>
              </a:rPr>
              <a:t>Function to access an element</a:t>
            </a:r>
          </a:p>
          <a:p>
            <a:pPr marL="662940" lvl="1" indent="-342900">
              <a:spcBef>
                <a:spcPts val="370"/>
              </a:spcBef>
              <a:spcAft>
                <a:spcPct val="0"/>
              </a:spcAft>
              <a:defRPr/>
            </a:pPr>
            <a:r>
              <a:rPr lang="en-US" dirty="0">
                <a:latin typeface="Aptos"/>
              </a:rPr>
              <a:t>Function to insert an element</a:t>
            </a:r>
          </a:p>
          <a:p>
            <a:pPr marL="662940" lvl="1" indent="-342900">
              <a:spcBef>
                <a:spcPts val="370"/>
              </a:spcBef>
              <a:spcAft>
                <a:spcPct val="0"/>
              </a:spcAft>
              <a:defRPr/>
            </a:pPr>
            <a:r>
              <a:rPr lang="en-US" dirty="0">
                <a:latin typeface="Aptos"/>
              </a:rPr>
              <a:t>Function to find an element</a:t>
            </a:r>
          </a:p>
          <a:p>
            <a:pPr marL="662940" lvl="1" indent="-342900">
              <a:spcBef>
                <a:spcPts val="370"/>
              </a:spcBef>
              <a:spcAft>
                <a:spcPct val="0"/>
              </a:spcAft>
              <a:defRPr/>
            </a:pPr>
            <a:r>
              <a:rPr lang="en-US" dirty="0">
                <a:latin typeface="Aptos"/>
              </a:rPr>
              <a:t>Function to delete an element</a:t>
            </a:r>
          </a:p>
          <a:p>
            <a:pPr marL="662940" lvl="1" indent="-342900">
              <a:spcBef>
                <a:spcPts val="370"/>
              </a:spcBef>
              <a:spcAft>
                <a:spcPct val="0"/>
              </a:spcAft>
              <a:defRPr/>
            </a:pPr>
            <a:endParaRPr lang="en-US" dirty="0"/>
          </a:p>
          <a:p>
            <a:pPr>
              <a:spcBef>
                <a:spcPts val="580"/>
              </a:spcBef>
              <a:spcAft>
                <a:spcPct val="0"/>
              </a:spcAft>
              <a:defRPr/>
            </a:pPr>
            <a:r>
              <a:rPr lang="en-US" dirty="0">
                <a:latin typeface="Aptos"/>
              </a:rPr>
              <a:t>One more member variable</a:t>
            </a:r>
          </a:p>
          <a:p>
            <a:pPr marL="662940" lvl="1" indent="-342900">
              <a:spcBef>
                <a:spcPts val="370"/>
              </a:spcBef>
              <a:spcAft>
                <a:spcPct val="0"/>
              </a:spcAft>
              <a:defRPr/>
            </a:pPr>
            <a:r>
              <a:rPr lang="en-US" dirty="0" err="1">
                <a:latin typeface="Aptos"/>
              </a:rPr>
              <a:t>nElems</a:t>
            </a:r>
            <a:r>
              <a:rPr lang="en-US" dirty="0">
                <a:latin typeface="Aptos"/>
              </a:rPr>
              <a:t>, which holds the number of occupied cells</a:t>
            </a:r>
          </a:p>
          <a:p>
            <a:pPr marL="662940" lvl="1" indent="-342900">
              <a:spcBef>
                <a:spcPts val="370"/>
              </a:spcBef>
              <a:spcAft>
                <a:spcPct val="0"/>
              </a:spcAft>
              <a:defRPr/>
            </a:pPr>
            <a:endParaRPr lang="en-US" dirty="0"/>
          </a:p>
          <a:p>
            <a:pPr>
              <a:spcBef>
                <a:spcPts val="580"/>
              </a:spcBef>
              <a:spcAft>
                <a:spcPct val="0"/>
              </a:spcAft>
              <a:defRPr/>
            </a:pPr>
            <a:r>
              <a:rPr lang="en-US" dirty="0">
                <a:latin typeface="Aptos"/>
              </a:rPr>
              <a:t>Then, let’s modify main().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78659-DEE8-994C-9AEB-C4EC03A888DD}"/>
              </a:ext>
            </a:extLst>
          </p:cNvPr>
          <p:cNvSpPr>
            <a:spLocks noGrp="1"/>
          </p:cNvSpPr>
          <p:nvPr>
            <p:ph type="title"/>
          </p:nvPr>
        </p:nvSpPr>
        <p:spPr/>
        <p:txBody>
          <a:bodyPr/>
          <a:lstStyle/>
          <a:p>
            <a:r>
              <a:rPr lang="en-US">
                <a:latin typeface="Segoe UI"/>
                <a:cs typeface="Segoe UI"/>
              </a:rPr>
              <a:t>The </a:t>
            </a:r>
            <a:r>
              <a:rPr lang="en-US" err="1">
                <a:latin typeface="Segoe UI"/>
                <a:cs typeface="Segoe UI"/>
              </a:rPr>
              <a:t>HighArray</a:t>
            </a:r>
            <a:r>
              <a:rPr lang="en-US">
                <a:latin typeface="Segoe UI"/>
                <a:cs typeface="Segoe UI"/>
              </a:rPr>
              <a:t> interface</a:t>
            </a:r>
          </a:p>
        </p:txBody>
      </p:sp>
      <p:sp>
        <p:nvSpPr>
          <p:cNvPr id="3" name="Content Placeholder 2">
            <a:extLst>
              <a:ext uri="{FF2B5EF4-FFF2-40B4-BE49-F238E27FC236}">
                <a16:creationId xmlns:a16="http://schemas.microsoft.com/office/drawing/2014/main" id="{360F469B-56CA-6E96-C686-1133AE8218E1}"/>
              </a:ext>
            </a:extLst>
          </p:cNvPr>
          <p:cNvSpPr>
            <a:spLocks noGrp="1"/>
          </p:cNvSpPr>
          <p:nvPr>
            <p:ph idx="1"/>
          </p:nvPr>
        </p:nvSpPr>
        <p:spPr/>
        <p:txBody>
          <a:bodyPr vert="horz" lIns="91440" tIns="45720" rIns="91440" bIns="45720" rtlCol="0" anchor="t">
            <a:normAutofit/>
          </a:bodyPr>
          <a:lstStyle/>
          <a:p>
            <a:r>
              <a:rPr lang="en-US" dirty="0">
                <a:latin typeface="Aptos"/>
              </a:rPr>
              <a:t>Link to </a:t>
            </a:r>
            <a:r>
              <a:rPr lang="en-US" dirty="0" err="1">
                <a:latin typeface="Aptos"/>
              </a:rPr>
              <a:t>HighArray</a:t>
            </a:r>
            <a:endParaRPr lang="en-US" dirty="0">
              <a:latin typeface="Aptos"/>
            </a:endParaRPr>
          </a:p>
          <a:p>
            <a:pPr lvl="1">
              <a:buFont typeface="Courier New" panose="020B0604020202020204" pitchFamily="34" charset="0"/>
              <a:buChar char="o"/>
            </a:pPr>
            <a:r>
              <a:rPr lang="en-US" dirty="0">
                <a:latin typeface="Aptos"/>
                <a:hlinkClick r:id="rId2"/>
              </a:rPr>
              <a:t>https://github.com/biblelamp/JavaExercises/blob/master/Algorithms/array/highArray.java</a:t>
            </a:r>
            <a:endParaRPr lang="en-US" dirty="0">
              <a:hlinkClick r:id="rId2"/>
            </a:endParaRPr>
          </a:p>
          <a:p>
            <a:pPr lvl="1">
              <a:buFont typeface="Courier New" panose="020B0604020202020204" pitchFamily="34" charset="0"/>
              <a:buChar char="o"/>
            </a:pPr>
            <a:endParaRPr lang="en-US" dirty="0"/>
          </a:p>
        </p:txBody>
      </p:sp>
      <p:sp>
        <p:nvSpPr>
          <p:cNvPr id="4" name="Slide Number Placeholder 3">
            <a:extLst>
              <a:ext uri="{FF2B5EF4-FFF2-40B4-BE49-F238E27FC236}">
                <a16:creationId xmlns:a16="http://schemas.microsoft.com/office/drawing/2014/main" id="{C5012A78-24D3-430C-147F-C5C47E154932}"/>
              </a:ext>
            </a:extLst>
          </p:cNvPr>
          <p:cNvSpPr>
            <a:spLocks noGrp="1"/>
          </p:cNvSpPr>
          <p:nvPr>
            <p:ph type="sldNum" sz="quarter" idx="12"/>
          </p:nvPr>
        </p:nvSpPr>
        <p:spPr/>
        <p:txBody>
          <a:bodyPr/>
          <a:lstStyle/>
          <a:p>
            <a:fld id="{A3AE6EEF-09FB-4745-97EC-5981027EA46D}" type="slidenum">
              <a:rPr lang="en-US" smtClean="0"/>
              <a:pPr/>
              <a:t>33</a:t>
            </a:fld>
            <a:endParaRPr lang="en-US"/>
          </a:p>
        </p:txBody>
      </p:sp>
    </p:spTree>
    <p:extLst>
      <p:ext uri="{BB962C8B-B14F-4D97-AF65-F5344CB8AC3E}">
        <p14:creationId xmlns:p14="http://schemas.microsoft.com/office/powerpoint/2010/main" val="1729649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E692A-DDE0-1A05-DDF9-1864806B7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898BB-1E7D-C6A9-6415-E2CBF589E673}"/>
              </a:ext>
            </a:extLst>
          </p:cNvPr>
          <p:cNvSpPr>
            <a:spLocks noGrp="1"/>
          </p:cNvSpPr>
          <p:nvPr>
            <p:ph type="title"/>
          </p:nvPr>
        </p:nvSpPr>
        <p:spPr>
          <a:xfrm>
            <a:off x="5287651" y="0"/>
            <a:ext cx="6316745" cy="1325563"/>
          </a:xfrm>
        </p:spPr>
        <p:txBody>
          <a:bodyPr/>
          <a:lstStyle/>
          <a:p>
            <a:r>
              <a:rPr lang="en-US" dirty="0">
                <a:latin typeface="Segoe UI"/>
                <a:cs typeface="Segoe UI"/>
              </a:rPr>
              <a:t>The </a:t>
            </a:r>
            <a:r>
              <a:rPr lang="en-US" dirty="0" err="1">
                <a:latin typeface="Segoe UI"/>
                <a:cs typeface="Segoe UI"/>
              </a:rPr>
              <a:t>HighArray</a:t>
            </a:r>
            <a:r>
              <a:rPr lang="en-US" dirty="0">
                <a:latin typeface="Segoe UI"/>
                <a:cs typeface="Segoe UI"/>
              </a:rPr>
              <a:t> interface</a:t>
            </a:r>
          </a:p>
        </p:txBody>
      </p:sp>
      <p:sp>
        <p:nvSpPr>
          <p:cNvPr id="4" name="Slide Number Placeholder 3">
            <a:extLst>
              <a:ext uri="{FF2B5EF4-FFF2-40B4-BE49-F238E27FC236}">
                <a16:creationId xmlns:a16="http://schemas.microsoft.com/office/drawing/2014/main" id="{977890A0-7143-E910-98A5-64DC01DFF3FA}"/>
              </a:ext>
            </a:extLst>
          </p:cNvPr>
          <p:cNvSpPr>
            <a:spLocks noGrp="1"/>
          </p:cNvSpPr>
          <p:nvPr>
            <p:ph type="sldNum" sz="quarter" idx="12"/>
          </p:nvPr>
        </p:nvSpPr>
        <p:spPr/>
        <p:txBody>
          <a:bodyPr/>
          <a:lstStyle/>
          <a:p>
            <a:fld id="{A3AE6EEF-09FB-4745-97EC-5981027EA46D}" type="slidenum">
              <a:rPr lang="en-US" smtClean="0"/>
              <a:pPr/>
              <a:t>34</a:t>
            </a:fld>
            <a:endParaRPr lang="en-US"/>
          </a:p>
        </p:txBody>
      </p:sp>
      <p:pic>
        <p:nvPicPr>
          <p:cNvPr id="6" name="Picture 5">
            <a:extLst>
              <a:ext uri="{FF2B5EF4-FFF2-40B4-BE49-F238E27FC236}">
                <a16:creationId xmlns:a16="http://schemas.microsoft.com/office/drawing/2014/main" id="{DC2C5A9C-89C1-F9D5-C409-C0948E47DD69}"/>
              </a:ext>
            </a:extLst>
          </p:cNvPr>
          <p:cNvPicPr>
            <a:picLocks noChangeAspect="1"/>
          </p:cNvPicPr>
          <p:nvPr/>
        </p:nvPicPr>
        <p:blipFill>
          <a:blip r:embed="rId2"/>
          <a:srcRect r="15575"/>
          <a:stretch>
            <a:fillRect/>
          </a:stretch>
        </p:blipFill>
        <p:spPr>
          <a:xfrm>
            <a:off x="83684" y="0"/>
            <a:ext cx="4688250" cy="6858000"/>
          </a:xfrm>
          <a:prstGeom prst="rect">
            <a:avLst/>
          </a:prstGeom>
        </p:spPr>
      </p:pic>
      <p:pic>
        <p:nvPicPr>
          <p:cNvPr id="10" name="Picture 9">
            <a:extLst>
              <a:ext uri="{FF2B5EF4-FFF2-40B4-BE49-F238E27FC236}">
                <a16:creationId xmlns:a16="http://schemas.microsoft.com/office/drawing/2014/main" id="{8997F4F9-3617-866E-2C4B-B703A1075356}"/>
              </a:ext>
            </a:extLst>
          </p:cNvPr>
          <p:cNvPicPr>
            <a:picLocks noChangeAspect="1"/>
          </p:cNvPicPr>
          <p:nvPr/>
        </p:nvPicPr>
        <p:blipFill>
          <a:blip r:embed="rId3"/>
          <a:stretch>
            <a:fillRect/>
          </a:stretch>
        </p:blipFill>
        <p:spPr>
          <a:xfrm>
            <a:off x="5160782" y="1021861"/>
            <a:ext cx="6947534" cy="5580806"/>
          </a:xfrm>
          <a:prstGeom prst="rect">
            <a:avLst/>
          </a:prstGeom>
        </p:spPr>
      </p:pic>
    </p:spTree>
    <p:extLst>
      <p:ext uri="{BB962C8B-B14F-4D97-AF65-F5344CB8AC3E}">
        <p14:creationId xmlns:p14="http://schemas.microsoft.com/office/powerpoint/2010/main" val="2923983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4D623F51-6F76-430A-ADB7-EAC8E547CB44}"/>
              </a:ext>
            </a:extLst>
          </p:cNvPr>
          <p:cNvSpPr>
            <a:spLocks noGrp="1"/>
          </p:cNvSpPr>
          <p:nvPr>
            <p:ph type="title"/>
          </p:nvPr>
        </p:nvSpPr>
        <p:spPr/>
        <p:txBody>
          <a:bodyPr/>
          <a:lstStyle/>
          <a:p>
            <a:r>
              <a:rPr lang="en-US" altLang="en-US"/>
              <a:t>Abstraction</a:t>
            </a:r>
          </a:p>
        </p:txBody>
      </p:sp>
      <p:sp>
        <p:nvSpPr>
          <p:cNvPr id="3" name="Slide Number Placeholder 2">
            <a:extLst>
              <a:ext uri="{FF2B5EF4-FFF2-40B4-BE49-F238E27FC236}">
                <a16:creationId xmlns:a16="http://schemas.microsoft.com/office/drawing/2014/main" id="{65914DC8-B3FF-4B3E-A25B-D6D7CFBF20C7}"/>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93CEB6B-07B8-4043-8925-904A8E10F710}" type="slidenum">
              <a:rPr lang="en-US" altLang="en-US" sz="2000">
                <a:latin typeface="Aptos" panose="020B0004020202020204" pitchFamily="34" charset="0"/>
              </a:rPr>
              <a:pPr eaLnBrk="1" hangingPunct="1"/>
              <a:t>35</a:t>
            </a:fld>
            <a:endParaRPr lang="en-US" altLang="en-US" sz="2000">
              <a:latin typeface="Aptos" panose="020B0004020202020204" pitchFamily="34" charset="0"/>
            </a:endParaRPr>
          </a:p>
        </p:txBody>
      </p:sp>
      <p:sp>
        <p:nvSpPr>
          <p:cNvPr id="66564" name="Content Placeholder 3">
            <a:extLst>
              <a:ext uri="{FF2B5EF4-FFF2-40B4-BE49-F238E27FC236}">
                <a16:creationId xmlns:a16="http://schemas.microsoft.com/office/drawing/2014/main" id="{B3D21D4E-BF2F-458C-8E56-0220D79580A2}"/>
              </a:ext>
            </a:extLst>
          </p:cNvPr>
          <p:cNvSpPr>
            <a:spLocks noGrp="1"/>
          </p:cNvSpPr>
          <p:nvPr>
            <p:ph sz="quarter" idx="1"/>
          </p:nvPr>
        </p:nvSpPr>
        <p:spPr/>
        <p:txBody>
          <a:bodyPr>
            <a:normAutofit/>
          </a:bodyPr>
          <a:lstStyle/>
          <a:p>
            <a:r>
              <a:rPr lang="en-US" altLang="en-US" dirty="0"/>
              <a:t>This illustrates the concept of abstraction</a:t>
            </a:r>
          </a:p>
          <a:p>
            <a:pPr lvl="1"/>
            <a:r>
              <a:rPr lang="en-US" altLang="en-US" dirty="0"/>
              <a:t>The way in which an operation is performed inside a class is invisible</a:t>
            </a:r>
          </a:p>
          <a:p>
            <a:pPr lvl="1"/>
            <a:r>
              <a:rPr lang="en-US" altLang="en-US" dirty="0"/>
              <a:t>Client of </a:t>
            </a:r>
            <a:r>
              <a:rPr lang="en-US" altLang="en-US" dirty="0" err="1"/>
              <a:t>HighArray</a:t>
            </a:r>
            <a:r>
              <a:rPr lang="en-US" altLang="en-US" dirty="0"/>
              <a:t> performs more complex operations through simple method invocations</a:t>
            </a:r>
          </a:p>
          <a:p>
            <a:pPr lvl="2"/>
            <a:r>
              <a:rPr lang="en-US" altLang="en-US" sz="2400" dirty="0"/>
              <a:t>Never directly accesses the private data in the array</a:t>
            </a:r>
          </a:p>
          <a:p>
            <a:pPr lvl="2"/>
            <a:endParaRPr lang="en-US" altLang="en-US" dirty="0"/>
          </a:p>
          <a:p>
            <a:r>
              <a:rPr lang="en-US" altLang="en-US" dirty="0"/>
              <a:t>Now we can reuse </a:t>
            </a:r>
            <a:r>
              <a:rPr lang="en-US" altLang="en-US" dirty="0" err="1"/>
              <a:t>HighArray</a:t>
            </a:r>
            <a:r>
              <a:rPr lang="en-US" altLang="en-US" dirty="0"/>
              <a:t> much easier</a:t>
            </a:r>
          </a:p>
          <a:p>
            <a:pPr lvl="1"/>
            <a:r>
              <a:rPr lang="en-US" altLang="en-US" dirty="0"/>
              <a:t>Note – a client does not even really know about the member array</a:t>
            </a:r>
          </a:p>
          <a:p>
            <a:pPr marL="0" indent="0">
              <a:buNone/>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EF1ED-EA08-2E7B-4AA4-91D574A97F03}"/>
            </a:ext>
          </a:extLst>
        </p:cNvPr>
        <p:cNvGrpSpPr/>
        <p:nvPr/>
      </p:nvGrpSpPr>
      <p:grpSpPr>
        <a:xfrm>
          <a:off x="0" y="0"/>
          <a:ext cx="0" cy="0"/>
          <a:chOff x="0" y="0"/>
          <a:chExt cx="0" cy="0"/>
        </a:xfrm>
      </p:grpSpPr>
      <p:sp>
        <p:nvSpPr>
          <p:cNvPr id="66562" name="Title 1">
            <a:extLst>
              <a:ext uri="{FF2B5EF4-FFF2-40B4-BE49-F238E27FC236}">
                <a16:creationId xmlns:a16="http://schemas.microsoft.com/office/drawing/2014/main" id="{8A8A096E-03FA-DC37-99E7-03E3C1378957}"/>
              </a:ext>
            </a:extLst>
          </p:cNvPr>
          <p:cNvSpPr>
            <a:spLocks noGrp="1"/>
          </p:cNvSpPr>
          <p:nvPr>
            <p:ph type="title"/>
          </p:nvPr>
        </p:nvSpPr>
        <p:spPr/>
        <p:txBody>
          <a:bodyPr/>
          <a:lstStyle/>
          <a:p>
            <a:r>
              <a:rPr lang="en-US" altLang="en-US" dirty="0" err="1"/>
              <a:t>HighArray’s</a:t>
            </a:r>
            <a:r>
              <a:rPr lang="en-US" altLang="en-US" dirty="0"/>
              <a:t> Operations</a:t>
            </a:r>
          </a:p>
        </p:txBody>
      </p:sp>
      <p:sp>
        <p:nvSpPr>
          <p:cNvPr id="3" name="Slide Number Placeholder 2">
            <a:extLst>
              <a:ext uri="{FF2B5EF4-FFF2-40B4-BE49-F238E27FC236}">
                <a16:creationId xmlns:a16="http://schemas.microsoft.com/office/drawing/2014/main" id="{7C77B3C4-D0AB-06DE-94EB-361EE9924CC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93CEB6B-07B8-4043-8925-904A8E10F710}" type="slidenum">
              <a:rPr lang="en-US" altLang="en-US" sz="2000">
                <a:latin typeface="Aptos" panose="020B0004020202020204" pitchFamily="34" charset="0"/>
              </a:rPr>
              <a:pPr eaLnBrk="1" hangingPunct="1"/>
              <a:t>36</a:t>
            </a:fld>
            <a:endParaRPr lang="en-US" altLang="en-US" sz="2000">
              <a:latin typeface="Aptos" panose="020B0004020202020204" pitchFamily="34" charset="0"/>
            </a:endParaRPr>
          </a:p>
        </p:txBody>
      </p:sp>
      <p:sp>
        <p:nvSpPr>
          <p:cNvPr id="66564" name="Content Placeholder 3">
            <a:extLst>
              <a:ext uri="{FF2B5EF4-FFF2-40B4-BE49-F238E27FC236}">
                <a16:creationId xmlns:a16="http://schemas.microsoft.com/office/drawing/2014/main" id="{90F53098-FA14-850A-7642-A29640C1C475}"/>
              </a:ext>
            </a:extLst>
          </p:cNvPr>
          <p:cNvSpPr>
            <a:spLocks noGrp="1"/>
          </p:cNvSpPr>
          <p:nvPr>
            <p:ph sz="quarter" idx="1"/>
          </p:nvPr>
        </p:nvSpPr>
        <p:spPr/>
        <p:txBody>
          <a:bodyPr>
            <a:normAutofit/>
          </a:bodyPr>
          <a:lstStyle/>
          <a:p>
            <a:r>
              <a:rPr lang="en-US" altLang="en-US" dirty="0"/>
              <a:t>Constructor: create new </a:t>
            </a:r>
            <a:r>
              <a:rPr lang="en-US" altLang="en-US" dirty="0" err="1"/>
              <a:t>HighArray</a:t>
            </a:r>
            <a:endParaRPr lang="en-US" altLang="en-US" dirty="0"/>
          </a:p>
          <a:p>
            <a:r>
              <a:rPr lang="en-US" altLang="en-US" dirty="0"/>
              <a:t>Insert: insert element into the </a:t>
            </a:r>
            <a:r>
              <a:rPr lang="en-US" altLang="en-US" dirty="0" err="1"/>
              <a:t>HighArray</a:t>
            </a:r>
            <a:endParaRPr lang="en-US" altLang="en-US" dirty="0"/>
          </a:p>
          <a:p>
            <a:r>
              <a:rPr lang="en-US" altLang="en-US" dirty="0"/>
              <a:t>Search: find an element in the </a:t>
            </a:r>
            <a:r>
              <a:rPr lang="en-US" altLang="en-US" dirty="0" err="1"/>
              <a:t>HighArray</a:t>
            </a:r>
            <a:endParaRPr lang="en-US" altLang="en-US" dirty="0"/>
          </a:p>
          <a:p>
            <a:r>
              <a:rPr lang="en-US" altLang="en-US" dirty="0"/>
              <a:t>Delete: find an element then delete if exist in the </a:t>
            </a:r>
            <a:r>
              <a:rPr lang="en-US" altLang="en-US" dirty="0" err="1"/>
              <a:t>HighArray</a:t>
            </a: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11439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43A96-5B9B-13C5-AE1F-ECA67C667DD1}"/>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DC5F6BE3-ADD3-D8DC-0DC2-15E67842F233}"/>
              </a:ext>
            </a:extLst>
          </p:cNvPr>
          <p:cNvSpPr>
            <a:spLocks noGrp="1"/>
          </p:cNvSpPr>
          <p:nvPr>
            <p:ph type="title"/>
          </p:nvPr>
        </p:nvSpPr>
        <p:spPr/>
        <p:txBody>
          <a:bodyPr/>
          <a:lstStyle/>
          <a:p>
            <a:r>
              <a:rPr lang="en-US" dirty="0">
                <a:latin typeface="Segoe UI"/>
                <a:cs typeface="Segoe UI"/>
              </a:rPr>
              <a:t>Constructor</a:t>
            </a:r>
            <a:endParaRPr lang="en-US" dirty="0"/>
          </a:p>
        </p:txBody>
      </p:sp>
      <p:sp>
        <p:nvSpPr>
          <p:cNvPr id="3" name="Slide Number Placeholder 2">
            <a:extLst>
              <a:ext uri="{FF2B5EF4-FFF2-40B4-BE49-F238E27FC236}">
                <a16:creationId xmlns:a16="http://schemas.microsoft.com/office/drawing/2014/main" id="{2D84B37B-24AC-4398-9538-20BF0FB19E8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37</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CBBDB2A3-AD07-E4E4-B8DC-6BAB7EFD5C15}"/>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The constructor is called when we initialized the </a:t>
            </a:r>
            <a:r>
              <a:rPr lang="en-US" b="1" dirty="0" err="1">
                <a:latin typeface="Aptos"/>
              </a:rPr>
              <a:t>HighArray</a:t>
            </a:r>
            <a:r>
              <a:rPr lang="en-US" dirty="0">
                <a:latin typeface="Aptos"/>
              </a:rPr>
              <a:t> class</a:t>
            </a:r>
          </a:p>
          <a:p>
            <a:pPr>
              <a:spcBef>
                <a:spcPts val="580"/>
              </a:spcBef>
              <a:spcAft>
                <a:spcPct val="0"/>
              </a:spcAft>
              <a:defRPr/>
            </a:pPr>
            <a:r>
              <a:rPr lang="en-US" dirty="0">
                <a:latin typeface="Aptos"/>
              </a:rPr>
              <a:t>It should perform actions that we need when freshly creating a new instance of this </a:t>
            </a:r>
            <a:r>
              <a:rPr lang="en-US" b="1" dirty="0" err="1">
                <a:latin typeface="Aptos"/>
              </a:rPr>
              <a:t>HighArray</a:t>
            </a:r>
            <a:r>
              <a:rPr lang="en-US" dirty="0">
                <a:latin typeface="Aptos"/>
              </a:rPr>
              <a:t> class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What should our constructor do? Anything we need to do in the beginning?</a:t>
            </a: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Does it need any parameters? </a:t>
            </a:r>
          </a:p>
        </p:txBody>
      </p:sp>
    </p:spTree>
    <p:extLst>
      <p:ext uri="{BB962C8B-B14F-4D97-AF65-F5344CB8AC3E}">
        <p14:creationId xmlns:p14="http://schemas.microsoft.com/office/powerpoint/2010/main" val="1135071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5F5F2-7BA5-4873-F883-E4CBC23F6BF6}"/>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0CCFFA21-6C9F-7919-B201-7B810EBA0461}"/>
              </a:ext>
            </a:extLst>
          </p:cNvPr>
          <p:cNvSpPr>
            <a:spLocks noGrp="1"/>
          </p:cNvSpPr>
          <p:nvPr>
            <p:ph type="title"/>
          </p:nvPr>
        </p:nvSpPr>
        <p:spPr/>
        <p:txBody>
          <a:bodyPr/>
          <a:lstStyle/>
          <a:p>
            <a:r>
              <a:rPr lang="en-US" dirty="0">
                <a:latin typeface="Segoe UI"/>
                <a:cs typeface="Segoe UI"/>
              </a:rPr>
              <a:t>Constructor</a:t>
            </a:r>
            <a:endParaRPr lang="en-US" dirty="0"/>
          </a:p>
        </p:txBody>
      </p:sp>
      <p:sp>
        <p:nvSpPr>
          <p:cNvPr id="3" name="Slide Number Placeholder 2">
            <a:extLst>
              <a:ext uri="{FF2B5EF4-FFF2-40B4-BE49-F238E27FC236}">
                <a16:creationId xmlns:a16="http://schemas.microsoft.com/office/drawing/2014/main" id="{28E7ECC0-5088-737C-84E9-B2037ACAFF9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38</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B1991435-1430-7A43-8A6E-5A282948BDC4}"/>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The constructor should create a new </a:t>
            </a:r>
            <a:r>
              <a:rPr lang="en-US" b="1" dirty="0">
                <a:latin typeface="Aptos"/>
              </a:rPr>
              <a:t>Array</a:t>
            </a:r>
          </a:p>
          <a:p>
            <a:pPr>
              <a:spcBef>
                <a:spcPts val="580"/>
              </a:spcBef>
              <a:spcAft>
                <a:spcPct val="0"/>
              </a:spcAft>
              <a:defRPr/>
            </a:pPr>
            <a:r>
              <a:rPr lang="en-US" dirty="0">
                <a:latin typeface="Aptos"/>
              </a:rPr>
              <a:t>The new array will need the user to give a </a:t>
            </a:r>
            <a:r>
              <a:rPr lang="en-US" b="1" dirty="0">
                <a:latin typeface="Aptos"/>
              </a:rPr>
              <a:t>specific size</a:t>
            </a:r>
          </a:p>
          <a:p>
            <a:pPr>
              <a:spcBef>
                <a:spcPts val="580"/>
              </a:spcBef>
              <a:spcAft>
                <a:spcPct val="0"/>
              </a:spcAft>
              <a:defRPr/>
            </a:pPr>
            <a:endParaRPr lang="en-US" b="1" dirty="0">
              <a:latin typeface="Aptos"/>
            </a:endParaRPr>
          </a:p>
          <a:p>
            <a:pPr>
              <a:spcBef>
                <a:spcPts val="580"/>
              </a:spcBef>
              <a:spcAft>
                <a:spcPct val="0"/>
              </a:spcAft>
              <a:defRPr/>
            </a:pPr>
            <a:r>
              <a:rPr lang="en-US" dirty="0">
                <a:latin typeface="Aptos"/>
              </a:rPr>
              <a:t>Now users should be able to create new </a:t>
            </a:r>
            <a:r>
              <a:rPr lang="en-US" b="1" dirty="0" err="1">
                <a:latin typeface="Aptos"/>
              </a:rPr>
              <a:t>HighArray</a:t>
            </a:r>
            <a:r>
              <a:rPr lang="en-US" dirty="0">
                <a:latin typeface="Aptos"/>
              </a:rPr>
              <a:t> and give it the specific size as needed, it will then initialize new </a:t>
            </a:r>
            <a:r>
              <a:rPr lang="en-US" b="1" dirty="0">
                <a:latin typeface="Aptos"/>
              </a:rPr>
              <a:t>Array </a:t>
            </a:r>
            <a:r>
              <a:rPr lang="en-US" dirty="0">
                <a:latin typeface="Aptos"/>
              </a:rPr>
              <a:t>with the given size, inside the </a:t>
            </a:r>
            <a:r>
              <a:rPr lang="en-US" b="1" dirty="0" err="1">
                <a:latin typeface="Aptos"/>
              </a:rPr>
              <a:t>HighArray</a:t>
            </a:r>
            <a:endParaRPr lang="en-US" b="1"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7" name="Picture 6">
            <a:extLst>
              <a:ext uri="{FF2B5EF4-FFF2-40B4-BE49-F238E27FC236}">
                <a16:creationId xmlns:a16="http://schemas.microsoft.com/office/drawing/2014/main" id="{22A89053-949F-5B10-66DD-ECC23ACBC808}"/>
              </a:ext>
            </a:extLst>
          </p:cNvPr>
          <p:cNvPicPr>
            <a:picLocks noChangeAspect="1"/>
          </p:cNvPicPr>
          <p:nvPr/>
        </p:nvPicPr>
        <p:blipFill>
          <a:blip r:embed="rId2"/>
          <a:stretch>
            <a:fillRect/>
          </a:stretch>
        </p:blipFill>
        <p:spPr>
          <a:xfrm>
            <a:off x="1486293" y="4401092"/>
            <a:ext cx="9219414" cy="1775871"/>
          </a:xfrm>
          <a:prstGeom prst="rect">
            <a:avLst/>
          </a:prstGeom>
        </p:spPr>
      </p:pic>
    </p:spTree>
    <p:extLst>
      <p:ext uri="{BB962C8B-B14F-4D97-AF65-F5344CB8AC3E}">
        <p14:creationId xmlns:p14="http://schemas.microsoft.com/office/powerpoint/2010/main" val="1592346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2F4EA-AEAD-48D2-5920-2C9937271520}"/>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52686019-7455-A0B1-64A0-A5A9F28CC357}"/>
              </a:ext>
            </a:extLst>
          </p:cNvPr>
          <p:cNvSpPr>
            <a:spLocks noGrp="1"/>
          </p:cNvSpPr>
          <p:nvPr>
            <p:ph type="title"/>
          </p:nvPr>
        </p:nvSpPr>
        <p:spPr/>
        <p:txBody>
          <a:bodyPr/>
          <a:lstStyle/>
          <a:p>
            <a:r>
              <a:rPr lang="en-US" dirty="0">
                <a:latin typeface="Segoe UI"/>
                <a:cs typeface="Segoe UI"/>
              </a:rPr>
              <a:t>Constructor</a:t>
            </a:r>
            <a:endParaRPr lang="en-US" dirty="0"/>
          </a:p>
        </p:txBody>
      </p:sp>
      <p:sp>
        <p:nvSpPr>
          <p:cNvPr id="3" name="Slide Number Placeholder 2">
            <a:extLst>
              <a:ext uri="{FF2B5EF4-FFF2-40B4-BE49-F238E27FC236}">
                <a16:creationId xmlns:a16="http://schemas.microsoft.com/office/drawing/2014/main" id="{85F681ED-3173-10AB-1FCC-62B343900A5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39</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BF6AE700-6740-6F7C-A973-E6071F86C1BA}"/>
              </a:ext>
            </a:extLst>
          </p:cNvPr>
          <p:cNvSpPr>
            <a:spLocks noGrp="1"/>
          </p:cNvSpPr>
          <p:nvPr>
            <p:ph sz="quarter" idx="1"/>
          </p:nvPr>
        </p:nvSpPr>
        <p:spPr>
          <a:xfrm>
            <a:off x="838200" y="1690688"/>
            <a:ext cx="10515600" cy="4351338"/>
          </a:xfrm>
        </p:spPr>
        <p:txBody>
          <a:bodyPr vert="horz" lIns="91440" tIns="45720" rIns="91440" bIns="45720" rtlCol="0" anchor="t">
            <a:normAutofit/>
          </a:bodyPr>
          <a:lstStyle/>
          <a:p>
            <a:pPr>
              <a:spcBef>
                <a:spcPts val="580"/>
              </a:spcBef>
              <a:spcAft>
                <a:spcPct val="0"/>
              </a:spcAft>
              <a:defRPr/>
            </a:pPr>
            <a:r>
              <a:rPr lang="en-US" dirty="0">
                <a:latin typeface="Aptos"/>
              </a:rPr>
              <a:t>Let’s use our </a:t>
            </a:r>
            <a:r>
              <a:rPr lang="en-US" b="1" dirty="0" err="1">
                <a:latin typeface="Aptos"/>
              </a:rPr>
              <a:t>HighArray</a:t>
            </a:r>
            <a:r>
              <a:rPr lang="en-US" dirty="0">
                <a:latin typeface="Aptos"/>
              </a:rPr>
              <a:t> class in our main java class</a:t>
            </a:r>
          </a:p>
          <a:p>
            <a:pPr>
              <a:spcBef>
                <a:spcPts val="580"/>
              </a:spcBef>
              <a:spcAft>
                <a:spcPct val="0"/>
              </a:spcAft>
              <a:defRPr/>
            </a:pPr>
            <a:endParaRPr lang="en-US" b="1" dirty="0">
              <a:latin typeface="Aptos"/>
            </a:endParaRPr>
          </a:p>
          <a:p>
            <a:pPr>
              <a:spcBef>
                <a:spcPts val="580"/>
              </a:spcBef>
              <a:spcAft>
                <a:spcPct val="0"/>
              </a:spcAft>
              <a:defRPr/>
            </a:pPr>
            <a:endParaRPr lang="en-US" b="1" dirty="0">
              <a:latin typeface="Aptos"/>
            </a:endParaRPr>
          </a:p>
          <a:p>
            <a:pPr>
              <a:spcBef>
                <a:spcPts val="580"/>
              </a:spcBef>
              <a:spcAft>
                <a:spcPct val="0"/>
              </a:spcAft>
              <a:defRPr/>
            </a:pPr>
            <a:endParaRPr lang="en-US" b="1" dirty="0">
              <a:latin typeface="Aptos"/>
            </a:endParaRPr>
          </a:p>
          <a:p>
            <a:pPr>
              <a:spcBef>
                <a:spcPts val="580"/>
              </a:spcBef>
              <a:spcAft>
                <a:spcPct val="0"/>
              </a:spcAft>
              <a:defRPr/>
            </a:pPr>
            <a:endParaRPr lang="en-US" b="1" dirty="0">
              <a:latin typeface="Aptos"/>
            </a:endParaRPr>
          </a:p>
          <a:p>
            <a:pPr>
              <a:spcBef>
                <a:spcPts val="580"/>
              </a:spcBef>
              <a:spcAft>
                <a:spcPct val="0"/>
              </a:spcAft>
              <a:defRPr/>
            </a:pPr>
            <a:r>
              <a:rPr lang="en-US" dirty="0">
                <a:latin typeface="Aptos"/>
              </a:rPr>
              <a:t>Now we have initialed a new </a:t>
            </a:r>
            <a:r>
              <a:rPr lang="en-US" b="1" dirty="0" err="1">
                <a:latin typeface="Aptos"/>
              </a:rPr>
              <a:t>HighArray</a:t>
            </a:r>
            <a:r>
              <a:rPr lang="en-US" dirty="0">
                <a:latin typeface="Aptos"/>
              </a:rPr>
              <a:t> object called </a:t>
            </a:r>
            <a:r>
              <a:rPr lang="en-US" b="1" dirty="0" err="1">
                <a:latin typeface="Aptos"/>
              </a:rPr>
              <a:t>arr</a:t>
            </a:r>
            <a:endParaRPr lang="en-US" b="1" dirty="0">
              <a:latin typeface="Aptos"/>
            </a:endParaRPr>
          </a:p>
          <a:p>
            <a:pPr>
              <a:spcBef>
                <a:spcPts val="580"/>
              </a:spcBef>
              <a:spcAft>
                <a:spcPct val="0"/>
              </a:spcAft>
              <a:defRPr/>
            </a:pPr>
            <a:r>
              <a:rPr lang="en-US" dirty="0">
                <a:latin typeface="Aptos"/>
              </a:rPr>
              <a:t>Inside the this </a:t>
            </a:r>
            <a:r>
              <a:rPr lang="en-US" b="1" dirty="0" err="1">
                <a:latin typeface="Aptos"/>
              </a:rPr>
              <a:t>arr</a:t>
            </a:r>
            <a:r>
              <a:rPr lang="en-US" b="1" dirty="0">
                <a:latin typeface="Aptos"/>
              </a:rPr>
              <a:t> </a:t>
            </a:r>
            <a:r>
              <a:rPr lang="en-US" dirty="0">
                <a:latin typeface="Aptos"/>
              </a:rPr>
              <a:t>there is an Array with size 10 that initially empty:</a:t>
            </a:r>
            <a:endParaRPr lang="en-US" b="1" dirty="0">
              <a:latin typeface="Aptos"/>
            </a:endParaRPr>
          </a:p>
          <a:p>
            <a:pPr marL="0" indent="0">
              <a:spcBef>
                <a:spcPts val="580"/>
              </a:spcBef>
              <a:spcAft>
                <a:spcPct val="0"/>
              </a:spcAft>
              <a:buNone/>
              <a:defRPr/>
            </a:pPr>
            <a:endParaRPr lang="en-US" b="1"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6" name="Picture 5">
            <a:extLst>
              <a:ext uri="{FF2B5EF4-FFF2-40B4-BE49-F238E27FC236}">
                <a16:creationId xmlns:a16="http://schemas.microsoft.com/office/drawing/2014/main" id="{C651F1DD-F8A9-50D3-8DF7-E4C0425DF0AE}"/>
              </a:ext>
            </a:extLst>
          </p:cNvPr>
          <p:cNvPicPr>
            <a:picLocks noChangeAspect="1"/>
          </p:cNvPicPr>
          <p:nvPr/>
        </p:nvPicPr>
        <p:blipFill>
          <a:blip r:embed="rId2"/>
          <a:srcRect r="25928"/>
          <a:stretch>
            <a:fillRect/>
          </a:stretch>
        </p:blipFill>
        <p:spPr>
          <a:xfrm>
            <a:off x="2403835" y="2148122"/>
            <a:ext cx="7384330" cy="1416375"/>
          </a:xfrm>
          <a:prstGeom prst="rect">
            <a:avLst/>
          </a:prstGeom>
        </p:spPr>
      </p:pic>
      <p:pic>
        <p:nvPicPr>
          <p:cNvPr id="9" name="Picture 8">
            <a:extLst>
              <a:ext uri="{FF2B5EF4-FFF2-40B4-BE49-F238E27FC236}">
                <a16:creationId xmlns:a16="http://schemas.microsoft.com/office/drawing/2014/main" id="{29285438-2F8B-C631-90E4-D81B6B49D501}"/>
              </a:ext>
            </a:extLst>
          </p:cNvPr>
          <p:cNvPicPr>
            <a:picLocks noChangeAspect="1"/>
          </p:cNvPicPr>
          <p:nvPr/>
        </p:nvPicPr>
        <p:blipFill>
          <a:blip r:embed="rId3">
            <a:extLst>
              <a:ext uri="{28A0092B-C50C-407E-A947-70E740481C1C}">
                <a14:useLocalDpi xmlns:a14="http://schemas.microsoft.com/office/drawing/2010/main" val="0"/>
              </a:ext>
            </a:extLst>
          </a:blip>
          <a:srcRect b="20509"/>
          <a:stretch>
            <a:fillRect/>
          </a:stretch>
        </p:blipFill>
        <p:spPr>
          <a:xfrm>
            <a:off x="2101446" y="4894295"/>
            <a:ext cx="8215353" cy="1462055"/>
          </a:xfrm>
          <a:prstGeom prst="rect">
            <a:avLst/>
          </a:prstGeom>
        </p:spPr>
      </p:pic>
    </p:spTree>
    <p:extLst>
      <p:ext uri="{BB962C8B-B14F-4D97-AF65-F5344CB8AC3E}">
        <p14:creationId xmlns:p14="http://schemas.microsoft.com/office/powerpoint/2010/main" val="32941722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5E46-8BB2-C3D9-F18B-BAE27383B3ED}"/>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FDEF293C-170A-541D-AFE0-9D1047BF47DA}"/>
              </a:ext>
            </a:extLst>
          </p:cNvPr>
          <p:cNvSpPr>
            <a:spLocks noGrp="1"/>
          </p:cNvSpPr>
          <p:nvPr>
            <p:ph type="title"/>
          </p:nvPr>
        </p:nvSpPr>
        <p:spPr/>
        <p:txBody>
          <a:bodyPr/>
          <a:lstStyle/>
          <a:p>
            <a:r>
              <a:rPr lang="en-US" dirty="0">
                <a:latin typeface="Segoe UI"/>
                <a:cs typeface="Segoe UI"/>
              </a:rPr>
              <a:t>Access an element</a:t>
            </a:r>
            <a:endParaRPr lang="en-US" dirty="0"/>
          </a:p>
        </p:txBody>
      </p:sp>
      <p:sp>
        <p:nvSpPr>
          <p:cNvPr id="3" name="Slide Number Placeholder 2">
            <a:extLst>
              <a:ext uri="{FF2B5EF4-FFF2-40B4-BE49-F238E27FC236}">
                <a16:creationId xmlns:a16="http://schemas.microsoft.com/office/drawing/2014/main" id="{B21C38CE-708A-EA3F-6A5C-622D0B406256}"/>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40</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BF01DBA3-225E-C489-C3E6-061025A5583B}"/>
              </a:ext>
            </a:extLst>
          </p:cNvPr>
          <p:cNvSpPr>
            <a:spLocks noGrp="1"/>
          </p:cNvSpPr>
          <p:nvPr>
            <p:ph sz="quarter" idx="1"/>
          </p:nvPr>
        </p:nvSpPr>
        <p:spPr>
          <a:xfrm>
            <a:off x="838200" y="1690688"/>
            <a:ext cx="10515600" cy="4351338"/>
          </a:xfrm>
        </p:spPr>
        <p:txBody>
          <a:bodyPr vert="horz" lIns="91440" tIns="45720" rIns="91440" bIns="45720" rtlCol="0" anchor="t">
            <a:normAutofit/>
          </a:bodyPr>
          <a:lstStyle/>
          <a:p>
            <a:pPr>
              <a:spcBef>
                <a:spcPts val="580"/>
              </a:spcBef>
              <a:spcAft>
                <a:spcPct val="0"/>
              </a:spcAft>
              <a:defRPr/>
            </a:pPr>
            <a:r>
              <a:rPr lang="en-US" dirty="0">
                <a:latin typeface="Aptos"/>
              </a:rPr>
              <a:t>What is the time complexity?</a:t>
            </a:r>
          </a:p>
          <a:p>
            <a:pPr marL="0" indent="0">
              <a:spcBef>
                <a:spcPts val="580"/>
              </a:spcBef>
              <a:spcAft>
                <a:spcPct val="0"/>
              </a:spcAft>
              <a:buNone/>
              <a:defRPr/>
            </a:pPr>
            <a:endParaRPr lang="en-US" b="1"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2" name="Picture 1" descr="1D Arrays in C: Declaration, Initialization and Accessing | Example Code">
            <a:extLst>
              <a:ext uri="{FF2B5EF4-FFF2-40B4-BE49-F238E27FC236}">
                <a16:creationId xmlns:a16="http://schemas.microsoft.com/office/drawing/2014/main" id="{82641A6B-94F7-ED19-E116-140FA86AB4A9}"/>
              </a:ext>
            </a:extLst>
          </p:cNvPr>
          <p:cNvPicPr>
            <a:picLocks noChangeAspect="1"/>
          </p:cNvPicPr>
          <p:nvPr/>
        </p:nvPicPr>
        <p:blipFill>
          <a:blip r:embed="rId2"/>
          <a:stretch>
            <a:fillRect/>
          </a:stretch>
        </p:blipFill>
        <p:spPr>
          <a:xfrm>
            <a:off x="2730675" y="2300266"/>
            <a:ext cx="8108514" cy="4199002"/>
          </a:xfrm>
          <a:prstGeom prst="rect">
            <a:avLst/>
          </a:prstGeom>
        </p:spPr>
      </p:pic>
    </p:spTree>
    <p:extLst>
      <p:ext uri="{BB962C8B-B14F-4D97-AF65-F5344CB8AC3E}">
        <p14:creationId xmlns:p14="http://schemas.microsoft.com/office/powerpoint/2010/main" val="1721613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1D454-467E-3450-DFA9-8EAB8C470332}"/>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29EA788F-A7B1-5337-95AF-CB4924DA6229}"/>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E315AB46-E2F2-B65D-F762-B2F5AB992395}"/>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41</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BEC55FE1-84F1-72E6-B620-9B568819F376}"/>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We have an empty array, so now how do we add data in?</a:t>
            </a:r>
          </a:p>
          <a:p>
            <a:pPr lvl="1">
              <a:spcBef>
                <a:spcPts val="580"/>
              </a:spcBef>
              <a:spcAft>
                <a:spcPct val="0"/>
              </a:spcAft>
              <a:defRPr/>
            </a:pPr>
            <a:r>
              <a:rPr lang="en-US" dirty="0">
                <a:latin typeface="Aptos"/>
              </a:rPr>
              <a:t>Here is our newly initialized array called </a:t>
            </a:r>
            <a:r>
              <a:rPr lang="en-US" b="1" dirty="0" err="1">
                <a:latin typeface="Aptos"/>
              </a:rPr>
              <a:t>arr</a:t>
            </a:r>
            <a:r>
              <a:rPr lang="en-US" dirty="0">
                <a:latin typeface="Aptos"/>
              </a:rPr>
              <a:t> with size 10:</a:t>
            </a:r>
          </a:p>
          <a:p>
            <a:pPr lvl="1">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r>
              <a:rPr lang="en-US" dirty="0">
                <a:latin typeface="Aptos"/>
              </a:rPr>
              <a:t>How do we </a:t>
            </a:r>
            <a:r>
              <a:rPr lang="en-US" b="1" dirty="0">
                <a:latin typeface="Aptos"/>
              </a:rPr>
              <a:t>insert</a:t>
            </a:r>
            <a:r>
              <a:rPr lang="en-US" dirty="0">
                <a:latin typeface="Aptos"/>
              </a:rPr>
              <a:t> a new element into the array?</a:t>
            </a:r>
          </a:p>
          <a:p>
            <a:pPr>
              <a:spcBef>
                <a:spcPts val="580"/>
              </a:spcBef>
              <a:spcAft>
                <a:spcPct val="0"/>
              </a:spcAft>
              <a:defRPr/>
            </a:pPr>
            <a:r>
              <a:rPr lang="en-US" dirty="0">
                <a:latin typeface="Aptos"/>
              </a:rPr>
              <a:t>Do we need to modify or add anything?</a:t>
            </a:r>
          </a:p>
          <a:p>
            <a:pPr>
              <a:spcBef>
                <a:spcPts val="580"/>
              </a:spcBef>
              <a:spcAft>
                <a:spcPct val="0"/>
              </a:spcAft>
              <a:defRPr/>
            </a:pPr>
            <a:endParaRPr lang="en-US" dirty="0">
              <a:latin typeface="Aptos"/>
            </a:endParaRPr>
          </a:p>
        </p:txBody>
      </p:sp>
      <p:pic>
        <p:nvPicPr>
          <p:cNvPr id="5" name="Picture 4">
            <a:extLst>
              <a:ext uri="{FF2B5EF4-FFF2-40B4-BE49-F238E27FC236}">
                <a16:creationId xmlns:a16="http://schemas.microsoft.com/office/drawing/2014/main" id="{ED603824-EA16-91B7-7CF2-8309F34E6E01}"/>
              </a:ext>
            </a:extLst>
          </p:cNvPr>
          <p:cNvPicPr>
            <a:picLocks noChangeAspect="1"/>
          </p:cNvPicPr>
          <p:nvPr/>
        </p:nvPicPr>
        <p:blipFill>
          <a:blip r:embed="rId2">
            <a:extLst>
              <a:ext uri="{28A0092B-C50C-407E-A947-70E740481C1C}">
                <a14:useLocalDpi xmlns:a14="http://schemas.microsoft.com/office/drawing/2010/main" val="0"/>
              </a:ext>
            </a:extLst>
          </a:blip>
          <a:srcRect b="20509"/>
          <a:stretch>
            <a:fillRect/>
          </a:stretch>
        </p:blipFill>
        <p:spPr>
          <a:xfrm>
            <a:off x="1988323" y="2872818"/>
            <a:ext cx="8215353" cy="1462055"/>
          </a:xfrm>
          <a:prstGeom prst="rect">
            <a:avLst/>
          </a:prstGeom>
        </p:spPr>
      </p:pic>
    </p:spTree>
    <p:extLst>
      <p:ext uri="{BB962C8B-B14F-4D97-AF65-F5344CB8AC3E}">
        <p14:creationId xmlns:p14="http://schemas.microsoft.com/office/powerpoint/2010/main" val="26127491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7C0A5-E735-047D-6F48-3160842786DD}"/>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6F151DFD-6FAE-2F36-011E-529C04858BF4}"/>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F6B38909-E3B7-ADC5-BEC8-E714EBE8030A}"/>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42</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8D7977BE-F769-2B67-D580-BD320FA8FB53}"/>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We will need a pointer to know where the next empty place inside the array to add new data</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New elements coming in, will be store at where the pointer is points</a:t>
            </a:r>
          </a:p>
          <a:p>
            <a:pPr>
              <a:spcBef>
                <a:spcPts val="580"/>
              </a:spcBef>
              <a:spcAft>
                <a:spcPct val="0"/>
              </a:spcAft>
              <a:defRPr/>
            </a:pPr>
            <a:r>
              <a:rPr lang="en-US" dirty="0">
                <a:latin typeface="Aptos"/>
              </a:rPr>
              <a:t>Then we will move the pointer forward by one slot</a:t>
            </a:r>
          </a:p>
        </p:txBody>
      </p:sp>
      <p:pic>
        <p:nvPicPr>
          <p:cNvPr id="8" name="Picture 7">
            <a:extLst>
              <a:ext uri="{FF2B5EF4-FFF2-40B4-BE49-F238E27FC236}">
                <a16:creationId xmlns:a16="http://schemas.microsoft.com/office/drawing/2014/main" id="{B3E56DBA-482B-453A-C98C-FA25AF13FE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3398" y="2783558"/>
            <a:ext cx="7525203" cy="1684747"/>
          </a:xfrm>
          <a:prstGeom prst="rect">
            <a:avLst/>
          </a:prstGeom>
        </p:spPr>
      </p:pic>
    </p:spTree>
    <p:extLst>
      <p:ext uri="{BB962C8B-B14F-4D97-AF65-F5344CB8AC3E}">
        <p14:creationId xmlns:p14="http://schemas.microsoft.com/office/powerpoint/2010/main" val="3326698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74E9-02C4-817E-967A-C0AC62F7441F}"/>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E7972FF6-430D-185C-60CD-1176E0EA184C}"/>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5A30C9DA-5CCD-67D7-3F66-63EEF797C106}"/>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43</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A16324E3-9BCF-D644-91CE-A8FE5CF50745}"/>
              </a:ext>
            </a:extLst>
          </p:cNvPr>
          <p:cNvSpPr>
            <a:spLocks noGrp="1"/>
          </p:cNvSpPr>
          <p:nvPr>
            <p:ph sz="quarter" idx="1"/>
          </p:nvPr>
        </p:nvSpPr>
        <p:spPr>
          <a:xfrm>
            <a:off x="838200" y="1825625"/>
            <a:ext cx="10515600" cy="4895850"/>
          </a:xfrm>
        </p:spPr>
        <p:txBody>
          <a:bodyPr vert="horz" lIns="91440" tIns="45720" rIns="91440" bIns="45720" rtlCol="0" anchor="t">
            <a:normAutofit/>
          </a:bodyPr>
          <a:lstStyle/>
          <a:p>
            <a:pPr>
              <a:spcBef>
                <a:spcPts val="580"/>
              </a:spcBef>
              <a:spcAft>
                <a:spcPct val="0"/>
              </a:spcAft>
              <a:defRPr/>
            </a:pPr>
            <a:r>
              <a:rPr lang="en-US" dirty="0">
                <a:latin typeface="Aptos"/>
              </a:rPr>
              <a:t>The pointers can just be an int </a:t>
            </a:r>
            <a:r>
              <a:rPr lang="en-US" dirty="0" err="1">
                <a:latin typeface="Aptos"/>
              </a:rPr>
              <a:t>nElems</a:t>
            </a:r>
            <a:endParaRPr lang="en-US" dirty="0">
              <a:latin typeface="Aptos"/>
            </a:endParaRPr>
          </a:p>
          <a:p>
            <a:pPr lvl="1">
              <a:spcBef>
                <a:spcPts val="580"/>
              </a:spcBef>
              <a:spcAft>
                <a:spcPct val="0"/>
              </a:spcAft>
              <a:defRPr/>
            </a:pPr>
            <a:r>
              <a:rPr lang="en-US" dirty="0">
                <a:latin typeface="Aptos"/>
              </a:rPr>
              <a:t>It store the index</a:t>
            </a:r>
          </a:p>
          <a:p>
            <a:pPr>
              <a:spcBef>
                <a:spcPts val="580"/>
              </a:spcBef>
              <a:spcAft>
                <a:spcPct val="0"/>
              </a:spcAft>
              <a:defRPr/>
            </a:pPr>
            <a:r>
              <a:rPr lang="en-US" dirty="0">
                <a:latin typeface="Aptos"/>
              </a:rPr>
              <a:t>Let modify and add this pointer in our </a:t>
            </a:r>
            <a:r>
              <a:rPr lang="en-US" dirty="0" err="1">
                <a:latin typeface="Aptos"/>
              </a:rPr>
              <a:t>HighArray</a:t>
            </a:r>
            <a:r>
              <a:rPr lang="en-US" dirty="0">
                <a:latin typeface="Aptos"/>
              </a:rPr>
              <a:t> class, including the constructor</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Do our insert method need any parameter?</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6" name="Picture 5">
            <a:extLst>
              <a:ext uri="{FF2B5EF4-FFF2-40B4-BE49-F238E27FC236}">
                <a16:creationId xmlns:a16="http://schemas.microsoft.com/office/drawing/2014/main" id="{5A60FF14-8258-8A8A-59B2-E16479776E87}"/>
              </a:ext>
            </a:extLst>
          </p:cNvPr>
          <p:cNvPicPr>
            <a:picLocks noChangeAspect="1"/>
          </p:cNvPicPr>
          <p:nvPr/>
        </p:nvPicPr>
        <p:blipFill>
          <a:blip r:embed="rId2"/>
          <a:srcRect r="22237"/>
          <a:stretch>
            <a:fillRect/>
          </a:stretch>
        </p:blipFill>
        <p:spPr>
          <a:xfrm>
            <a:off x="2652847" y="3510930"/>
            <a:ext cx="6886306" cy="2383228"/>
          </a:xfrm>
          <a:prstGeom prst="rect">
            <a:avLst/>
          </a:prstGeom>
        </p:spPr>
      </p:pic>
    </p:spTree>
    <p:extLst>
      <p:ext uri="{BB962C8B-B14F-4D97-AF65-F5344CB8AC3E}">
        <p14:creationId xmlns:p14="http://schemas.microsoft.com/office/powerpoint/2010/main" val="3891034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256E2-9639-5FD4-93A1-767DCB6B6532}"/>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E28A7C90-4CCD-B06D-7080-2FBA6DB12846}"/>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3FF0164E-5A7D-3AAE-D072-6416F559C015}"/>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44</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80BDC6C1-8730-0F53-2D19-881AB8937DC8}"/>
              </a:ext>
            </a:extLst>
          </p:cNvPr>
          <p:cNvSpPr>
            <a:spLocks noGrp="1"/>
          </p:cNvSpPr>
          <p:nvPr>
            <p:ph sz="quarter" idx="1"/>
          </p:nvPr>
        </p:nvSpPr>
        <p:spPr/>
        <p:txBody>
          <a:bodyPr vert="horz" lIns="91440" tIns="45720" rIns="91440" bIns="45720" rtlCol="0" anchor="t">
            <a:normAutofit/>
          </a:bodyPr>
          <a:lstStyle/>
          <a:p>
            <a:pPr>
              <a:spcBef>
                <a:spcPts val="580"/>
              </a:spcBef>
              <a:spcAft>
                <a:spcPct val="0"/>
              </a:spcAft>
              <a:defRPr/>
            </a:pPr>
            <a:r>
              <a:rPr lang="en-US" dirty="0">
                <a:latin typeface="Aptos"/>
              </a:rPr>
              <a:t>Our insert method:</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One parameters which is the new element</a:t>
            </a:r>
          </a:p>
          <a:p>
            <a:pPr>
              <a:spcBef>
                <a:spcPts val="580"/>
              </a:spcBef>
              <a:spcAft>
                <a:spcPct val="0"/>
              </a:spcAft>
              <a:defRPr/>
            </a:pPr>
            <a:r>
              <a:rPr lang="en-US" dirty="0">
                <a:latin typeface="Aptos"/>
              </a:rPr>
              <a:t>Store it at </a:t>
            </a:r>
            <a:r>
              <a:rPr lang="en-US" dirty="0" err="1">
                <a:latin typeface="Aptos"/>
              </a:rPr>
              <a:t>nElems</a:t>
            </a:r>
            <a:r>
              <a:rPr lang="en-US" dirty="0">
                <a:latin typeface="Aptos"/>
              </a:rPr>
              <a:t> </a:t>
            </a:r>
          </a:p>
          <a:p>
            <a:pPr>
              <a:spcBef>
                <a:spcPts val="580"/>
              </a:spcBef>
              <a:spcAft>
                <a:spcPct val="0"/>
              </a:spcAft>
              <a:defRPr/>
            </a:pPr>
            <a:r>
              <a:rPr lang="en-US" dirty="0">
                <a:latin typeface="Aptos"/>
              </a:rPr>
              <a:t>Then move </a:t>
            </a:r>
            <a:r>
              <a:rPr lang="en-US" dirty="0" err="1">
                <a:latin typeface="Aptos"/>
              </a:rPr>
              <a:t>nElems</a:t>
            </a:r>
            <a:r>
              <a:rPr lang="en-US" dirty="0">
                <a:latin typeface="Aptos"/>
              </a:rPr>
              <a:t> to the next index</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5" name="Picture 4">
            <a:extLst>
              <a:ext uri="{FF2B5EF4-FFF2-40B4-BE49-F238E27FC236}">
                <a16:creationId xmlns:a16="http://schemas.microsoft.com/office/drawing/2014/main" id="{570966ED-6BC0-7072-A6FE-7FC15F41B281}"/>
              </a:ext>
            </a:extLst>
          </p:cNvPr>
          <p:cNvPicPr>
            <a:picLocks noChangeAspect="1"/>
          </p:cNvPicPr>
          <p:nvPr/>
        </p:nvPicPr>
        <p:blipFill>
          <a:blip r:embed="rId2"/>
          <a:stretch>
            <a:fillRect/>
          </a:stretch>
        </p:blipFill>
        <p:spPr>
          <a:xfrm>
            <a:off x="1005526" y="2440354"/>
            <a:ext cx="10180948" cy="1446474"/>
          </a:xfrm>
          <a:prstGeom prst="rect">
            <a:avLst/>
          </a:prstGeom>
        </p:spPr>
      </p:pic>
    </p:spTree>
    <p:extLst>
      <p:ext uri="{BB962C8B-B14F-4D97-AF65-F5344CB8AC3E}">
        <p14:creationId xmlns:p14="http://schemas.microsoft.com/office/powerpoint/2010/main" val="144262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5032-F713-417A-2D68-C54772DB7706}"/>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82C50D7E-BAE1-8EF6-666C-F623B2869399}"/>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B32BF5E7-1C15-E0FF-64EC-6813FA58378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45</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A791E309-64D2-FD3A-92B1-D4A13913C1E0}"/>
              </a:ext>
            </a:extLst>
          </p:cNvPr>
          <p:cNvSpPr>
            <a:spLocks noGrp="1"/>
          </p:cNvSpPr>
          <p:nvPr>
            <p:ph sz="quarter" idx="1"/>
          </p:nvPr>
        </p:nvSpPr>
        <p:spPr>
          <a:xfrm>
            <a:off x="838200" y="1825625"/>
            <a:ext cx="10515600" cy="4895850"/>
          </a:xfrm>
        </p:spPr>
        <p:txBody>
          <a:bodyPr vert="horz" lIns="91440" tIns="45720" rIns="91440" bIns="45720" rtlCol="0" anchor="t">
            <a:normAutofit/>
          </a:bodyPr>
          <a:lstStyle/>
          <a:p>
            <a:pPr>
              <a:spcBef>
                <a:spcPts val="580"/>
              </a:spcBef>
              <a:spcAft>
                <a:spcPct val="0"/>
              </a:spcAft>
              <a:defRPr/>
            </a:pPr>
            <a:r>
              <a:rPr lang="en-US" dirty="0">
                <a:latin typeface="Aptos"/>
              </a:rPr>
              <a:t>In our main, when we add new elements: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r>
              <a:rPr lang="en-US" dirty="0">
                <a:latin typeface="Aptos"/>
              </a:rPr>
              <a:t>New element is store at the pointer </a:t>
            </a:r>
            <a:r>
              <a:rPr lang="en-US" dirty="0" err="1">
                <a:latin typeface="Aptos"/>
              </a:rPr>
              <a:t>nElems</a:t>
            </a:r>
            <a:r>
              <a:rPr lang="en-US" dirty="0">
                <a:latin typeface="Aptos"/>
              </a:rPr>
              <a:t> and it will move by one</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8" name="Picture 7">
            <a:extLst>
              <a:ext uri="{FF2B5EF4-FFF2-40B4-BE49-F238E27FC236}">
                <a16:creationId xmlns:a16="http://schemas.microsoft.com/office/drawing/2014/main" id="{80E5543F-DB72-0789-C250-C4BE46D790A8}"/>
              </a:ext>
            </a:extLst>
          </p:cNvPr>
          <p:cNvPicPr>
            <a:picLocks noChangeAspect="1"/>
          </p:cNvPicPr>
          <p:nvPr/>
        </p:nvPicPr>
        <p:blipFill>
          <a:blip r:embed="rId2"/>
          <a:stretch>
            <a:fillRect/>
          </a:stretch>
        </p:blipFill>
        <p:spPr>
          <a:xfrm>
            <a:off x="1051253" y="2462539"/>
            <a:ext cx="10089491" cy="1433480"/>
          </a:xfrm>
          <a:prstGeom prst="rect">
            <a:avLst/>
          </a:prstGeom>
        </p:spPr>
      </p:pic>
      <p:pic>
        <p:nvPicPr>
          <p:cNvPr id="10" name="Picture 9">
            <a:extLst>
              <a:ext uri="{FF2B5EF4-FFF2-40B4-BE49-F238E27FC236}">
                <a16:creationId xmlns:a16="http://schemas.microsoft.com/office/drawing/2014/main" id="{2060A08F-386B-9AD0-0E2B-732EA5DFB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6697" y="3968038"/>
            <a:ext cx="7338602" cy="1642971"/>
          </a:xfrm>
          <a:prstGeom prst="rect">
            <a:avLst/>
          </a:prstGeom>
        </p:spPr>
      </p:pic>
      <p:pic>
        <p:nvPicPr>
          <p:cNvPr id="11" name="Picture 10">
            <a:extLst>
              <a:ext uri="{FF2B5EF4-FFF2-40B4-BE49-F238E27FC236}">
                <a16:creationId xmlns:a16="http://schemas.microsoft.com/office/drawing/2014/main" id="{DF49C6BE-E0D0-FB66-B99A-6FB61E4851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9315" y="445656"/>
            <a:ext cx="5201429" cy="1164499"/>
          </a:xfrm>
          <a:prstGeom prst="rect">
            <a:avLst/>
          </a:prstGeom>
        </p:spPr>
      </p:pic>
    </p:spTree>
    <p:extLst>
      <p:ext uri="{BB962C8B-B14F-4D97-AF65-F5344CB8AC3E}">
        <p14:creationId xmlns:p14="http://schemas.microsoft.com/office/powerpoint/2010/main" val="1195003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F767-60C4-8E74-63E5-AFF45F3DF63C}"/>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BE44B0C0-0FBB-1A33-1344-8443E838A6C1}"/>
              </a:ext>
            </a:extLst>
          </p:cNvPr>
          <p:cNvSpPr>
            <a:spLocks noGrp="1"/>
          </p:cNvSpPr>
          <p:nvPr>
            <p:ph type="title"/>
          </p:nvPr>
        </p:nvSpPr>
        <p:spPr/>
        <p:txBody>
          <a:bodyPr/>
          <a:lstStyle/>
          <a:p>
            <a:r>
              <a:rPr lang="en-US" dirty="0">
                <a:latin typeface="Segoe UI"/>
                <a:cs typeface="Segoe UI"/>
              </a:rPr>
              <a:t>Insert an element</a:t>
            </a:r>
            <a:endParaRPr lang="en-US" dirty="0"/>
          </a:p>
        </p:txBody>
      </p:sp>
      <p:sp>
        <p:nvSpPr>
          <p:cNvPr id="3" name="Slide Number Placeholder 2">
            <a:extLst>
              <a:ext uri="{FF2B5EF4-FFF2-40B4-BE49-F238E27FC236}">
                <a16:creationId xmlns:a16="http://schemas.microsoft.com/office/drawing/2014/main" id="{50684739-EA7F-A85D-9B0E-92976F9867E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46</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4719C24F-C911-62AA-DFAF-2E1CBF686D01}"/>
              </a:ext>
            </a:extLst>
          </p:cNvPr>
          <p:cNvSpPr>
            <a:spLocks noGrp="1"/>
          </p:cNvSpPr>
          <p:nvPr>
            <p:ph sz="quarter" idx="1"/>
          </p:nvPr>
        </p:nvSpPr>
        <p:spPr>
          <a:xfrm>
            <a:off x="838200" y="1825625"/>
            <a:ext cx="10515600" cy="4895850"/>
          </a:xfrm>
        </p:spPr>
        <p:txBody>
          <a:bodyPr vert="horz" lIns="91440" tIns="45720" rIns="91440" bIns="45720" rtlCol="0" anchor="t">
            <a:normAutofit/>
          </a:bodyPr>
          <a:lstStyle/>
          <a:p>
            <a:pPr>
              <a:spcBef>
                <a:spcPts val="580"/>
              </a:spcBef>
              <a:spcAft>
                <a:spcPct val="0"/>
              </a:spcAft>
              <a:defRPr/>
            </a:pPr>
            <a:r>
              <a:rPr lang="en-US" dirty="0">
                <a:latin typeface="Aptos"/>
              </a:rPr>
              <a:t>Let’s insert more elements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So what is the </a:t>
            </a:r>
            <a:r>
              <a:rPr lang="en-US" b="1" dirty="0">
                <a:latin typeface="Aptos"/>
              </a:rPr>
              <a:t>time complexity </a:t>
            </a:r>
            <a:r>
              <a:rPr lang="en-US" dirty="0">
                <a:latin typeface="Aptos"/>
              </a:rPr>
              <a:t>for </a:t>
            </a:r>
            <a:r>
              <a:rPr lang="en-US" b="1" dirty="0">
                <a:latin typeface="Aptos"/>
              </a:rPr>
              <a:t>insert</a:t>
            </a:r>
            <a:r>
              <a:rPr lang="en-US" dirty="0">
                <a:latin typeface="Aptos"/>
              </a:rPr>
              <a:t>?</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5" name="Picture 4">
            <a:extLst>
              <a:ext uri="{FF2B5EF4-FFF2-40B4-BE49-F238E27FC236}">
                <a16:creationId xmlns:a16="http://schemas.microsoft.com/office/drawing/2014/main" id="{6DDD8B38-D696-A2C4-D001-5D29564F1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1426" y="2450904"/>
            <a:ext cx="5920848" cy="1325563"/>
          </a:xfrm>
          <a:prstGeom prst="rect">
            <a:avLst/>
          </a:prstGeom>
        </p:spPr>
      </p:pic>
      <p:pic>
        <p:nvPicPr>
          <p:cNvPr id="7" name="Picture 6">
            <a:extLst>
              <a:ext uri="{FF2B5EF4-FFF2-40B4-BE49-F238E27FC236}">
                <a16:creationId xmlns:a16="http://schemas.microsoft.com/office/drawing/2014/main" id="{C8CA1623-5AEA-F716-9A97-8264541F02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1426" y="4401746"/>
            <a:ext cx="5920844" cy="1325562"/>
          </a:xfrm>
          <a:prstGeom prst="rect">
            <a:avLst/>
          </a:prstGeom>
        </p:spPr>
      </p:pic>
      <p:pic>
        <p:nvPicPr>
          <p:cNvPr id="13" name="Picture 12">
            <a:extLst>
              <a:ext uri="{FF2B5EF4-FFF2-40B4-BE49-F238E27FC236}">
                <a16:creationId xmlns:a16="http://schemas.microsoft.com/office/drawing/2014/main" id="{C8EED55C-596A-D95F-064C-64CCFC1940A0}"/>
              </a:ext>
            </a:extLst>
          </p:cNvPr>
          <p:cNvPicPr>
            <a:picLocks noChangeAspect="1"/>
          </p:cNvPicPr>
          <p:nvPr/>
        </p:nvPicPr>
        <p:blipFill>
          <a:blip r:embed="rId4"/>
          <a:srcRect r="26701"/>
          <a:stretch>
            <a:fillRect/>
          </a:stretch>
        </p:blipFill>
        <p:spPr>
          <a:xfrm>
            <a:off x="77908" y="4319722"/>
            <a:ext cx="5668421" cy="1489609"/>
          </a:xfrm>
          <a:prstGeom prst="rect">
            <a:avLst/>
          </a:prstGeom>
        </p:spPr>
      </p:pic>
      <p:pic>
        <p:nvPicPr>
          <p:cNvPr id="15" name="Picture 14">
            <a:extLst>
              <a:ext uri="{FF2B5EF4-FFF2-40B4-BE49-F238E27FC236}">
                <a16:creationId xmlns:a16="http://schemas.microsoft.com/office/drawing/2014/main" id="{9CF8EF32-71EF-A37D-B6A7-673E38F83332}"/>
              </a:ext>
            </a:extLst>
          </p:cNvPr>
          <p:cNvPicPr>
            <a:picLocks noChangeAspect="1"/>
          </p:cNvPicPr>
          <p:nvPr/>
        </p:nvPicPr>
        <p:blipFill>
          <a:blip r:embed="rId5"/>
          <a:srcRect r="24258"/>
          <a:stretch>
            <a:fillRect/>
          </a:stretch>
        </p:blipFill>
        <p:spPr>
          <a:xfrm>
            <a:off x="77908" y="2501506"/>
            <a:ext cx="5564125" cy="1224358"/>
          </a:xfrm>
          <a:prstGeom prst="rect">
            <a:avLst/>
          </a:prstGeom>
        </p:spPr>
      </p:pic>
    </p:spTree>
    <p:extLst>
      <p:ext uri="{BB962C8B-B14F-4D97-AF65-F5344CB8AC3E}">
        <p14:creationId xmlns:p14="http://schemas.microsoft.com/office/powerpoint/2010/main" val="4190091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21C9E-2FF9-F09F-4307-D3A670EE1FB7}"/>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887235D9-A26D-66AF-CD4A-1091C22235A6}"/>
              </a:ext>
            </a:extLst>
          </p:cNvPr>
          <p:cNvSpPr>
            <a:spLocks noGrp="1"/>
          </p:cNvSpPr>
          <p:nvPr>
            <p:ph type="title"/>
          </p:nvPr>
        </p:nvSpPr>
        <p:spPr/>
        <p:txBody>
          <a:bodyPr/>
          <a:lstStyle/>
          <a:p>
            <a:r>
              <a:rPr lang="en-US" dirty="0">
                <a:latin typeface="Segoe UI"/>
                <a:cs typeface="Segoe UI"/>
              </a:rPr>
              <a:t>Search for an element</a:t>
            </a:r>
            <a:endParaRPr lang="en-US" dirty="0"/>
          </a:p>
        </p:txBody>
      </p:sp>
      <p:sp>
        <p:nvSpPr>
          <p:cNvPr id="3" name="Slide Number Placeholder 2">
            <a:extLst>
              <a:ext uri="{FF2B5EF4-FFF2-40B4-BE49-F238E27FC236}">
                <a16:creationId xmlns:a16="http://schemas.microsoft.com/office/drawing/2014/main" id="{21E91AE3-7FC6-29DD-95DC-8FE88C7C9D55}"/>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47</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8CB8B9AC-2B12-0F17-A600-28278A43001D}"/>
              </a:ext>
            </a:extLst>
          </p:cNvPr>
          <p:cNvSpPr>
            <a:spLocks noGrp="1"/>
          </p:cNvSpPr>
          <p:nvPr>
            <p:ph sz="quarter" idx="1"/>
          </p:nvPr>
        </p:nvSpPr>
        <p:spPr>
          <a:xfrm>
            <a:off x="838200" y="1825625"/>
            <a:ext cx="10515600" cy="4895850"/>
          </a:xfrm>
        </p:spPr>
        <p:txBody>
          <a:bodyPr vert="horz" lIns="91440" tIns="45720" rIns="91440" bIns="45720" rtlCol="0" anchor="t">
            <a:normAutofit/>
          </a:bodyPr>
          <a:lstStyle/>
          <a:p>
            <a:pPr>
              <a:spcBef>
                <a:spcPts val="580"/>
              </a:spcBef>
              <a:spcAft>
                <a:spcPct val="0"/>
              </a:spcAft>
              <a:defRPr/>
            </a:pPr>
            <a:r>
              <a:rPr lang="en-US" dirty="0">
                <a:latin typeface="Aptos"/>
              </a:rPr>
              <a:t>Let’s fill our array</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How do we search?</a:t>
            </a:r>
          </a:p>
          <a:p>
            <a:pPr>
              <a:spcBef>
                <a:spcPts val="580"/>
              </a:spcBef>
              <a:spcAft>
                <a:spcPct val="0"/>
              </a:spcAft>
              <a:defRPr/>
            </a:pPr>
            <a:r>
              <a:rPr lang="en-US" dirty="0">
                <a:latin typeface="Aptos"/>
              </a:rPr>
              <a:t>What parameter do our search method need?</a:t>
            </a:r>
          </a:p>
          <a:p>
            <a:pPr>
              <a:spcBef>
                <a:spcPts val="580"/>
              </a:spcBef>
              <a:spcAft>
                <a:spcPct val="0"/>
              </a:spcAft>
              <a:defRPr/>
            </a:pPr>
            <a:r>
              <a:rPr lang="en-US" dirty="0">
                <a:latin typeface="Aptos"/>
              </a:rPr>
              <a:t>What searching algorithms should we use?</a:t>
            </a:r>
          </a:p>
          <a:p>
            <a:pPr lvl="1">
              <a:spcBef>
                <a:spcPts val="580"/>
              </a:spcBef>
              <a:spcAft>
                <a:spcPct val="0"/>
              </a:spcAft>
              <a:defRPr/>
            </a:pPr>
            <a:r>
              <a:rPr lang="en-US" dirty="0">
                <a:latin typeface="Aptos"/>
              </a:rPr>
              <a:t>Binary search?</a:t>
            </a:r>
          </a:p>
          <a:p>
            <a:pPr lvl="1">
              <a:spcBef>
                <a:spcPts val="580"/>
              </a:spcBef>
              <a:spcAft>
                <a:spcPct val="0"/>
              </a:spcAft>
              <a:defRPr/>
            </a:pPr>
            <a:r>
              <a:rPr lang="en-US" dirty="0">
                <a:latin typeface="Aptos"/>
              </a:rPr>
              <a:t>Linear/Brute Force search?</a:t>
            </a:r>
          </a:p>
          <a:p>
            <a:pPr lvl="1">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6" name="Picture 5">
            <a:extLst>
              <a:ext uri="{FF2B5EF4-FFF2-40B4-BE49-F238E27FC236}">
                <a16:creationId xmlns:a16="http://schemas.microsoft.com/office/drawing/2014/main" id="{EAF07A8F-6C38-67D3-A0CC-95AD61FF05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754" y="2412134"/>
            <a:ext cx="7486630" cy="1325563"/>
          </a:xfrm>
          <a:prstGeom prst="rect">
            <a:avLst/>
          </a:prstGeom>
        </p:spPr>
      </p:pic>
    </p:spTree>
    <p:extLst>
      <p:ext uri="{BB962C8B-B14F-4D97-AF65-F5344CB8AC3E}">
        <p14:creationId xmlns:p14="http://schemas.microsoft.com/office/powerpoint/2010/main" val="29904885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0C2D-9B47-44F3-7946-DD23B0ACFBA5}"/>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A9262057-5AD0-FF32-035D-A7C435EC387E}"/>
              </a:ext>
            </a:extLst>
          </p:cNvPr>
          <p:cNvSpPr>
            <a:spLocks noGrp="1"/>
          </p:cNvSpPr>
          <p:nvPr>
            <p:ph type="title"/>
          </p:nvPr>
        </p:nvSpPr>
        <p:spPr/>
        <p:txBody>
          <a:bodyPr/>
          <a:lstStyle/>
          <a:p>
            <a:r>
              <a:rPr lang="en-US" dirty="0">
                <a:latin typeface="Segoe UI"/>
                <a:cs typeface="Segoe UI"/>
              </a:rPr>
              <a:t>Search for an element</a:t>
            </a:r>
            <a:endParaRPr lang="en-US" dirty="0"/>
          </a:p>
        </p:txBody>
      </p:sp>
      <p:sp>
        <p:nvSpPr>
          <p:cNvPr id="3" name="Slide Number Placeholder 2">
            <a:extLst>
              <a:ext uri="{FF2B5EF4-FFF2-40B4-BE49-F238E27FC236}">
                <a16:creationId xmlns:a16="http://schemas.microsoft.com/office/drawing/2014/main" id="{1B2A0EBC-AA1A-0E7D-AD75-1E7CCF0B5A7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48</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54FD5029-795B-27B2-C56E-26F65FB26E48}"/>
              </a:ext>
            </a:extLst>
          </p:cNvPr>
          <p:cNvSpPr>
            <a:spLocks noGrp="1"/>
          </p:cNvSpPr>
          <p:nvPr>
            <p:ph sz="quarter" idx="1"/>
          </p:nvPr>
        </p:nvSpPr>
        <p:spPr>
          <a:xfrm>
            <a:off x="838200" y="1435836"/>
            <a:ext cx="10515600" cy="5422164"/>
          </a:xfrm>
        </p:spPr>
        <p:txBody>
          <a:bodyPr vert="horz" lIns="91440" tIns="45720" rIns="91440" bIns="45720" rtlCol="0" anchor="t">
            <a:normAutofit/>
          </a:bodyPr>
          <a:lstStyle/>
          <a:p>
            <a:pPr>
              <a:spcBef>
                <a:spcPts val="580"/>
              </a:spcBef>
              <a:spcAft>
                <a:spcPct val="0"/>
              </a:spcAft>
              <a:defRPr/>
            </a:pPr>
            <a:r>
              <a:rPr lang="en-US" dirty="0">
                <a:latin typeface="Aptos"/>
              </a:rPr>
              <a:t>Let’s fill our array</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The array is an </a:t>
            </a:r>
            <a:r>
              <a:rPr lang="en-US" b="1" dirty="0" err="1">
                <a:latin typeface="Aptos"/>
              </a:rPr>
              <a:t>UnorderedArray</a:t>
            </a:r>
            <a:r>
              <a:rPr lang="en-US" dirty="0">
                <a:latin typeface="Aptos"/>
              </a:rPr>
              <a:t>, meaning it is not sorted so we cannot use Binary Search</a:t>
            </a:r>
          </a:p>
          <a:p>
            <a:pPr>
              <a:spcBef>
                <a:spcPts val="580"/>
              </a:spcBef>
              <a:spcAft>
                <a:spcPct val="0"/>
              </a:spcAft>
              <a:defRPr/>
            </a:pPr>
            <a:r>
              <a:rPr lang="en-US" dirty="0">
                <a:latin typeface="Aptos"/>
              </a:rPr>
              <a:t>Binary Search can only be used if the linear data is sorted</a:t>
            </a:r>
          </a:p>
          <a:p>
            <a:pPr>
              <a:spcBef>
                <a:spcPts val="580"/>
              </a:spcBef>
              <a:spcAft>
                <a:spcPct val="0"/>
              </a:spcAft>
              <a:defRPr/>
            </a:pPr>
            <a:r>
              <a:rPr lang="en-US" dirty="0">
                <a:latin typeface="Aptos"/>
              </a:rPr>
              <a:t>Let’s use Linear/Brute Force Search as the algorithm for searching method in this </a:t>
            </a:r>
            <a:r>
              <a:rPr lang="en-US" b="1" dirty="0" err="1">
                <a:latin typeface="Aptos"/>
              </a:rPr>
              <a:t>UnorderedArray</a:t>
            </a:r>
            <a:r>
              <a:rPr lang="en-US" b="1" dirty="0">
                <a:latin typeface="Aptos"/>
              </a:rPr>
              <a:t> </a:t>
            </a:r>
            <a:r>
              <a:rPr lang="en-US" dirty="0">
                <a:latin typeface="Aptos"/>
              </a:rPr>
              <a:t>(</a:t>
            </a:r>
            <a:r>
              <a:rPr lang="en-US" b="1" dirty="0" err="1">
                <a:latin typeface="Aptos"/>
              </a:rPr>
              <a:t>HighArray</a:t>
            </a:r>
            <a:r>
              <a:rPr lang="en-US" dirty="0">
                <a:latin typeface="Aptos"/>
              </a:rPr>
              <a:t>)</a:t>
            </a:r>
          </a:p>
          <a:p>
            <a:pPr>
              <a:spcBef>
                <a:spcPts val="580"/>
              </a:spcBef>
              <a:spcAft>
                <a:spcPct val="0"/>
              </a:spcAft>
              <a:defRPr/>
            </a:pPr>
            <a:r>
              <a:rPr lang="en-US" sz="2400" b="1" dirty="0">
                <a:latin typeface="Aptos"/>
              </a:rPr>
              <a:t>Note</a:t>
            </a:r>
            <a:r>
              <a:rPr lang="en-US" sz="2400" dirty="0">
                <a:latin typeface="Aptos"/>
              </a:rPr>
              <a:t>: </a:t>
            </a:r>
            <a:r>
              <a:rPr lang="en-US" sz="2400" dirty="0" err="1">
                <a:latin typeface="Aptos"/>
              </a:rPr>
              <a:t>UnorderedArray</a:t>
            </a:r>
            <a:r>
              <a:rPr lang="en-US" sz="2400" dirty="0">
                <a:latin typeface="Aptos"/>
              </a:rPr>
              <a:t> is the correct term of this type of array</a:t>
            </a:r>
          </a:p>
          <a:p>
            <a:pPr marL="914400" lvl="2" indent="0">
              <a:spcBef>
                <a:spcPts val="580"/>
              </a:spcBef>
              <a:spcAft>
                <a:spcPct val="0"/>
              </a:spcAft>
              <a:buNone/>
              <a:defRPr/>
            </a:pPr>
            <a:r>
              <a:rPr lang="en-US" sz="2400" dirty="0">
                <a:latin typeface="Aptos"/>
              </a:rPr>
              <a:t>  </a:t>
            </a:r>
            <a:r>
              <a:rPr lang="en-US" sz="2400" dirty="0" err="1">
                <a:latin typeface="Aptos"/>
              </a:rPr>
              <a:t>HighArray</a:t>
            </a:r>
            <a:r>
              <a:rPr lang="en-US" sz="2400" dirty="0">
                <a:latin typeface="Aptos"/>
              </a:rPr>
              <a:t> is just a name used by the book to describe interface implementation</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6" name="Picture 5">
            <a:extLst>
              <a:ext uri="{FF2B5EF4-FFF2-40B4-BE49-F238E27FC236}">
                <a16:creationId xmlns:a16="http://schemas.microsoft.com/office/drawing/2014/main" id="{3E53F0B7-5498-E68F-76BC-6C2BFF58B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608" y="1931367"/>
            <a:ext cx="7486630" cy="1325563"/>
          </a:xfrm>
          <a:prstGeom prst="rect">
            <a:avLst/>
          </a:prstGeom>
        </p:spPr>
      </p:pic>
    </p:spTree>
    <p:extLst>
      <p:ext uri="{BB962C8B-B14F-4D97-AF65-F5344CB8AC3E}">
        <p14:creationId xmlns:p14="http://schemas.microsoft.com/office/powerpoint/2010/main" val="10565950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698E9-5754-0A2F-E83D-F24327FC6023}"/>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66444C5A-263D-12CE-C45C-2B7BC5400C0C}"/>
              </a:ext>
            </a:extLst>
          </p:cNvPr>
          <p:cNvSpPr>
            <a:spLocks noGrp="1"/>
          </p:cNvSpPr>
          <p:nvPr>
            <p:ph type="title"/>
          </p:nvPr>
        </p:nvSpPr>
        <p:spPr/>
        <p:txBody>
          <a:bodyPr/>
          <a:lstStyle/>
          <a:p>
            <a:r>
              <a:rPr lang="en-US" dirty="0">
                <a:latin typeface="Segoe UI"/>
                <a:cs typeface="Segoe UI"/>
              </a:rPr>
              <a:t>Search for an element</a:t>
            </a:r>
            <a:endParaRPr lang="en-US" dirty="0"/>
          </a:p>
        </p:txBody>
      </p:sp>
      <p:sp>
        <p:nvSpPr>
          <p:cNvPr id="3" name="Slide Number Placeholder 2">
            <a:extLst>
              <a:ext uri="{FF2B5EF4-FFF2-40B4-BE49-F238E27FC236}">
                <a16:creationId xmlns:a16="http://schemas.microsoft.com/office/drawing/2014/main" id="{7A5BBDED-A64A-4628-2595-64865307FF32}"/>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49</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E9B176E6-0447-C7D5-5A3A-4F4747E12FAB}"/>
              </a:ext>
            </a:extLst>
          </p:cNvPr>
          <p:cNvSpPr>
            <a:spLocks noGrp="1"/>
          </p:cNvSpPr>
          <p:nvPr>
            <p:ph sz="quarter" idx="1"/>
          </p:nvPr>
        </p:nvSpPr>
        <p:spPr>
          <a:xfrm>
            <a:off x="838200" y="1435836"/>
            <a:ext cx="10515600" cy="5422164"/>
          </a:xfrm>
        </p:spPr>
        <p:txBody>
          <a:bodyPr vert="horz" lIns="91440" tIns="45720" rIns="91440" bIns="45720" rtlCol="0" anchor="t">
            <a:normAutofit fontScale="92500" lnSpcReduction="20000"/>
          </a:bodyPr>
          <a:lstStyle/>
          <a:p>
            <a:pPr>
              <a:spcBef>
                <a:spcPts val="580"/>
              </a:spcBef>
              <a:spcAft>
                <a:spcPct val="0"/>
              </a:spcAft>
              <a:defRPr/>
            </a:pPr>
            <a:r>
              <a:rPr lang="en-US" dirty="0">
                <a:latin typeface="Aptos"/>
              </a:rPr>
              <a:t>In the book example, it return </a:t>
            </a:r>
            <a:r>
              <a:rPr lang="en-US" b="1" dirty="0">
                <a:latin typeface="Aptos"/>
              </a:rPr>
              <a:t>true</a:t>
            </a:r>
            <a:r>
              <a:rPr lang="en-US" dirty="0">
                <a:latin typeface="Aptos"/>
              </a:rPr>
              <a:t> if found and </a:t>
            </a:r>
            <a:r>
              <a:rPr lang="en-US" b="1" dirty="0">
                <a:latin typeface="Aptos"/>
              </a:rPr>
              <a:t>false</a:t>
            </a:r>
            <a:r>
              <a:rPr lang="en-US" dirty="0">
                <a:latin typeface="Aptos"/>
              </a:rPr>
              <a:t> if not found</a:t>
            </a:r>
          </a:p>
          <a:p>
            <a:pPr>
              <a:spcBef>
                <a:spcPts val="580"/>
              </a:spcBef>
              <a:spcAft>
                <a:spcPct val="0"/>
              </a:spcAft>
              <a:defRPr/>
            </a:pPr>
            <a:r>
              <a:rPr lang="en-US" dirty="0">
                <a:latin typeface="Aptos"/>
              </a:rPr>
              <a:t>We could also implement it to return the </a:t>
            </a:r>
            <a:r>
              <a:rPr lang="en-US" b="1" dirty="0">
                <a:latin typeface="Aptos"/>
              </a:rPr>
              <a:t>index</a:t>
            </a:r>
            <a:r>
              <a:rPr lang="en-US" dirty="0">
                <a:latin typeface="Aptos"/>
              </a:rPr>
              <a:t> instead </a:t>
            </a:r>
          </a:p>
          <a:p>
            <a:pPr>
              <a:spcBef>
                <a:spcPts val="580"/>
              </a:spcBef>
              <a:spcAft>
                <a:spcPct val="0"/>
              </a:spcAft>
              <a:defRPr/>
            </a:pPr>
            <a:r>
              <a:rPr lang="en-US" dirty="0">
                <a:latin typeface="Aptos"/>
              </a:rPr>
              <a:t>Implementation of our search method</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r>
              <a:rPr lang="en-US" dirty="0">
                <a:latin typeface="Aptos"/>
              </a:rPr>
              <a:t>Usage in main:</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Print out result if 7 is found or not</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5" name="Picture 4">
            <a:extLst>
              <a:ext uri="{FF2B5EF4-FFF2-40B4-BE49-F238E27FC236}">
                <a16:creationId xmlns:a16="http://schemas.microsoft.com/office/drawing/2014/main" id="{12D0A2CD-C236-58BE-22AF-E94C4782606F}"/>
              </a:ext>
            </a:extLst>
          </p:cNvPr>
          <p:cNvPicPr>
            <a:picLocks noChangeAspect="1"/>
          </p:cNvPicPr>
          <p:nvPr/>
        </p:nvPicPr>
        <p:blipFill>
          <a:blip r:embed="rId2"/>
          <a:srcRect r="18735"/>
          <a:stretch>
            <a:fillRect/>
          </a:stretch>
        </p:blipFill>
        <p:spPr>
          <a:xfrm>
            <a:off x="2425046" y="2451583"/>
            <a:ext cx="5408628" cy="1954834"/>
          </a:xfrm>
          <a:prstGeom prst="rect">
            <a:avLst/>
          </a:prstGeom>
        </p:spPr>
      </p:pic>
      <p:pic>
        <p:nvPicPr>
          <p:cNvPr id="8" name="Picture 7">
            <a:extLst>
              <a:ext uri="{FF2B5EF4-FFF2-40B4-BE49-F238E27FC236}">
                <a16:creationId xmlns:a16="http://schemas.microsoft.com/office/drawing/2014/main" id="{A5800893-276A-EB98-C9D7-73E0142B7D64}"/>
              </a:ext>
            </a:extLst>
          </p:cNvPr>
          <p:cNvPicPr>
            <a:picLocks noChangeAspect="1"/>
          </p:cNvPicPr>
          <p:nvPr/>
        </p:nvPicPr>
        <p:blipFill>
          <a:blip r:embed="rId3"/>
          <a:stretch>
            <a:fillRect/>
          </a:stretch>
        </p:blipFill>
        <p:spPr>
          <a:xfrm>
            <a:off x="1608841" y="4915211"/>
            <a:ext cx="8044206" cy="1340701"/>
          </a:xfrm>
          <a:prstGeom prst="rect">
            <a:avLst/>
          </a:prstGeom>
        </p:spPr>
      </p:pic>
    </p:spTree>
    <p:extLst>
      <p:ext uri="{BB962C8B-B14F-4D97-AF65-F5344CB8AC3E}">
        <p14:creationId xmlns:p14="http://schemas.microsoft.com/office/powerpoint/2010/main" val="895538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FEB5B-E8DC-A39C-2A17-C6D101913508}"/>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CCF8018A-044E-3605-F705-E75EA8928E43}"/>
              </a:ext>
            </a:extLst>
          </p:cNvPr>
          <p:cNvSpPr>
            <a:spLocks noGrp="1"/>
          </p:cNvSpPr>
          <p:nvPr>
            <p:ph type="title"/>
          </p:nvPr>
        </p:nvSpPr>
        <p:spPr/>
        <p:txBody>
          <a:bodyPr/>
          <a:lstStyle/>
          <a:p>
            <a:r>
              <a:rPr lang="en-US" dirty="0">
                <a:latin typeface="Segoe UI"/>
                <a:cs typeface="Segoe UI"/>
              </a:rPr>
              <a:t>Search for an element</a:t>
            </a:r>
            <a:endParaRPr lang="en-US" dirty="0"/>
          </a:p>
        </p:txBody>
      </p:sp>
      <p:sp>
        <p:nvSpPr>
          <p:cNvPr id="3" name="Slide Number Placeholder 2">
            <a:extLst>
              <a:ext uri="{FF2B5EF4-FFF2-40B4-BE49-F238E27FC236}">
                <a16:creationId xmlns:a16="http://schemas.microsoft.com/office/drawing/2014/main" id="{C5B4EC4A-AD5C-4C1B-EB40-AD4485ECCF21}"/>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50</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57EE5E27-5158-D4F1-EBDB-4CC3A07E58B5}"/>
              </a:ext>
            </a:extLst>
          </p:cNvPr>
          <p:cNvSpPr>
            <a:spLocks noGrp="1"/>
          </p:cNvSpPr>
          <p:nvPr>
            <p:ph sz="quarter" idx="1"/>
          </p:nvPr>
        </p:nvSpPr>
        <p:spPr>
          <a:xfrm>
            <a:off x="838200" y="1435836"/>
            <a:ext cx="10515600" cy="5422164"/>
          </a:xfrm>
        </p:spPr>
        <p:txBody>
          <a:bodyPr vert="horz" lIns="91440" tIns="45720" rIns="91440" bIns="45720" rtlCol="0" anchor="t">
            <a:normAutofit/>
          </a:bodyPr>
          <a:lstStyle/>
          <a:p>
            <a:pPr>
              <a:spcBef>
                <a:spcPts val="580"/>
              </a:spcBef>
              <a:spcAft>
                <a:spcPct val="0"/>
              </a:spcAft>
              <a:defRPr/>
            </a:pPr>
            <a:r>
              <a:rPr lang="en-US" dirty="0">
                <a:latin typeface="Aptos"/>
              </a:rPr>
              <a:t>What is the </a:t>
            </a:r>
            <a:r>
              <a:rPr lang="en-US" b="1" dirty="0">
                <a:latin typeface="Aptos"/>
              </a:rPr>
              <a:t>time complexity </a:t>
            </a:r>
            <a:r>
              <a:rPr lang="en-US" dirty="0">
                <a:latin typeface="Aptos"/>
              </a:rPr>
              <a:t>for </a:t>
            </a:r>
            <a:r>
              <a:rPr lang="en-US" b="1" dirty="0">
                <a:latin typeface="Aptos"/>
              </a:rPr>
              <a:t>searching</a:t>
            </a:r>
            <a:r>
              <a:rPr lang="en-US" dirty="0">
                <a:latin typeface="Aptos"/>
              </a:rPr>
              <a:t> in this </a:t>
            </a:r>
            <a:r>
              <a:rPr lang="en-US" b="1" dirty="0" err="1">
                <a:latin typeface="Aptos"/>
              </a:rPr>
              <a:t>UnorderedArray</a:t>
            </a:r>
            <a:r>
              <a:rPr lang="en-US" dirty="0">
                <a:latin typeface="Aptos"/>
              </a:rPr>
              <a:t>?</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2" name="Picture 1">
            <a:extLst>
              <a:ext uri="{FF2B5EF4-FFF2-40B4-BE49-F238E27FC236}">
                <a16:creationId xmlns:a16="http://schemas.microsoft.com/office/drawing/2014/main" id="{1355D1F0-EB42-A52E-5F1D-8C2921456B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4315" y="4652565"/>
            <a:ext cx="7486630" cy="1325563"/>
          </a:xfrm>
          <a:prstGeom prst="rect">
            <a:avLst/>
          </a:prstGeom>
        </p:spPr>
      </p:pic>
      <p:pic>
        <p:nvPicPr>
          <p:cNvPr id="6" name="Picture 5">
            <a:extLst>
              <a:ext uri="{FF2B5EF4-FFF2-40B4-BE49-F238E27FC236}">
                <a16:creationId xmlns:a16="http://schemas.microsoft.com/office/drawing/2014/main" id="{F00CB707-7235-1687-3B70-398FC48B5204}"/>
              </a:ext>
            </a:extLst>
          </p:cNvPr>
          <p:cNvPicPr>
            <a:picLocks noChangeAspect="1"/>
          </p:cNvPicPr>
          <p:nvPr/>
        </p:nvPicPr>
        <p:blipFill>
          <a:blip r:embed="rId3"/>
          <a:srcRect r="18735"/>
          <a:stretch>
            <a:fillRect/>
          </a:stretch>
        </p:blipFill>
        <p:spPr>
          <a:xfrm>
            <a:off x="2718448" y="1911190"/>
            <a:ext cx="6538364" cy="2363153"/>
          </a:xfrm>
          <a:prstGeom prst="rect">
            <a:avLst/>
          </a:prstGeom>
        </p:spPr>
      </p:pic>
    </p:spTree>
    <p:extLst>
      <p:ext uri="{BB962C8B-B14F-4D97-AF65-F5344CB8AC3E}">
        <p14:creationId xmlns:p14="http://schemas.microsoft.com/office/powerpoint/2010/main" val="22090064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22C01-5C56-61E2-A638-C4E6377026A2}"/>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F6DAE474-81E1-2AF1-3B01-56B887B0B26D}"/>
              </a:ext>
            </a:extLst>
          </p:cNvPr>
          <p:cNvSpPr>
            <a:spLocks noGrp="1"/>
          </p:cNvSpPr>
          <p:nvPr>
            <p:ph type="title"/>
          </p:nvPr>
        </p:nvSpPr>
        <p:spPr/>
        <p:txBody>
          <a:bodyPr/>
          <a:lstStyle/>
          <a:p>
            <a:r>
              <a:rPr lang="en-US" dirty="0">
                <a:latin typeface="Segoe UI"/>
                <a:cs typeface="Segoe UI"/>
              </a:rPr>
              <a:t>Delete an element</a:t>
            </a:r>
            <a:endParaRPr lang="en-US" dirty="0"/>
          </a:p>
        </p:txBody>
      </p:sp>
      <p:sp>
        <p:nvSpPr>
          <p:cNvPr id="3" name="Slide Number Placeholder 2">
            <a:extLst>
              <a:ext uri="{FF2B5EF4-FFF2-40B4-BE49-F238E27FC236}">
                <a16:creationId xmlns:a16="http://schemas.microsoft.com/office/drawing/2014/main" id="{2CC6AA79-EBA1-8426-AEA4-049935DC3AD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51</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33183805-AE4B-5CEB-BD3D-F306D3C6B063}"/>
              </a:ext>
            </a:extLst>
          </p:cNvPr>
          <p:cNvSpPr>
            <a:spLocks noGrp="1"/>
          </p:cNvSpPr>
          <p:nvPr>
            <p:ph sz="quarter" idx="1"/>
          </p:nvPr>
        </p:nvSpPr>
        <p:spPr>
          <a:xfrm>
            <a:off x="838200" y="1621410"/>
            <a:ext cx="10515600" cy="4600281"/>
          </a:xfrm>
        </p:spPr>
        <p:txBody>
          <a:bodyPr vert="horz" lIns="91440" tIns="45720" rIns="91440" bIns="45720" rtlCol="0" anchor="t">
            <a:normAutofit/>
          </a:bodyPr>
          <a:lstStyle/>
          <a:p>
            <a:pPr>
              <a:spcBef>
                <a:spcPts val="580"/>
              </a:spcBef>
              <a:spcAft>
                <a:spcPct val="0"/>
              </a:spcAft>
              <a:defRPr/>
            </a:pPr>
            <a:r>
              <a:rPr lang="en-US" dirty="0">
                <a:latin typeface="Aptos"/>
              </a:rPr>
              <a:t>How should our delete methods be?</a:t>
            </a:r>
          </a:p>
          <a:p>
            <a:pPr>
              <a:spcBef>
                <a:spcPts val="580"/>
              </a:spcBef>
              <a:spcAft>
                <a:spcPct val="0"/>
              </a:spcAft>
              <a:defRPr/>
            </a:pPr>
            <a:r>
              <a:rPr lang="en-US" dirty="0">
                <a:latin typeface="Aptos"/>
              </a:rPr>
              <a:t>Need any parameters? What are they?</a:t>
            </a:r>
          </a:p>
          <a:p>
            <a:pPr>
              <a:spcBef>
                <a:spcPts val="580"/>
              </a:spcBef>
              <a:spcAft>
                <a:spcPct val="0"/>
              </a:spcAft>
              <a:defRPr/>
            </a:pPr>
            <a:endParaRPr lang="en-US" dirty="0">
              <a:latin typeface="Aptos"/>
            </a:endParaRPr>
          </a:p>
          <a:p>
            <a:pPr>
              <a:spcBef>
                <a:spcPts val="580"/>
              </a:spcBef>
              <a:spcAft>
                <a:spcPct val="0"/>
              </a:spcAft>
              <a:defRPr/>
            </a:pPr>
            <a:r>
              <a:rPr lang="en-US" dirty="0">
                <a:latin typeface="Aptos"/>
              </a:rPr>
              <a:t>How to implement it? </a:t>
            </a:r>
          </a:p>
          <a:p>
            <a:pPr>
              <a:spcBef>
                <a:spcPts val="580"/>
              </a:spcBef>
              <a:spcAft>
                <a:spcPct val="0"/>
              </a:spcAft>
              <a:defRPr/>
            </a:pPr>
            <a:r>
              <a:rPr lang="en-US" dirty="0">
                <a:latin typeface="Aptos"/>
              </a:rPr>
              <a:t>Any possible problem?</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spTree>
    <p:extLst>
      <p:ext uri="{BB962C8B-B14F-4D97-AF65-F5344CB8AC3E}">
        <p14:creationId xmlns:p14="http://schemas.microsoft.com/office/powerpoint/2010/main" val="26665796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B9C8A-BC4B-5885-58F4-6E214B75A885}"/>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5A61AB6A-35A5-7807-E5A6-920C8990F793}"/>
              </a:ext>
            </a:extLst>
          </p:cNvPr>
          <p:cNvSpPr>
            <a:spLocks noGrp="1"/>
          </p:cNvSpPr>
          <p:nvPr>
            <p:ph type="title"/>
          </p:nvPr>
        </p:nvSpPr>
        <p:spPr/>
        <p:txBody>
          <a:bodyPr/>
          <a:lstStyle/>
          <a:p>
            <a:r>
              <a:rPr lang="en-US" dirty="0">
                <a:latin typeface="Segoe UI"/>
                <a:cs typeface="Segoe UI"/>
              </a:rPr>
              <a:t>Delete an element</a:t>
            </a:r>
            <a:endParaRPr lang="en-US" dirty="0"/>
          </a:p>
        </p:txBody>
      </p:sp>
      <p:sp>
        <p:nvSpPr>
          <p:cNvPr id="3" name="Slide Number Placeholder 2">
            <a:extLst>
              <a:ext uri="{FF2B5EF4-FFF2-40B4-BE49-F238E27FC236}">
                <a16:creationId xmlns:a16="http://schemas.microsoft.com/office/drawing/2014/main" id="{68D17816-67C6-8AED-2FDB-FA2FC4B0D6FE}"/>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52</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5B698019-E76D-8E92-8D46-237E4CBD73E8}"/>
              </a:ext>
            </a:extLst>
          </p:cNvPr>
          <p:cNvSpPr>
            <a:spLocks noGrp="1"/>
          </p:cNvSpPr>
          <p:nvPr>
            <p:ph sz="quarter" idx="1"/>
          </p:nvPr>
        </p:nvSpPr>
        <p:spPr>
          <a:xfrm>
            <a:off x="838200" y="1621410"/>
            <a:ext cx="10515600" cy="4600281"/>
          </a:xfrm>
        </p:spPr>
        <p:txBody>
          <a:bodyPr vert="horz" lIns="91440" tIns="45720" rIns="91440" bIns="45720" rtlCol="0" anchor="t">
            <a:normAutofit/>
          </a:bodyPr>
          <a:lstStyle/>
          <a:p>
            <a:pPr>
              <a:spcBef>
                <a:spcPts val="580"/>
              </a:spcBef>
              <a:spcAft>
                <a:spcPct val="0"/>
              </a:spcAft>
              <a:defRPr/>
            </a:pPr>
            <a:r>
              <a:rPr lang="en-US" sz="2400" dirty="0">
                <a:latin typeface="Aptos"/>
              </a:rPr>
              <a:t>Let have our delete method take in an element as parameter:</a:t>
            </a:r>
          </a:p>
          <a:p>
            <a:pPr lvl="1">
              <a:spcBef>
                <a:spcPts val="580"/>
              </a:spcBef>
              <a:spcAft>
                <a:spcPct val="0"/>
              </a:spcAft>
              <a:defRPr/>
            </a:pPr>
            <a:r>
              <a:rPr lang="en-US" dirty="0">
                <a:latin typeface="Aptos"/>
              </a:rPr>
              <a:t>Search for that element</a:t>
            </a:r>
          </a:p>
          <a:p>
            <a:pPr lvl="1">
              <a:spcBef>
                <a:spcPts val="580"/>
              </a:spcBef>
              <a:spcAft>
                <a:spcPct val="0"/>
              </a:spcAft>
              <a:defRPr/>
            </a:pPr>
            <a:r>
              <a:rPr lang="en-US" dirty="0">
                <a:latin typeface="Aptos"/>
              </a:rPr>
              <a:t>If found:</a:t>
            </a:r>
          </a:p>
          <a:p>
            <a:pPr lvl="2">
              <a:spcBef>
                <a:spcPts val="580"/>
              </a:spcBef>
              <a:spcAft>
                <a:spcPct val="0"/>
              </a:spcAft>
              <a:defRPr/>
            </a:pPr>
            <a:r>
              <a:rPr lang="en-US" sz="2000" b="1" dirty="0">
                <a:latin typeface="Aptos"/>
              </a:rPr>
              <a:t>Remove</a:t>
            </a:r>
            <a:r>
              <a:rPr lang="en-US" sz="2000" dirty="0">
                <a:latin typeface="Aptos"/>
              </a:rPr>
              <a:t> </a:t>
            </a:r>
          </a:p>
          <a:p>
            <a:pPr lvl="2">
              <a:spcBef>
                <a:spcPts val="580"/>
              </a:spcBef>
              <a:spcAft>
                <a:spcPct val="0"/>
              </a:spcAft>
              <a:defRPr/>
            </a:pPr>
            <a:r>
              <a:rPr lang="en-US" sz="2000" b="1" dirty="0">
                <a:latin typeface="Aptos"/>
              </a:rPr>
              <a:t>Return True</a:t>
            </a:r>
          </a:p>
          <a:p>
            <a:pPr lvl="1">
              <a:spcBef>
                <a:spcPts val="580"/>
              </a:spcBef>
              <a:spcAft>
                <a:spcPct val="0"/>
              </a:spcAft>
              <a:defRPr/>
            </a:pPr>
            <a:r>
              <a:rPr lang="en-US" dirty="0">
                <a:latin typeface="Aptos"/>
              </a:rPr>
              <a:t>If not found:</a:t>
            </a:r>
          </a:p>
          <a:p>
            <a:pPr lvl="2">
              <a:spcBef>
                <a:spcPts val="580"/>
              </a:spcBef>
              <a:spcAft>
                <a:spcPct val="0"/>
              </a:spcAft>
              <a:defRPr/>
            </a:pPr>
            <a:r>
              <a:rPr lang="en-US" sz="2000" b="1" dirty="0">
                <a:latin typeface="Aptos"/>
              </a:rPr>
              <a:t>Return False</a:t>
            </a:r>
          </a:p>
          <a:p>
            <a:pPr lvl="2">
              <a:spcBef>
                <a:spcPts val="580"/>
              </a:spcBef>
              <a:spcAft>
                <a:spcPct val="0"/>
              </a:spcAft>
              <a:defRPr/>
            </a:pPr>
            <a:endParaRPr lang="en-US" sz="2400" dirty="0">
              <a:latin typeface="Aptos"/>
            </a:endParaRPr>
          </a:p>
          <a:p>
            <a:pPr>
              <a:spcBef>
                <a:spcPts val="580"/>
              </a:spcBef>
              <a:spcAft>
                <a:spcPct val="0"/>
              </a:spcAft>
              <a:defRPr/>
            </a:pPr>
            <a:r>
              <a:rPr lang="en-US" sz="2400" dirty="0">
                <a:latin typeface="Aptos"/>
              </a:rPr>
              <a:t>What if the element is in the middle of the array?</a:t>
            </a:r>
          </a:p>
          <a:p>
            <a:pPr lvl="1">
              <a:spcBef>
                <a:spcPts val="580"/>
              </a:spcBef>
              <a:spcAft>
                <a:spcPct val="0"/>
              </a:spcAft>
              <a:defRPr/>
            </a:pPr>
            <a:r>
              <a:rPr lang="en-US" dirty="0">
                <a:latin typeface="Aptos"/>
              </a:rPr>
              <a:t>How to handle this?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spTree>
    <p:extLst>
      <p:ext uri="{BB962C8B-B14F-4D97-AF65-F5344CB8AC3E}">
        <p14:creationId xmlns:p14="http://schemas.microsoft.com/office/powerpoint/2010/main" val="2355392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98428-DFCC-7923-4D74-AFCE616C7911}"/>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CEC5B6BF-021E-430B-2657-CF035DBC26B0}"/>
              </a:ext>
            </a:extLst>
          </p:cNvPr>
          <p:cNvSpPr>
            <a:spLocks noGrp="1"/>
          </p:cNvSpPr>
          <p:nvPr>
            <p:ph type="title"/>
          </p:nvPr>
        </p:nvSpPr>
        <p:spPr/>
        <p:txBody>
          <a:bodyPr/>
          <a:lstStyle/>
          <a:p>
            <a:r>
              <a:rPr lang="en-US" dirty="0">
                <a:latin typeface="Segoe UI"/>
                <a:cs typeface="Segoe UI"/>
              </a:rPr>
              <a:t>Delete an element</a:t>
            </a:r>
            <a:endParaRPr lang="en-US" dirty="0"/>
          </a:p>
        </p:txBody>
      </p:sp>
      <p:sp>
        <p:nvSpPr>
          <p:cNvPr id="3" name="Slide Number Placeholder 2">
            <a:extLst>
              <a:ext uri="{FF2B5EF4-FFF2-40B4-BE49-F238E27FC236}">
                <a16:creationId xmlns:a16="http://schemas.microsoft.com/office/drawing/2014/main" id="{90951D1E-A243-ED2E-BA8C-30B886E9FF60}"/>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53</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BDF8FAD3-0D18-7F0B-C563-A50CE51186C2}"/>
              </a:ext>
            </a:extLst>
          </p:cNvPr>
          <p:cNvSpPr>
            <a:spLocks noGrp="1"/>
          </p:cNvSpPr>
          <p:nvPr>
            <p:ph sz="quarter" idx="1"/>
          </p:nvPr>
        </p:nvSpPr>
        <p:spPr>
          <a:xfrm>
            <a:off x="838200" y="1621410"/>
            <a:ext cx="10515600" cy="4600281"/>
          </a:xfrm>
        </p:spPr>
        <p:txBody>
          <a:bodyPr vert="horz" lIns="91440" tIns="45720" rIns="91440" bIns="45720" rtlCol="0" anchor="t">
            <a:normAutofit/>
          </a:bodyPr>
          <a:lstStyle/>
          <a:p>
            <a:pPr>
              <a:spcBef>
                <a:spcPts val="580"/>
              </a:spcBef>
              <a:spcAft>
                <a:spcPct val="0"/>
              </a:spcAft>
              <a:defRPr/>
            </a:pPr>
            <a:r>
              <a:rPr lang="en-US" sz="2400" dirty="0">
                <a:latin typeface="Aptos"/>
              </a:rPr>
              <a:t>What if the element is in the middle of the array?</a:t>
            </a:r>
          </a:p>
          <a:p>
            <a:pPr lvl="1">
              <a:spcBef>
                <a:spcPts val="580"/>
              </a:spcBef>
              <a:spcAft>
                <a:spcPct val="0"/>
              </a:spcAft>
              <a:defRPr/>
            </a:pPr>
            <a:r>
              <a:rPr lang="en-US" dirty="0">
                <a:latin typeface="Aptos"/>
              </a:rPr>
              <a:t>How to handle?</a:t>
            </a:r>
          </a:p>
          <a:p>
            <a:pPr>
              <a:spcBef>
                <a:spcPts val="580"/>
              </a:spcBef>
              <a:spcAft>
                <a:spcPct val="0"/>
              </a:spcAft>
              <a:defRPr/>
            </a:pPr>
            <a:r>
              <a:rPr lang="en-US" sz="2400" dirty="0">
                <a:latin typeface="Aptos"/>
              </a:rPr>
              <a:t>Let say we want to remove </a:t>
            </a:r>
            <a:r>
              <a:rPr lang="en-US" sz="2400" b="1" dirty="0">
                <a:latin typeface="Aptos"/>
              </a:rPr>
              <a:t>7</a:t>
            </a:r>
            <a:r>
              <a:rPr lang="en-US" sz="2400" dirty="0">
                <a:latin typeface="Aptos"/>
              </a:rPr>
              <a:t>:</a:t>
            </a:r>
          </a:p>
          <a:p>
            <a:pPr>
              <a:spcBef>
                <a:spcPts val="580"/>
              </a:spcBef>
              <a:spcAft>
                <a:spcPct val="0"/>
              </a:spcAft>
              <a:defRPr/>
            </a:pPr>
            <a:endParaRPr lang="en-US" sz="2400" dirty="0">
              <a:latin typeface="Aptos"/>
            </a:endParaRPr>
          </a:p>
          <a:p>
            <a:pPr>
              <a:spcBef>
                <a:spcPts val="580"/>
              </a:spcBef>
              <a:spcAft>
                <a:spcPct val="0"/>
              </a:spcAft>
              <a:defRPr/>
            </a:pPr>
            <a:endParaRPr lang="en-US" sz="2400" dirty="0">
              <a:latin typeface="Aptos"/>
            </a:endParaRPr>
          </a:p>
          <a:p>
            <a:pPr>
              <a:spcBef>
                <a:spcPts val="580"/>
              </a:spcBef>
              <a:spcAft>
                <a:spcPct val="0"/>
              </a:spcAft>
              <a:defRPr/>
            </a:pPr>
            <a:endParaRPr lang="en-US" sz="2400" dirty="0">
              <a:latin typeface="Aptos"/>
            </a:endParaRPr>
          </a:p>
          <a:p>
            <a:pPr>
              <a:spcBef>
                <a:spcPts val="580"/>
              </a:spcBef>
              <a:spcAft>
                <a:spcPct val="0"/>
              </a:spcAft>
              <a:defRPr/>
            </a:pPr>
            <a:endParaRPr lang="en-US" sz="2400" dirty="0">
              <a:latin typeface="Aptos"/>
            </a:endParaRPr>
          </a:p>
          <a:p>
            <a:pPr>
              <a:spcBef>
                <a:spcPts val="580"/>
              </a:spcBef>
              <a:spcAft>
                <a:spcPct val="0"/>
              </a:spcAft>
              <a:defRPr/>
            </a:pPr>
            <a:r>
              <a:rPr lang="en-US" sz="2400" dirty="0">
                <a:latin typeface="Aptos"/>
              </a:rPr>
              <a:t>We remove 7, then there is a hole here. How to handle this?</a:t>
            </a: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5" name="Picture 4">
            <a:extLst>
              <a:ext uri="{FF2B5EF4-FFF2-40B4-BE49-F238E27FC236}">
                <a16:creationId xmlns:a16="http://schemas.microsoft.com/office/drawing/2014/main" id="{FB976DBC-4FB9-46A8-6A31-2137853C9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3394" y="2813541"/>
            <a:ext cx="5764169" cy="1437449"/>
          </a:xfrm>
          <a:prstGeom prst="rect">
            <a:avLst/>
          </a:prstGeom>
        </p:spPr>
      </p:pic>
      <p:pic>
        <p:nvPicPr>
          <p:cNvPr id="7" name="Picture 6">
            <a:extLst>
              <a:ext uri="{FF2B5EF4-FFF2-40B4-BE49-F238E27FC236}">
                <a16:creationId xmlns:a16="http://schemas.microsoft.com/office/drawing/2014/main" id="{32AE5648-D623-8966-C6B1-B14B380E5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3393" y="5101463"/>
            <a:ext cx="5764169" cy="1437449"/>
          </a:xfrm>
          <a:prstGeom prst="rect">
            <a:avLst/>
          </a:prstGeom>
        </p:spPr>
      </p:pic>
    </p:spTree>
    <p:extLst>
      <p:ext uri="{BB962C8B-B14F-4D97-AF65-F5344CB8AC3E}">
        <p14:creationId xmlns:p14="http://schemas.microsoft.com/office/powerpoint/2010/main" val="21221268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9D6C-D2EA-647E-4F21-3B675FD39548}"/>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E6853F81-3FE2-2E45-A93C-15CE6F8972BC}"/>
              </a:ext>
            </a:extLst>
          </p:cNvPr>
          <p:cNvSpPr>
            <a:spLocks noGrp="1"/>
          </p:cNvSpPr>
          <p:nvPr>
            <p:ph type="title"/>
          </p:nvPr>
        </p:nvSpPr>
        <p:spPr/>
        <p:txBody>
          <a:bodyPr/>
          <a:lstStyle/>
          <a:p>
            <a:r>
              <a:rPr lang="en-US" dirty="0">
                <a:latin typeface="Segoe UI"/>
                <a:cs typeface="Segoe UI"/>
              </a:rPr>
              <a:t>Delete an element</a:t>
            </a:r>
            <a:endParaRPr lang="en-US" dirty="0"/>
          </a:p>
        </p:txBody>
      </p:sp>
      <p:sp>
        <p:nvSpPr>
          <p:cNvPr id="3" name="Slide Number Placeholder 2">
            <a:extLst>
              <a:ext uri="{FF2B5EF4-FFF2-40B4-BE49-F238E27FC236}">
                <a16:creationId xmlns:a16="http://schemas.microsoft.com/office/drawing/2014/main" id="{5BC36A56-8FC3-8550-AE0C-E6A7F47C53B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54</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EB2A3E4E-3715-5A85-0856-9D85F919A165}"/>
              </a:ext>
            </a:extLst>
          </p:cNvPr>
          <p:cNvSpPr>
            <a:spLocks noGrp="1"/>
          </p:cNvSpPr>
          <p:nvPr>
            <p:ph sz="quarter" idx="1"/>
          </p:nvPr>
        </p:nvSpPr>
        <p:spPr>
          <a:xfrm>
            <a:off x="838200" y="1621410"/>
            <a:ext cx="10515600" cy="4871465"/>
          </a:xfrm>
        </p:spPr>
        <p:txBody>
          <a:bodyPr vert="horz" lIns="91440" tIns="45720" rIns="91440" bIns="45720" rtlCol="0" anchor="t">
            <a:normAutofit lnSpcReduction="10000"/>
          </a:bodyPr>
          <a:lstStyle/>
          <a:p>
            <a:pPr>
              <a:spcBef>
                <a:spcPts val="580"/>
              </a:spcBef>
              <a:spcAft>
                <a:spcPct val="0"/>
              </a:spcAft>
              <a:defRPr/>
            </a:pPr>
            <a:r>
              <a:rPr lang="en-US" sz="2200" dirty="0">
                <a:latin typeface="Aptos"/>
              </a:rPr>
              <a:t>We will need to shift everything over by one</a:t>
            </a: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r>
              <a:rPr lang="en-US" sz="2200" dirty="0">
                <a:latin typeface="Aptos"/>
              </a:rPr>
              <a:t>Now next time we do insert, there won’t be any problem.</a:t>
            </a: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endParaRPr lang="en-US" sz="2200" dirty="0">
              <a:latin typeface="Aptos"/>
            </a:endParaRPr>
          </a:p>
          <a:p>
            <a:pPr>
              <a:spcBef>
                <a:spcPts val="580"/>
              </a:spcBef>
              <a:spcAft>
                <a:spcPct val="0"/>
              </a:spcAft>
              <a:defRPr/>
            </a:pPr>
            <a:r>
              <a:rPr lang="en-US" sz="2200" dirty="0">
                <a:latin typeface="Aptos"/>
              </a:rPr>
              <a:t>What is the </a:t>
            </a:r>
            <a:r>
              <a:rPr lang="en-US" sz="2200" b="1" dirty="0">
                <a:latin typeface="Aptos"/>
              </a:rPr>
              <a:t>time complexity </a:t>
            </a:r>
            <a:r>
              <a:rPr lang="en-US" sz="2200" dirty="0">
                <a:latin typeface="Aptos"/>
              </a:rPr>
              <a:t>for </a:t>
            </a:r>
            <a:r>
              <a:rPr lang="en-US" sz="2200" b="1" dirty="0">
                <a:latin typeface="Aptos"/>
              </a:rPr>
              <a:t>delete</a:t>
            </a:r>
            <a:r>
              <a:rPr lang="en-US" sz="2200" dirty="0">
                <a:latin typeface="Aptos"/>
              </a:rPr>
              <a:t>?</a:t>
            </a: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pic>
        <p:nvPicPr>
          <p:cNvPr id="6" name="Picture 5">
            <a:extLst>
              <a:ext uri="{FF2B5EF4-FFF2-40B4-BE49-F238E27FC236}">
                <a16:creationId xmlns:a16="http://schemas.microsoft.com/office/drawing/2014/main" id="{1314C8E3-0431-12CD-B8FD-FAA4D9DCF0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8770" y="2010332"/>
            <a:ext cx="6834457" cy="1533918"/>
          </a:xfrm>
          <a:prstGeom prst="rect">
            <a:avLst/>
          </a:prstGeom>
        </p:spPr>
      </p:pic>
      <p:pic>
        <p:nvPicPr>
          <p:cNvPr id="9" name="Picture 8">
            <a:extLst>
              <a:ext uri="{FF2B5EF4-FFF2-40B4-BE49-F238E27FC236}">
                <a16:creationId xmlns:a16="http://schemas.microsoft.com/office/drawing/2014/main" id="{C65B1C69-0DB7-4B66-7F10-CD3DF3C907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770" y="4057142"/>
            <a:ext cx="6834457" cy="1533918"/>
          </a:xfrm>
          <a:prstGeom prst="rect">
            <a:avLst/>
          </a:prstGeom>
        </p:spPr>
      </p:pic>
    </p:spTree>
    <p:extLst>
      <p:ext uri="{BB962C8B-B14F-4D97-AF65-F5344CB8AC3E}">
        <p14:creationId xmlns:p14="http://schemas.microsoft.com/office/powerpoint/2010/main" val="19494295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EE8F7-25ED-CE45-8CA5-748CD33CB608}"/>
            </a:ext>
          </a:extLst>
        </p:cNvPr>
        <p:cNvGrpSpPr/>
        <p:nvPr/>
      </p:nvGrpSpPr>
      <p:grpSpPr>
        <a:xfrm>
          <a:off x="0" y="0"/>
          <a:ext cx="0" cy="0"/>
          <a:chOff x="0" y="0"/>
          <a:chExt cx="0" cy="0"/>
        </a:xfrm>
      </p:grpSpPr>
      <p:sp>
        <p:nvSpPr>
          <p:cNvPr id="65538" name="Title 1">
            <a:extLst>
              <a:ext uri="{FF2B5EF4-FFF2-40B4-BE49-F238E27FC236}">
                <a16:creationId xmlns:a16="http://schemas.microsoft.com/office/drawing/2014/main" id="{9798C3EF-A35B-899D-104D-F110CFD1AD4C}"/>
              </a:ext>
            </a:extLst>
          </p:cNvPr>
          <p:cNvSpPr>
            <a:spLocks noGrp="1"/>
          </p:cNvSpPr>
          <p:nvPr>
            <p:ph type="title"/>
          </p:nvPr>
        </p:nvSpPr>
        <p:spPr/>
        <p:txBody>
          <a:bodyPr/>
          <a:lstStyle/>
          <a:p>
            <a:r>
              <a:rPr lang="en-US" dirty="0">
                <a:latin typeface="Segoe UI"/>
                <a:cs typeface="Segoe UI"/>
              </a:rPr>
              <a:t>Time Complexity for Unordered Array</a:t>
            </a:r>
            <a:endParaRPr lang="en-US" dirty="0"/>
          </a:p>
        </p:txBody>
      </p:sp>
      <p:sp>
        <p:nvSpPr>
          <p:cNvPr id="3" name="Slide Number Placeholder 2">
            <a:extLst>
              <a:ext uri="{FF2B5EF4-FFF2-40B4-BE49-F238E27FC236}">
                <a16:creationId xmlns:a16="http://schemas.microsoft.com/office/drawing/2014/main" id="{4A44F0BD-0559-BC45-BCDA-C9B7D3A05B1F}"/>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9C9E837-61D4-4B35-BE3F-B8B9996E0355}" type="slidenum">
              <a:rPr lang="en-US" altLang="en-US" sz="2000">
                <a:latin typeface="Aptos" panose="020B0004020202020204" pitchFamily="34" charset="0"/>
              </a:rPr>
              <a:pPr eaLnBrk="1" hangingPunct="1"/>
              <a:t>55</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7723C1FC-A532-7469-F9DB-105DF140B7D2}"/>
              </a:ext>
            </a:extLst>
          </p:cNvPr>
          <p:cNvSpPr>
            <a:spLocks noGrp="1"/>
          </p:cNvSpPr>
          <p:nvPr>
            <p:ph sz="quarter" idx="1"/>
          </p:nvPr>
        </p:nvSpPr>
        <p:spPr>
          <a:xfrm>
            <a:off x="838200" y="1621410"/>
            <a:ext cx="10515600" cy="4871465"/>
          </a:xfrm>
        </p:spPr>
        <p:txBody>
          <a:bodyPr vert="horz" lIns="91440" tIns="45720" rIns="91440" bIns="45720" rtlCol="0" anchor="t">
            <a:normAutofit/>
          </a:bodyPr>
          <a:lstStyle/>
          <a:p>
            <a:r>
              <a:rPr lang="en-US" altLang="en-US" sz="2400" b="1" dirty="0"/>
              <a:t>Insert: </a:t>
            </a:r>
            <a:r>
              <a:rPr lang="en-US" altLang="en-US" sz="2400" dirty="0"/>
              <a:t>insert element into the </a:t>
            </a:r>
            <a:r>
              <a:rPr lang="en-US" altLang="en-US" sz="2400" dirty="0" err="1"/>
              <a:t>HighArray</a:t>
            </a:r>
            <a:endParaRPr lang="en-US" altLang="en-US" sz="2400" dirty="0"/>
          </a:p>
          <a:p>
            <a:pPr lvl="1"/>
            <a:r>
              <a:rPr lang="en-US" altLang="en-US" sz="2200" dirty="0"/>
              <a:t>O(1) just add to the end</a:t>
            </a:r>
          </a:p>
          <a:p>
            <a:r>
              <a:rPr lang="en-US" altLang="en-US" sz="2400" b="1" dirty="0"/>
              <a:t>Search: </a:t>
            </a:r>
            <a:r>
              <a:rPr lang="en-US" altLang="en-US" sz="2400" dirty="0"/>
              <a:t>find an element in the </a:t>
            </a:r>
            <a:r>
              <a:rPr lang="en-US" altLang="en-US" sz="2400" dirty="0" err="1"/>
              <a:t>HighArray</a:t>
            </a:r>
            <a:endParaRPr lang="en-US" altLang="en-US" sz="2400" dirty="0"/>
          </a:p>
          <a:p>
            <a:pPr lvl="1"/>
            <a:r>
              <a:rPr lang="en-US" altLang="en-US" sz="2200" dirty="0"/>
              <a:t>O(n) one by one till found or end</a:t>
            </a:r>
          </a:p>
          <a:p>
            <a:r>
              <a:rPr lang="en-US" altLang="en-US" sz="2400" b="1" dirty="0">
                <a:latin typeface="Aptos"/>
              </a:rPr>
              <a:t>Delete: </a:t>
            </a:r>
            <a:r>
              <a:rPr lang="en-US" altLang="en-US" sz="2400" dirty="0">
                <a:latin typeface="Aptos"/>
              </a:rPr>
              <a:t>find an element then delete if exist in the </a:t>
            </a:r>
            <a:r>
              <a:rPr lang="en-US" altLang="en-US" sz="2400" dirty="0" err="1">
                <a:latin typeface="Aptos"/>
              </a:rPr>
              <a:t>HighArray</a:t>
            </a:r>
            <a:endParaRPr lang="en-US" altLang="en-US" sz="2400" dirty="0">
              <a:latin typeface="Aptos"/>
            </a:endParaRPr>
          </a:p>
          <a:p>
            <a:pPr lvl="1"/>
            <a:r>
              <a:rPr lang="en-US" altLang="en-US" sz="2200" dirty="0"/>
              <a:t>O(n) find, delete, then shift all from target</a:t>
            </a:r>
          </a:p>
          <a:p>
            <a:r>
              <a:rPr lang="en-US" altLang="en-US" sz="2400" b="1" dirty="0">
                <a:latin typeface="Aptos"/>
              </a:rPr>
              <a:t>Access</a:t>
            </a:r>
            <a:r>
              <a:rPr lang="en-US" altLang="en-US" sz="2400" dirty="0">
                <a:latin typeface="Aptos"/>
              </a:rPr>
              <a:t>: Retrieve an element at a specific index in the </a:t>
            </a:r>
            <a:r>
              <a:rPr lang="en-US" altLang="en-US" sz="2400" dirty="0" err="1">
                <a:latin typeface="Aptos"/>
              </a:rPr>
              <a:t>HighArray</a:t>
            </a:r>
            <a:endParaRPr lang="en-US" altLang="en-US" sz="2400" dirty="0" err="1"/>
          </a:p>
          <a:p>
            <a:pPr lvl="1">
              <a:defRPr/>
            </a:pPr>
            <a:r>
              <a:rPr lang="en-US" altLang="en-US" sz="2200" dirty="0">
                <a:latin typeface="Aptos"/>
              </a:rPr>
              <a:t>O(1) </a:t>
            </a:r>
            <a:r>
              <a:rPr lang="en-US" sz="2200" dirty="0">
                <a:latin typeface="Aptos"/>
              </a:rPr>
              <a:t>You can directly retrieve any element by index in constant time, because arrays use contiguous memory and the element’s address can be calculated immediately</a:t>
            </a:r>
            <a:endParaRPr lang="en-US" altLang="en-US" sz="2200" dirty="0"/>
          </a:p>
          <a:p>
            <a:pPr>
              <a:defRPr/>
            </a:pPr>
            <a:endParaRPr lang="en-US" altLang="en-US" sz="2400" dirty="0"/>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marL="0" indent="0">
              <a:spcBef>
                <a:spcPts val="580"/>
              </a:spcBef>
              <a:spcAft>
                <a:spcPct val="0"/>
              </a:spcAft>
              <a:buNone/>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a:p>
            <a:pPr>
              <a:spcBef>
                <a:spcPts val="580"/>
              </a:spcBef>
              <a:spcAft>
                <a:spcPct val="0"/>
              </a:spcAft>
              <a:defRPr/>
            </a:pPr>
            <a:endParaRPr lang="en-US" dirty="0">
              <a:latin typeface="Aptos"/>
            </a:endParaRPr>
          </a:p>
        </p:txBody>
      </p:sp>
    </p:spTree>
    <p:extLst>
      <p:ext uri="{BB962C8B-B14F-4D97-AF65-F5344CB8AC3E}">
        <p14:creationId xmlns:p14="http://schemas.microsoft.com/office/powerpoint/2010/main" val="2574153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0C694161-1CB1-48C3-94CB-FDB755B273E3}"/>
              </a:ext>
            </a:extLst>
          </p:cNvPr>
          <p:cNvSpPr>
            <a:spLocks noGrp="1"/>
          </p:cNvSpPr>
          <p:nvPr>
            <p:ph type="title"/>
          </p:nvPr>
        </p:nvSpPr>
        <p:spPr/>
        <p:txBody>
          <a:bodyPr/>
          <a:lstStyle/>
          <a:p>
            <a:r>
              <a:rPr lang="en-US" altLang="en-US"/>
              <a:t>The Ordered Array</a:t>
            </a:r>
          </a:p>
        </p:txBody>
      </p:sp>
      <p:sp>
        <p:nvSpPr>
          <p:cNvPr id="3" name="Slide Number Placeholder 2">
            <a:extLst>
              <a:ext uri="{FF2B5EF4-FFF2-40B4-BE49-F238E27FC236}">
                <a16:creationId xmlns:a16="http://schemas.microsoft.com/office/drawing/2014/main" id="{0399E667-7683-4532-BFBA-ED1123A885F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D9E78C6-91A6-48AF-B5A7-2CEF5FA0D66B}" type="slidenum">
              <a:rPr lang="en-US" altLang="en-US" sz="2000">
                <a:latin typeface="Aptos" panose="020B0004020202020204" pitchFamily="34" charset="0"/>
              </a:rPr>
              <a:pPr eaLnBrk="1" hangingPunct="1"/>
              <a:t>56</a:t>
            </a:fld>
            <a:endParaRPr lang="en-US" altLang="en-US" sz="2000">
              <a:latin typeface="Aptos" panose="020B0004020202020204" pitchFamily="34" charset="0"/>
            </a:endParaRPr>
          </a:p>
        </p:txBody>
      </p:sp>
      <p:sp>
        <p:nvSpPr>
          <p:cNvPr id="67588" name="Content Placeholder 3">
            <a:extLst>
              <a:ext uri="{FF2B5EF4-FFF2-40B4-BE49-F238E27FC236}">
                <a16:creationId xmlns:a16="http://schemas.microsoft.com/office/drawing/2014/main" id="{F5DF931F-C030-43A4-AC34-C66C18969E29}"/>
              </a:ext>
            </a:extLst>
          </p:cNvPr>
          <p:cNvSpPr>
            <a:spLocks noGrp="1"/>
          </p:cNvSpPr>
          <p:nvPr>
            <p:ph sz="quarter" idx="1"/>
          </p:nvPr>
        </p:nvSpPr>
        <p:spPr/>
        <p:txBody>
          <a:bodyPr vert="horz" lIns="91440" tIns="45720" rIns="91440" bIns="45720" rtlCol="0" anchor="t">
            <a:normAutofit fontScale="92500"/>
          </a:bodyPr>
          <a:lstStyle/>
          <a:p>
            <a:r>
              <a:rPr lang="en-US" altLang="en-US" dirty="0">
                <a:latin typeface="Aptos"/>
              </a:rPr>
              <a:t>An array in which the data items are arranged in ascending order or descending order</a:t>
            </a:r>
          </a:p>
          <a:p>
            <a:r>
              <a:rPr lang="en-US" dirty="0">
                <a:latin typeface="Aptos"/>
              </a:rPr>
              <a:t>Descending </a:t>
            </a:r>
            <a:r>
              <a:rPr lang="en-US" altLang="en-US" dirty="0">
                <a:latin typeface="Aptos"/>
              </a:rPr>
              <a:t>order</a:t>
            </a:r>
          </a:p>
          <a:p>
            <a:pPr lvl="1">
              <a:buFont typeface="Courier New" panose="020B0604020202020204" pitchFamily="34" charset="0"/>
              <a:buChar char="o"/>
            </a:pPr>
            <a:r>
              <a:rPr lang="en-US" altLang="en-US" dirty="0">
                <a:latin typeface="Aptos"/>
              </a:rPr>
              <a:t>Smallest value is at the first index</a:t>
            </a:r>
            <a:endParaRPr lang="en-US" dirty="0"/>
          </a:p>
          <a:p>
            <a:pPr lvl="1">
              <a:buFont typeface="Courier New" panose="020B0604020202020204" pitchFamily="34" charset="0"/>
              <a:buChar char="o"/>
            </a:pPr>
            <a:r>
              <a:rPr lang="en-US" altLang="en-US" dirty="0">
                <a:latin typeface="Aptos"/>
              </a:rPr>
              <a:t>Largest value is last index</a:t>
            </a:r>
          </a:p>
          <a:p>
            <a:endParaRPr lang="en-US" altLang="en-US" dirty="0"/>
          </a:p>
          <a:p>
            <a:r>
              <a:rPr lang="en-US" altLang="en-US" dirty="0">
                <a:latin typeface="Aptos"/>
              </a:rPr>
              <a:t>Think about what functions we’d have to modify</a:t>
            </a:r>
          </a:p>
          <a:p>
            <a:endParaRPr lang="en-US" altLang="en-US" dirty="0"/>
          </a:p>
          <a:p>
            <a:r>
              <a:rPr lang="en-US" altLang="en-US" dirty="0">
                <a:latin typeface="Aptos"/>
              </a:rPr>
              <a:t>Why could this be a nice feature?  What operation could be much faster?</a:t>
            </a:r>
          </a:p>
          <a:p>
            <a:r>
              <a:rPr lang="en-US" altLang="en-US" dirty="0">
                <a:latin typeface="Aptos"/>
              </a:rPr>
              <a:t>Why do we want an ordered Array?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B9D127A0-B11E-448F-A2A9-AED85CA7F425}"/>
              </a:ext>
            </a:extLst>
          </p:cNvPr>
          <p:cNvSpPr>
            <a:spLocks noGrp="1"/>
          </p:cNvSpPr>
          <p:nvPr>
            <p:ph type="title"/>
          </p:nvPr>
        </p:nvSpPr>
        <p:spPr/>
        <p:txBody>
          <a:bodyPr/>
          <a:lstStyle/>
          <a:p>
            <a:r>
              <a:rPr lang="en-US" altLang="en-US"/>
              <a:t>That’s right, searching!</a:t>
            </a:r>
          </a:p>
        </p:txBody>
      </p:sp>
      <p:sp>
        <p:nvSpPr>
          <p:cNvPr id="3" name="Slide Number Placeholder 2">
            <a:extLst>
              <a:ext uri="{FF2B5EF4-FFF2-40B4-BE49-F238E27FC236}">
                <a16:creationId xmlns:a16="http://schemas.microsoft.com/office/drawing/2014/main" id="{F8E7ED19-1DE0-45C9-BFF3-AB0FFA964A11}"/>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CE8B308A-7B4F-4983-B039-AC7F9AB5131A}" type="slidenum">
              <a:rPr lang="en-US" altLang="en-US" sz="2000">
                <a:latin typeface="Aptos" panose="020B0004020202020204" pitchFamily="34" charset="0"/>
              </a:rPr>
              <a:pPr eaLnBrk="1" hangingPunct="1"/>
              <a:t>57</a:t>
            </a:fld>
            <a:endParaRPr lang="en-US" altLang="en-US" sz="2000">
              <a:latin typeface="Aptos" panose="020B0004020202020204" pitchFamily="34" charset="0"/>
            </a:endParaRPr>
          </a:p>
        </p:txBody>
      </p:sp>
      <p:sp>
        <p:nvSpPr>
          <p:cNvPr id="68612" name="Content Placeholder 3">
            <a:extLst>
              <a:ext uri="{FF2B5EF4-FFF2-40B4-BE49-F238E27FC236}">
                <a16:creationId xmlns:a16="http://schemas.microsoft.com/office/drawing/2014/main" id="{21EC8864-FB56-45BE-AB8B-B0A705375E2E}"/>
              </a:ext>
            </a:extLst>
          </p:cNvPr>
          <p:cNvSpPr>
            <a:spLocks noGrp="1"/>
          </p:cNvSpPr>
          <p:nvPr>
            <p:ph sz="quarter" idx="1"/>
          </p:nvPr>
        </p:nvSpPr>
        <p:spPr/>
        <p:txBody>
          <a:bodyPr/>
          <a:lstStyle/>
          <a:p>
            <a:r>
              <a:rPr lang="en-US" altLang="en-US"/>
              <a:t>We can still do a linear search, which is what we’ve seen.  </a:t>
            </a:r>
          </a:p>
          <a:p>
            <a:pPr lvl="1"/>
            <a:r>
              <a:rPr lang="en-US" altLang="en-US"/>
              <a:t>Step through the elements</a:t>
            </a:r>
          </a:p>
          <a:p>
            <a:pPr lvl="1"/>
            <a:endParaRPr lang="en-US" altLang="en-US"/>
          </a:p>
          <a:p>
            <a:r>
              <a:rPr lang="en-US" altLang="en-US"/>
              <a:t>In the average case, would this be faster than an unordered array?</a:t>
            </a:r>
          </a:p>
          <a:p>
            <a:endParaRPr lang="en-US" altLang="en-US"/>
          </a:p>
          <a:p>
            <a:r>
              <a:rPr lang="en-US" altLang="en-US"/>
              <a:t>We can also do what’s called binary search, which is much faster</a:t>
            </a:r>
          </a:p>
          <a:p>
            <a:pPr lvl="1"/>
            <a:r>
              <a:rPr lang="en-US" altLang="en-US"/>
              <a:t>Especially for large arrays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27010-755D-5051-E1B0-6D3B45F075DA}"/>
              </a:ext>
            </a:extLst>
          </p:cNvPr>
          <p:cNvSpPr>
            <a:spLocks noGrp="1"/>
          </p:cNvSpPr>
          <p:nvPr>
            <p:ph type="title"/>
          </p:nvPr>
        </p:nvSpPr>
        <p:spPr/>
        <p:txBody>
          <a:bodyPr/>
          <a:lstStyle/>
          <a:p>
            <a:r>
              <a:rPr lang="en-US" dirty="0"/>
              <a:t>The Ordered Array vs Unordered Array</a:t>
            </a:r>
          </a:p>
        </p:txBody>
      </p:sp>
      <p:sp>
        <p:nvSpPr>
          <p:cNvPr id="3" name="Content Placeholder 2">
            <a:extLst>
              <a:ext uri="{FF2B5EF4-FFF2-40B4-BE49-F238E27FC236}">
                <a16:creationId xmlns:a16="http://schemas.microsoft.com/office/drawing/2014/main" id="{759CA320-FC71-73C6-DA92-03DAEEF7543A}"/>
              </a:ext>
            </a:extLst>
          </p:cNvPr>
          <p:cNvSpPr>
            <a:spLocks noGrp="1"/>
          </p:cNvSpPr>
          <p:nvPr>
            <p:ph idx="1"/>
          </p:nvPr>
        </p:nvSpPr>
        <p:spPr/>
        <p:txBody>
          <a:bodyPr vert="horz" lIns="91440" tIns="45720" rIns="91440" bIns="45720" rtlCol="0" anchor="t">
            <a:normAutofit/>
          </a:bodyPr>
          <a:lstStyle/>
          <a:p>
            <a:r>
              <a:rPr lang="en-US">
                <a:latin typeface="Aptos"/>
              </a:rPr>
              <a:t>Very similar only different is that each operation like insert now must make sure that new element is insert to the right order (ascending or descending) depends on the current element existed in the array</a:t>
            </a:r>
          </a:p>
          <a:p>
            <a:endParaRPr lang="en-US">
              <a:latin typeface="Aptos"/>
            </a:endParaRPr>
          </a:p>
          <a:p>
            <a:r>
              <a:rPr lang="en-US">
                <a:latin typeface="Aptos"/>
              </a:rPr>
              <a:t>Differences:</a:t>
            </a:r>
          </a:p>
          <a:p>
            <a:pPr lvl="1">
              <a:buFont typeface="Courier New" panose="020B0604020202020204" pitchFamily="34" charset="0"/>
              <a:buChar char="o"/>
            </a:pPr>
            <a:r>
              <a:rPr lang="en-US">
                <a:latin typeface="Aptos"/>
              </a:rPr>
              <a:t>Find() change from Linear Search to Binary Search</a:t>
            </a:r>
            <a:endParaRPr lang="en-US"/>
          </a:p>
          <a:p>
            <a:pPr lvl="1">
              <a:buFont typeface="Courier New" panose="020B0604020202020204" pitchFamily="34" charset="0"/>
              <a:buChar char="o"/>
            </a:pPr>
            <a:r>
              <a:rPr lang="en-US">
                <a:latin typeface="Aptos"/>
              </a:rPr>
              <a:t>Insert() make used of Linear Search to insert to the array</a:t>
            </a:r>
          </a:p>
          <a:p>
            <a:pPr lvl="1">
              <a:buFont typeface="Courier New" panose="020B0604020202020204" pitchFamily="34" charset="0"/>
              <a:buChar char="o"/>
            </a:pPr>
            <a:r>
              <a:rPr lang="en-US">
                <a:latin typeface="Aptos"/>
              </a:rPr>
              <a:t>Delete() use find() to delete element from the array</a:t>
            </a:r>
            <a:endParaRPr lang="en-US"/>
          </a:p>
          <a:p>
            <a:pPr lvl="1">
              <a:buFont typeface="Courier New" panose="020B0604020202020204" pitchFamily="34" charset="0"/>
              <a:buChar char="o"/>
            </a:pPr>
            <a:endParaRPr lang="en-US"/>
          </a:p>
        </p:txBody>
      </p:sp>
      <p:sp>
        <p:nvSpPr>
          <p:cNvPr id="4" name="Slide Number Placeholder 3">
            <a:extLst>
              <a:ext uri="{FF2B5EF4-FFF2-40B4-BE49-F238E27FC236}">
                <a16:creationId xmlns:a16="http://schemas.microsoft.com/office/drawing/2014/main" id="{F327070D-999D-9CB9-D53C-0402FCD34E27}"/>
              </a:ext>
            </a:extLst>
          </p:cNvPr>
          <p:cNvSpPr>
            <a:spLocks noGrp="1"/>
          </p:cNvSpPr>
          <p:nvPr>
            <p:ph type="sldNum" sz="quarter" idx="12"/>
          </p:nvPr>
        </p:nvSpPr>
        <p:spPr/>
        <p:txBody>
          <a:bodyPr/>
          <a:lstStyle/>
          <a:p>
            <a:fld id="{A3AE6EEF-09FB-4745-97EC-5981027EA46D}" type="slidenum">
              <a:rPr lang="en-US" smtClean="0"/>
              <a:pPr/>
              <a:t>58</a:t>
            </a:fld>
            <a:endParaRPr lang="en-US"/>
          </a:p>
        </p:txBody>
      </p:sp>
    </p:spTree>
    <p:extLst>
      <p:ext uri="{BB962C8B-B14F-4D97-AF65-F5344CB8AC3E}">
        <p14:creationId xmlns:p14="http://schemas.microsoft.com/office/powerpoint/2010/main" val="8761274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BEAFEB1-9E17-4690-950E-EC9F70ABC875}"/>
              </a:ext>
            </a:extLst>
          </p:cNvPr>
          <p:cNvSpPr>
            <a:spLocks noGrp="1"/>
          </p:cNvSpPr>
          <p:nvPr>
            <p:ph type="title"/>
          </p:nvPr>
        </p:nvSpPr>
        <p:spPr/>
        <p:txBody>
          <a:bodyPr/>
          <a:lstStyle/>
          <a:p>
            <a:r>
              <a:rPr lang="en-US" altLang="en-US"/>
              <a:t>Binary Search: Idea</a:t>
            </a:r>
          </a:p>
        </p:txBody>
      </p:sp>
      <p:sp>
        <p:nvSpPr>
          <p:cNvPr id="3" name="Slide Number Placeholder 2">
            <a:extLst>
              <a:ext uri="{FF2B5EF4-FFF2-40B4-BE49-F238E27FC236}">
                <a16:creationId xmlns:a16="http://schemas.microsoft.com/office/drawing/2014/main" id="{B60CE68E-BF4D-4F39-AA36-5238268E141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933DC1D1-A23B-485E-8626-2783336ECDD9}" type="slidenum">
              <a:rPr lang="en-US" altLang="en-US" sz="2000">
                <a:latin typeface="Aptos" panose="020B0004020202020204" pitchFamily="34" charset="0"/>
              </a:rPr>
              <a:pPr eaLnBrk="1" hangingPunct="1"/>
              <a:t>59</a:t>
            </a:fld>
            <a:endParaRPr lang="en-US" altLang="en-US" sz="2000">
              <a:latin typeface="Aptos" panose="020B0004020202020204" pitchFamily="34" charset="0"/>
            </a:endParaRPr>
          </a:p>
        </p:txBody>
      </p:sp>
      <p:sp>
        <p:nvSpPr>
          <p:cNvPr id="69636" name="Content Placeholder 3">
            <a:extLst>
              <a:ext uri="{FF2B5EF4-FFF2-40B4-BE49-F238E27FC236}">
                <a16:creationId xmlns:a16="http://schemas.microsoft.com/office/drawing/2014/main" id="{204E2B8D-1D02-482C-886B-14FB92AF8AA0}"/>
              </a:ext>
            </a:extLst>
          </p:cNvPr>
          <p:cNvSpPr>
            <a:spLocks noGrp="1"/>
          </p:cNvSpPr>
          <p:nvPr>
            <p:ph sz="quarter" idx="1"/>
          </p:nvPr>
        </p:nvSpPr>
        <p:spPr/>
        <p:txBody>
          <a:bodyPr>
            <a:normAutofit/>
          </a:bodyPr>
          <a:lstStyle/>
          <a:p>
            <a:r>
              <a:rPr lang="en-US" altLang="en-US"/>
              <a:t>Ever see the Price is Right?</a:t>
            </a:r>
          </a:p>
          <a:p>
            <a:pPr lvl="1"/>
            <a:r>
              <a:rPr lang="en-US" altLang="en-US"/>
              <a:t>Guess the price on an item</a:t>
            </a:r>
          </a:p>
          <a:p>
            <a:pPr lvl="1"/>
            <a:r>
              <a:rPr lang="en-US" altLang="en-US"/>
              <a:t>If guess is too low, Bob Barker says “higher”</a:t>
            </a:r>
          </a:p>
          <a:p>
            <a:pPr lvl="1"/>
            <a:r>
              <a:rPr lang="en-US" altLang="en-US"/>
              <a:t>If guess is too high, Bob Barker says “lower”</a:t>
            </a:r>
          </a:p>
          <a:p>
            <a:pPr lvl="1"/>
            <a:endParaRPr lang="en-US" altLang="en-US"/>
          </a:p>
          <a:p>
            <a:r>
              <a:rPr lang="en-US" altLang="en-US"/>
              <a:t>This can work if we are using ordered arrays</a:t>
            </a:r>
          </a:p>
          <a:p>
            <a:pPr lvl="1"/>
            <a:r>
              <a:rPr lang="en-US" altLang="en-US"/>
              <a:t>Check the middle element</a:t>
            </a:r>
          </a:p>
          <a:p>
            <a:pPr lvl="1"/>
            <a:r>
              <a:rPr lang="en-US" altLang="en-US"/>
              <a:t>If it’s too low, restrict search to the first half of the array</a:t>
            </a:r>
          </a:p>
          <a:p>
            <a:pPr lvl="1"/>
            <a:r>
              <a:rPr lang="en-US" altLang="en-US"/>
              <a:t>Otherwise restrict search to the second half of the array</a:t>
            </a:r>
          </a:p>
          <a:p>
            <a:pPr lvl="1"/>
            <a:r>
              <a:rPr lang="en-US" altLang="en-US"/>
              <a:t>And repeat.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928FDB56-88A9-426C-941E-9AA9DB80A41D}"/>
              </a:ext>
            </a:extLst>
          </p:cNvPr>
          <p:cNvSpPr>
            <a:spLocks noGrp="1"/>
          </p:cNvSpPr>
          <p:nvPr>
            <p:ph type="title"/>
          </p:nvPr>
        </p:nvSpPr>
        <p:spPr/>
        <p:txBody>
          <a:bodyPr/>
          <a:lstStyle/>
          <a:p>
            <a:r>
              <a:rPr lang="en-US" altLang="en-US"/>
              <a:t>Note what this can save!</a:t>
            </a:r>
          </a:p>
        </p:txBody>
      </p:sp>
      <p:sp>
        <p:nvSpPr>
          <p:cNvPr id="3" name="Slide Number Placeholder 2">
            <a:extLst>
              <a:ext uri="{FF2B5EF4-FFF2-40B4-BE49-F238E27FC236}">
                <a16:creationId xmlns:a16="http://schemas.microsoft.com/office/drawing/2014/main" id="{6BABA95F-8D63-497B-826A-CAA2303B90B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6B457BE-81E9-4B66-91E5-3CC5316B613C}" type="slidenum">
              <a:rPr lang="en-US" altLang="en-US" sz="2000">
                <a:latin typeface="Aptos" panose="020B0004020202020204" pitchFamily="34" charset="0"/>
              </a:rPr>
              <a:pPr eaLnBrk="1" hangingPunct="1"/>
              <a:t>60</a:t>
            </a:fld>
            <a:endParaRPr lang="en-US" altLang="en-US" sz="2000">
              <a:latin typeface="Aptos" panose="020B0004020202020204" pitchFamily="34" charset="0"/>
            </a:endParaRPr>
          </a:p>
        </p:txBody>
      </p:sp>
      <p:sp>
        <p:nvSpPr>
          <p:cNvPr id="70660" name="Content Placeholder 3">
            <a:extLst>
              <a:ext uri="{FF2B5EF4-FFF2-40B4-BE49-F238E27FC236}">
                <a16:creationId xmlns:a16="http://schemas.microsoft.com/office/drawing/2014/main" id="{9F08DC9A-2D2E-4F3C-985E-95719688BE7A}"/>
              </a:ext>
            </a:extLst>
          </p:cNvPr>
          <p:cNvSpPr>
            <a:spLocks noGrp="1"/>
          </p:cNvSpPr>
          <p:nvPr>
            <p:ph sz="quarter" idx="1"/>
          </p:nvPr>
        </p:nvSpPr>
        <p:spPr/>
        <p:txBody>
          <a:bodyPr/>
          <a:lstStyle/>
          <a:p>
            <a:r>
              <a:rPr lang="en-US" altLang="en-US"/>
              <a:t>Let’s take a simple case, where we search for an item in a 100-element array:</a:t>
            </a:r>
          </a:p>
          <a:p>
            <a:pPr lvl="1"/>
            <a:r>
              <a:rPr lang="en-US" altLang="en-US"/>
              <a:t>int[] </a:t>
            </a:r>
            <a:r>
              <a:rPr lang="en-US" altLang="en-US" err="1"/>
              <a:t>arr</a:t>
            </a:r>
            <a:r>
              <a:rPr lang="en-US" altLang="en-US"/>
              <a:t> = {1,2,3,4,5,6,…..,100}</a:t>
            </a:r>
          </a:p>
          <a:p>
            <a:pPr lvl="1"/>
            <a:endParaRPr lang="en-US" altLang="en-US"/>
          </a:p>
          <a:p>
            <a:r>
              <a:rPr lang="en-US" altLang="en-US"/>
              <a:t>For an unordered array where we must use linear search, how many comparisons on average must we perform?</a:t>
            </a:r>
          </a:p>
          <a:p>
            <a:endParaRPr lang="en-US" altLang="en-US"/>
          </a:p>
          <a:p>
            <a:r>
              <a:rPr lang="en-US" altLang="en-US"/>
              <a:t>How about for binary search on an ordered array?  Let’s look for the element 33.</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CE304017-4507-4453-93B8-ABCB8D8B389F}"/>
              </a:ext>
            </a:extLst>
          </p:cNvPr>
          <p:cNvSpPr>
            <a:spLocks noGrp="1"/>
          </p:cNvSpPr>
          <p:nvPr>
            <p:ph type="title"/>
          </p:nvPr>
        </p:nvSpPr>
        <p:spPr/>
        <p:txBody>
          <a:bodyPr/>
          <a:lstStyle/>
          <a:p>
            <a:r>
              <a:rPr lang="en-US" altLang="en-US"/>
              <a:t>Binary Search</a:t>
            </a:r>
          </a:p>
        </p:txBody>
      </p:sp>
      <p:sp>
        <p:nvSpPr>
          <p:cNvPr id="3" name="Slide Number Placeholder 2">
            <a:extLst>
              <a:ext uri="{FF2B5EF4-FFF2-40B4-BE49-F238E27FC236}">
                <a16:creationId xmlns:a16="http://schemas.microsoft.com/office/drawing/2014/main" id="{2CCAA3C1-6DDF-4669-94D1-DE6B2E84FF0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ED29CD6-8D98-4779-8D7C-5229BB851150}" type="slidenum">
              <a:rPr lang="en-US" altLang="en-US" sz="2000">
                <a:latin typeface="Aptos" panose="020B0004020202020204" pitchFamily="34" charset="0"/>
              </a:rPr>
              <a:pPr eaLnBrk="1" hangingPunct="1"/>
              <a:t>61</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57179E73-71A1-4B30-A76E-51171609226B}"/>
              </a:ext>
            </a:extLst>
          </p:cNvPr>
          <p:cNvSpPr>
            <a:spLocks noGrp="1"/>
          </p:cNvSpPr>
          <p:nvPr>
            <p:ph sz="quarter" idx="1"/>
          </p:nvPr>
        </p:nvSpPr>
        <p:spPr>
          <a:xfrm>
            <a:off x="822959" y="1828800"/>
            <a:ext cx="9638563" cy="5029200"/>
          </a:xfrm>
        </p:spPr>
        <p:txBody>
          <a:bodyPr>
            <a:normAutofit fontScale="85000" lnSpcReduction="20000"/>
          </a:bodyPr>
          <a:lstStyle/>
          <a:p>
            <a:pPr>
              <a:spcBef>
                <a:spcPts val="580"/>
              </a:spcBef>
              <a:spcAft>
                <a:spcPct val="0"/>
              </a:spcAft>
              <a:defRPr/>
            </a:pPr>
            <a:r>
              <a:rPr lang="en-US" sz="2800"/>
              <a:t>Array has values 1-100</a:t>
            </a:r>
          </a:p>
          <a:p>
            <a:pPr>
              <a:spcBef>
                <a:spcPts val="580"/>
              </a:spcBef>
              <a:spcAft>
                <a:spcPct val="0"/>
              </a:spcAft>
              <a:defRPr/>
            </a:pPr>
            <a:r>
              <a:rPr lang="en-US" sz="2800"/>
              <a:t>First search: Check element 50</a:t>
            </a:r>
          </a:p>
          <a:p>
            <a:pPr marL="662940" lvl="1" indent="-342900">
              <a:spcBef>
                <a:spcPts val="370"/>
              </a:spcBef>
              <a:spcAft>
                <a:spcPct val="0"/>
              </a:spcAft>
              <a:defRPr/>
            </a:pPr>
            <a:r>
              <a:rPr lang="en-US" sz="2600"/>
              <a:t>50 &gt; 33, so repeat on first half (1-49)</a:t>
            </a:r>
          </a:p>
          <a:p>
            <a:pPr>
              <a:spcBef>
                <a:spcPts val="580"/>
              </a:spcBef>
              <a:spcAft>
                <a:spcPct val="0"/>
              </a:spcAft>
              <a:defRPr/>
            </a:pPr>
            <a:r>
              <a:rPr lang="en-US" sz="2800"/>
              <a:t>Second search: Check element 25</a:t>
            </a:r>
          </a:p>
          <a:p>
            <a:pPr marL="662940" lvl="1" indent="-342900">
              <a:spcBef>
                <a:spcPts val="370"/>
              </a:spcBef>
              <a:spcAft>
                <a:spcPct val="0"/>
              </a:spcAft>
              <a:defRPr/>
            </a:pPr>
            <a:r>
              <a:rPr lang="en-US" sz="2600"/>
              <a:t>25 &lt; 33, so repeat on second half (26-49)</a:t>
            </a:r>
          </a:p>
          <a:p>
            <a:pPr>
              <a:spcBef>
                <a:spcPts val="580"/>
              </a:spcBef>
              <a:spcAft>
                <a:spcPct val="0"/>
              </a:spcAft>
              <a:defRPr/>
            </a:pPr>
            <a:r>
              <a:rPr lang="en-US" sz="2800"/>
              <a:t>Third search: Check element 37</a:t>
            </a:r>
          </a:p>
          <a:p>
            <a:pPr marL="662940" lvl="1" indent="-342900">
              <a:spcBef>
                <a:spcPts val="370"/>
              </a:spcBef>
              <a:spcAft>
                <a:spcPct val="0"/>
              </a:spcAft>
              <a:defRPr/>
            </a:pPr>
            <a:r>
              <a:rPr lang="en-US" sz="2600"/>
              <a:t>37 &gt; 33, so repeat on first half (26-36)</a:t>
            </a:r>
          </a:p>
          <a:p>
            <a:pPr>
              <a:spcBef>
                <a:spcPts val="580"/>
              </a:spcBef>
              <a:spcAft>
                <a:spcPct val="0"/>
              </a:spcAft>
              <a:defRPr/>
            </a:pPr>
            <a:r>
              <a:rPr lang="en-US" sz="2800"/>
              <a:t>Fourth search: Check element 31</a:t>
            </a:r>
          </a:p>
          <a:p>
            <a:pPr marL="662940" lvl="1" indent="-342900">
              <a:spcBef>
                <a:spcPts val="370"/>
              </a:spcBef>
              <a:spcAft>
                <a:spcPct val="0"/>
              </a:spcAft>
              <a:defRPr/>
            </a:pPr>
            <a:r>
              <a:rPr lang="en-US"/>
              <a:t>31 &lt; 33, so repeat on second half (32-36)</a:t>
            </a:r>
          </a:p>
          <a:p>
            <a:pPr>
              <a:spcBef>
                <a:spcPts val="580"/>
              </a:spcBef>
              <a:spcAft>
                <a:spcPct val="0"/>
              </a:spcAft>
              <a:defRPr/>
            </a:pPr>
            <a:r>
              <a:rPr lang="en-US" sz="2800"/>
              <a:t>Fifth search: Check element 34</a:t>
            </a:r>
          </a:p>
          <a:p>
            <a:pPr marL="662940" lvl="1" indent="-342900">
              <a:spcBef>
                <a:spcPts val="370"/>
              </a:spcBef>
              <a:spcAft>
                <a:spcPct val="0"/>
              </a:spcAft>
              <a:defRPr/>
            </a:pPr>
            <a:r>
              <a:rPr lang="en-US" sz="2600"/>
              <a:t>34 &gt; 33, so repeat on first half (32-33)</a:t>
            </a:r>
          </a:p>
          <a:p>
            <a:pPr>
              <a:spcBef>
                <a:spcPts val="580"/>
              </a:spcBef>
              <a:spcAft>
                <a:spcPct val="0"/>
              </a:spcAft>
              <a:defRPr/>
            </a:pPr>
            <a:r>
              <a:rPr lang="en-US" sz="2800"/>
              <a:t>Sixth search: Check element 32</a:t>
            </a:r>
          </a:p>
          <a:p>
            <a:pPr marL="662940" lvl="1" indent="-342900">
              <a:spcBef>
                <a:spcPts val="370"/>
              </a:spcBef>
              <a:spcAft>
                <a:spcPct val="0"/>
              </a:spcAft>
              <a:defRPr/>
            </a:pPr>
            <a:r>
              <a:rPr lang="en-US" sz="2600"/>
              <a:t>32 &lt; 33, so repeat on second half (33)</a:t>
            </a:r>
          </a:p>
          <a:p>
            <a:pPr>
              <a:spcBef>
                <a:spcPts val="580"/>
              </a:spcBef>
              <a:spcAft>
                <a:spcPct val="0"/>
              </a:spcAft>
              <a:defRPr/>
            </a:pPr>
            <a:r>
              <a:rPr lang="en-US" sz="2800"/>
              <a:t>Seventh search: Check element 33!  Found.</a:t>
            </a:r>
          </a:p>
          <a:p>
            <a:pPr>
              <a:spcBef>
                <a:spcPts val="580"/>
              </a:spcBef>
              <a:spcAft>
                <a:spcPct val="0"/>
              </a:spcAft>
              <a:defRPr/>
            </a:pPr>
            <a:r>
              <a:rPr lang="en-US" sz="2800"/>
              <a:t>So 7 comparisons.  With linear search, it would’ve been 33.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5D9244C9-A370-4D80-B06B-61A0FCF694EB}"/>
              </a:ext>
            </a:extLst>
          </p:cNvPr>
          <p:cNvSpPr>
            <a:spLocks noGrp="1"/>
          </p:cNvSpPr>
          <p:nvPr>
            <p:ph type="title"/>
          </p:nvPr>
        </p:nvSpPr>
        <p:spPr/>
        <p:txBody>
          <a:bodyPr/>
          <a:lstStyle/>
          <a:p>
            <a:r>
              <a:rPr lang="en-US" altLang="en-US"/>
              <a:t>Affect on Operations</a:t>
            </a:r>
          </a:p>
        </p:txBody>
      </p:sp>
      <p:sp>
        <p:nvSpPr>
          <p:cNvPr id="3" name="Slide Number Placeholder 2">
            <a:extLst>
              <a:ext uri="{FF2B5EF4-FFF2-40B4-BE49-F238E27FC236}">
                <a16:creationId xmlns:a16="http://schemas.microsoft.com/office/drawing/2014/main" id="{58B73616-7D99-4ECE-90CA-FFF21C0F8543}"/>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DB96D7CF-4A6F-4ADE-A51D-7D8E11488DF5}" type="slidenum">
              <a:rPr lang="en-US" altLang="en-US" sz="2000">
                <a:latin typeface="Aptos" panose="020B0004020202020204" pitchFamily="34" charset="0"/>
              </a:rPr>
              <a:pPr eaLnBrk="1" hangingPunct="1"/>
              <a:t>62</a:t>
            </a:fld>
            <a:endParaRPr lang="en-US" altLang="en-US" sz="2000">
              <a:latin typeface="Aptos" panose="020B0004020202020204" pitchFamily="34" charset="0"/>
            </a:endParaRPr>
          </a:p>
        </p:txBody>
      </p:sp>
      <p:sp>
        <p:nvSpPr>
          <p:cNvPr id="72708" name="Content Placeholder 3">
            <a:extLst>
              <a:ext uri="{FF2B5EF4-FFF2-40B4-BE49-F238E27FC236}">
                <a16:creationId xmlns:a16="http://schemas.microsoft.com/office/drawing/2014/main" id="{8D9CFCCE-5857-4B6C-A075-8627D6ED3C5A}"/>
              </a:ext>
            </a:extLst>
          </p:cNvPr>
          <p:cNvSpPr>
            <a:spLocks noGrp="1"/>
          </p:cNvSpPr>
          <p:nvPr>
            <p:ph sz="quarter" idx="1"/>
          </p:nvPr>
        </p:nvSpPr>
        <p:spPr/>
        <p:txBody>
          <a:bodyPr/>
          <a:lstStyle/>
          <a:p>
            <a:r>
              <a:rPr lang="en-US" altLang="en-US"/>
              <a:t>We saw how binary search sped up the searching operation</a:t>
            </a:r>
          </a:p>
          <a:p>
            <a:r>
              <a:rPr lang="en-US" altLang="en-US"/>
              <a:t>Can it also speed up deletion?</a:t>
            </a:r>
          </a:p>
          <a:p>
            <a:endParaRPr lang="en-US" altLang="en-US"/>
          </a:p>
          <a:p>
            <a:r>
              <a:rPr lang="en-US" altLang="en-US"/>
              <a:t>What about, insertion of a new element into an ordered array?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F6E24046-84DE-4CDB-BA13-4C373FE8F95E}"/>
              </a:ext>
            </a:extLst>
          </p:cNvPr>
          <p:cNvSpPr>
            <a:spLocks noGrp="1"/>
          </p:cNvSpPr>
          <p:nvPr>
            <p:ph type="title"/>
          </p:nvPr>
        </p:nvSpPr>
        <p:spPr/>
        <p:txBody>
          <a:bodyPr/>
          <a:lstStyle/>
          <a:p>
            <a:r>
              <a:rPr lang="en-US" altLang="en-US"/>
              <a:t>Implementation</a:t>
            </a:r>
          </a:p>
        </p:txBody>
      </p:sp>
      <p:sp>
        <p:nvSpPr>
          <p:cNvPr id="3" name="Slide Number Placeholder 2">
            <a:extLst>
              <a:ext uri="{FF2B5EF4-FFF2-40B4-BE49-F238E27FC236}">
                <a16:creationId xmlns:a16="http://schemas.microsoft.com/office/drawing/2014/main" id="{96F017DD-6A26-4A83-9CC6-F2BF30E248C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596E871A-088A-40D2-81F4-14049359C80B}" type="slidenum">
              <a:rPr lang="en-US" altLang="en-US" sz="2000">
                <a:latin typeface="Aptos" panose="020B0004020202020204" pitchFamily="34" charset="0"/>
              </a:rPr>
              <a:pPr eaLnBrk="1" hangingPunct="1"/>
              <a:t>63</a:t>
            </a:fld>
            <a:endParaRPr lang="en-US" altLang="en-US" sz="2000">
              <a:latin typeface="Aptos" panose="020B0004020202020204" pitchFamily="34" charset="0"/>
            </a:endParaRPr>
          </a:p>
        </p:txBody>
      </p:sp>
      <p:sp>
        <p:nvSpPr>
          <p:cNvPr id="73732" name="Content Placeholder 3">
            <a:extLst>
              <a:ext uri="{FF2B5EF4-FFF2-40B4-BE49-F238E27FC236}">
                <a16:creationId xmlns:a16="http://schemas.microsoft.com/office/drawing/2014/main" id="{4795F642-C020-4286-8B07-5137B710C064}"/>
              </a:ext>
            </a:extLst>
          </p:cNvPr>
          <p:cNvSpPr>
            <a:spLocks noGrp="1"/>
          </p:cNvSpPr>
          <p:nvPr>
            <p:ph sz="quarter" idx="1"/>
          </p:nvPr>
        </p:nvSpPr>
        <p:spPr/>
        <p:txBody>
          <a:bodyPr vert="horz" lIns="91440" tIns="45720" rIns="91440" bIns="45720" rtlCol="0" anchor="t">
            <a:normAutofit/>
          </a:bodyPr>
          <a:lstStyle/>
          <a:p>
            <a:r>
              <a:rPr lang="en-US" altLang="en-US">
                <a:latin typeface="Aptos"/>
              </a:rPr>
              <a:t>Let’s go through the Java implementation, on pages 56-57.</a:t>
            </a:r>
          </a:p>
          <a:p>
            <a:r>
              <a:rPr lang="en-US" altLang="en-US">
                <a:latin typeface="Aptos"/>
              </a:rPr>
              <a:t>At any given time:</a:t>
            </a:r>
          </a:p>
          <a:p>
            <a:pPr lvl="1"/>
            <a:r>
              <a:rPr lang="en-US" altLang="en-US" err="1">
                <a:latin typeface="Aptos"/>
              </a:rPr>
              <a:t>lowerBound</a:t>
            </a:r>
            <a:r>
              <a:rPr lang="en-US" altLang="en-US">
                <a:latin typeface="Aptos"/>
              </a:rPr>
              <a:t> holds the lower index of the range we are searching</a:t>
            </a:r>
          </a:p>
          <a:p>
            <a:pPr lvl="1"/>
            <a:r>
              <a:rPr lang="en-US" altLang="en-US" err="1">
                <a:latin typeface="Aptos"/>
              </a:rPr>
              <a:t>upperBound</a:t>
            </a:r>
            <a:r>
              <a:rPr lang="en-US" altLang="en-US">
                <a:latin typeface="Aptos"/>
              </a:rPr>
              <a:t> holds the upper index of the range we are searching</a:t>
            </a:r>
          </a:p>
          <a:p>
            <a:pPr lvl="1"/>
            <a:r>
              <a:rPr lang="en-US" altLang="en-US" err="1">
                <a:latin typeface="Aptos"/>
              </a:rPr>
              <a:t>curIn</a:t>
            </a:r>
            <a:r>
              <a:rPr lang="en-US" altLang="en-US">
                <a:latin typeface="Aptos"/>
              </a:rPr>
              <a:t> holds the current index we are looking at</a:t>
            </a:r>
          </a:p>
          <a:p>
            <a:r>
              <a:rPr lang="en-US">
                <a:latin typeface="Aptos"/>
              </a:rPr>
              <a:t>What if the element is not in the array?  What happens?</a:t>
            </a:r>
            <a:endParaRPr lang="en-US" altLang="en-US">
              <a:latin typeface="Aptos"/>
            </a:endParaRPr>
          </a:p>
          <a:p>
            <a:pPr lvl="1"/>
            <a:endParaRPr lang="en-US" altLang="en-US">
              <a:latin typeface="Aptos"/>
            </a:endParaRPr>
          </a:p>
          <a:p>
            <a:r>
              <a:rPr lang="en-US" altLang="en-US">
                <a:latin typeface="Aptos"/>
              </a:rPr>
              <a:t>Link:</a:t>
            </a:r>
          </a:p>
          <a:p>
            <a:pPr lvl="1"/>
            <a:r>
              <a:rPr lang="en-US">
                <a:latin typeface="Aptos"/>
                <a:hlinkClick r:id="rId2"/>
              </a:rPr>
              <a:t>https://github.com/biblelamp/JavaExercises/blob/master/Algorithms/array/orderedArray.java</a:t>
            </a:r>
            <a:endParaRPr lang="en-US" altLang="en-US">
              <a:latin typeface="Aptos"/>
            </a:endParaRPr>
          </a:p>
          <a:p>
            <a:endParaRPr lang="en-US" altLang="en-US">
              <a:latin typeface="Apto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8E8EFAD-B87B-410D-A14E-FE438E6C5C7E}"/>
              </a:ext>
            </a:extLst>
          </p:cNvPr>
          <p:cNvSpPr>
            <a:spLocks noGrp="1"/>
          </p:cNvSpPr>
          <p:nvPr>
            <p:ph type="title"/>
          </p:nvPr>
        </p:nvSpPr>
        <p:spPr/>
        <p:txBody>
          <a:bodyPr/>
          <a:lstStyle/>
          <a:p>
            <a:r>
              <a:rPr lang="en-US" altLang="en-US" dirty="0"/>
              <a:t>Now, let’s implement the </a:t>
            </a:r>
            <a:r>
              <a:rPr lang="en-US" altLang="en-US" dirty="0" err="1"/>
              <a:t>OrdArray</a:t>
            </a:r>
            <a:endParaRPr lang="en-US" altLang="en-US" dirty="0"/>
          </a:p>
        </p:txBody>
      </p:sp>
      <p:sp>
        <p:nvSpPr>
          <p:cNvPr id="3" name="Slide Number Placeholder 2">
            <a:extLst>
              <a:ext uri="{FF2B5EF4-FFF2-40B4-BE49-F238E27FC236}">
                <a16:creationId xmlns:a16="http://schemas.microsoft.com/office/drawing/2014/main" id="{77973626-85A6-49F3-A274-139875CA83D7}"/>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02B7A3C-D000-419B-BAE6-1D56D5ACFD06}" type="slidenum">
              <a:rPr lang="en-US" altLang="en-US" sz="2000">
                <a:latin typeface="Aptos" panose="020B0004020202020204" pitchFamily="34" charset="0"/>
              </a:rPr>
              <a:pPr eaLnBrk="1" hangingPunct="1"/>
              <a:t>64</a:t>
            </a:fld>
            <a:endParaRPr lang="en-US" altLang="en-US" sz="2000">
              <a:latin typeface="Aptos" panose="020B0004020202020204" pitchFamily="34" charset="0"/>
            </a:endParaRPr>
          </a:p>
        </p:txBody>
      </p:sp>
      <p:sp>
        <p:nvSpPr>
          <p:cNvPr id="74756" name="Content Placeholder 3">
            <a:extLst>
              <a:ext uri="{FF2B5EF4-FFF2-40B4-BE49-F238E27FC236}">
                <a16:creationId xmlns:a16="http://schemas.microsoft.com/office/drawing/2014/main" id="{637E2610-EA75-4C95-BE29-80F4FF55E8E3}"/>
              </a:ext>
            </a:extLst>
          </p:cNvPr>
          <p:cNvSpPr>
            <a:spLocks noGrp="1"/>
          </p:cNvSpPr>
          <p:nvPr>
            <p:ph sz="quarter" idx="1"/>
          </p:nvPr>
        </p:nvSpPr>
        <p:spPr/>
        <p:txBody>
          <a:bodyPr>
            <a:normAutofit/>
          </a:bodyPr>
          <a:lstStyle/>
          <a:p>
            <a:r>
              <a:rPr lang="en-US" altLang="en-US" dirty="0"/>
              <a:t>Data</a:t>
            </a:r>
          </a:p>
          <a:p>
            <a:pPr lvl="1"/>
            <a:r>
              <a:rPr lang="en-US" altLang="en-US" dirty="0"/>
              <a:t>The array itself</a:t>
            </a:r>
          </a:p>
          <a:p>
            <a:pPr lvl="1"/>
            <a:r>
              <a:rPr lang="en-US" altLang="en-US" dirty="0"/>
              <a:t>The number of occupied slots</a:t>
            </a:r>
          </a:p>
          <a:p>
            <a:r>
              <a:rPr lang="en-US" altLang="en-US" dirty="0"/>
              <a:t>Methods</a:t>
            </a:r>
          </a:p>
          <a:p>
            <a:pPr lvl="1"/>
            <a:r>
              <a:rPr lang="en-US" altLang="en-US" dirty="0"/>
              <a:t>Constructor</a:t>
            </a:r>
          </a:p>
          <a:p>
            <a:pPr lvl="1"/>
            <a:r>
              <a:rPr lang="en-US" altLang="en-US" dirty="0"/>
              <a:t>Size</a:t>
            </a:r>
          </a:p>
          <a:p>
            <a:pPr lvl="1"/>
            <a:r>
              <a:rPr lang="en-US" altLang="en-US" dirty="0"/>
              <a:t>Find (with binary search)</a:t>
            </a:r>
          </a:p>
          <a:p>
            <a:pPr lvl="1"/>
            <a:r>
              <a:rPr lang="en-US" altLang="en-US" dirty="0"/>
              <a:t>Insert (with binary search)</a:t>
            </a:r>
          </a:p>
          <a:p>
            <a:pPr lvl="1"/>
            <a:r>
              <a:rPr lang="en-US" altLang="en-US" dirty="0"/>
              <a:t>Delete (with binary search)</a:t>
            </a:r>
          </a:p>
          <a:p>
            <a:pPr lvl="1"/>
            <a:r>
              <a:rPr lang="en-US" altLang="en-US" dirty="0"/>
              <a:t>Display</a:t>
            </a:r>
          </a:p>
          <a:p>
            <a:pPr lvl="1"/>
            <a:endParaRPr lang="en-US"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D0F9043C-93F3-44B6-B526-14263ADC8A23}"/>
              </a:ext>
            </a:extLst>
          </p:cNvPr>
          <p:cNvSpPr>
            <a:spLocks noGrp="1"/>
          </p:cNvSpPr>
          <p:nvPr>
            <p:ph type="title"/>
          </p:nvPr>
        </p:nvSpPr>
        <p:spPr/>
        <p:txBody>
          <a:bodyPr/>
          <a:lstStyle/>
          <a:p>
            <a:r>
              <a:rPr lang="en-US" altLang="en-US"/>
              <a:t>Analysis</a:t>
            </a:r>
          </a:p>
        </p:txBody>
      </p:sp>
      <p:sp>
        <p:nvSpPr>
          <p:cNvPr id="3" name="Slide Number Placeholder 2">
            <a:extLst>
              <a:ext uri="{FF2B5EF4-FFF2-40B4-BE49-F238E27FC236}">
                <a16:creationId xmlns:a16="http://schemas.microsoft.com/office/drawing/2014/main" id="{31AD3CE5-AF5C-4731-9947-ADD105421C74}"/>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88E7C92-C372-4E8A-948B-3ACAF2F3C65E}" type="slidenum">
              <a:rPr lang="en-US" altLang="en-US" sz="2000">
                <a:latin typeface="Aptos" panose="020B0004020202020204" pitchFamily="34" charset="0"/>
              </a:rPr>
              <a:pPr eaLnBrk="1" hangingPunct="1"/>
              <a:t>65</a:t>
            </a:fld>
            <a:endParaRPr lang="en-US" altLang="en-US" sz="2000">
              <a:latin typeface="Aptos" panose="020B0004020202020204" pitchFamily="34" charset="0"/>
            </a:endParaRPr>
          </a:p>
        </p:txBody>
      </p:sp>
      <p:sp>
        <p:nvSpPr>
          <p:cNvPr id="75780" name="Content Placeholder 3">
            <a:extLst>
              <a:ext uri="{FF2B5EF4-FFF2-40B4-BE49-F238E27FC236}">
                <a16:creationId xmlns:a16="http://schemas.microsoft.com/office/drawing/2014/main" id="{D4B6EFC5-26F5-4BC5-AA19-D80E11BC51E6}"/>
              </a:ext>
            </a:extLst>
          </p:cNvPr>
          <p:cNvSpPr>
            <a:spLocks noGrp="1"/>
          </p:cNvSpPr>
          <p:nvPr>
            <p:ph sz="quarter" idx="1"/>
          </p:nvPr>
        </p:nvSpPr>
        <p:spPr/>
        <p:txBody>
          <a:bodyPr/>
          <a:lstStyle/>
          <a:p>
            <a:r>
              <a:rPr lang="en-US" altLang="en-US"/>
              <a:t>What have we gained by using ordered arrays?</a:t>
            </a:r>
          </a:p>
          <a:p>
            <a:r>
              <a:rPr lang="en-US" altLang="en-US"/>
              <a:t>Is searching faster or slower?</a:t>
            </a:r>
          </a:p>
          <a:p>
            <a:r>
              <a:rPr lang="en-US" altLang="en-US"/>
              <a:t>Is insertion faster or slower?</a:t>
            </a:r>
          </a:p>
          <a:p>
            <a:r>
              <a:rPr lang="en-US" altLang="en-US"/>
              <a:t>Is deletion faster or slower?</a:t>
            </a:r>
          </a:p>
          <a:p>
            <a:endParaRPr lang="en-US" altLang="en-US"/>
          </a:p>
          <a:p>
            <a:r>
              <a:rPr lang="en-US" altLang="en-US"/>
              <a:t>All in all, ordered arrays would be useful in situations where insertion/deletion are infrequent, but searching is frequent</a:t>
            </a:r>
          </a:p>
          <a:p>
            <a:pPr lvl="1"/>
            <a:r>
              <a:rPr lang="en-US" altLang="en-US"/>
              <a:t>Employee records – hiring/firing is less frequent than accessing or updating an employee record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E7024CB-AFD9-461D-A260-4001B3EF3D61}"/>
              </a:ext>
            </a:extLst>
          </p:cNvPr>
          <p:cNvSpPr>
            <a:spLocks noGrp="1"/>
          </p:cNvSpPr>
          <p:nvPr>
            <p:ph type="title"/>
          </p:nvPr>
        </p:nvSpPr>
        <p:spPr/>
        <p:txBody>
          <a:bodyPr/>
          <a:lstStyle/>
          <a:p>
            <a:r>
              <a:rPr lang="en-US" altLang="en-US"/>
              <a:t>Ordered Array: Operation Counts</a:t>
            </a:r>
          </a:p>
        </p:txBody>
      </p:sp>
      <p:sp>
        <p:nvSpPr>
          <p:cNvPr id="3" name="Slide Number Placeholder 2">
            <a:extLst>
              <a:ext uri="{FF2B5EF4-FFF2-40B4-BE49-F238E27FC236}">
                <a16:creationId xmlns:a16="http://schemas.microsoft.com/office/drawing/2014/main" id="{647C51E6-B5CB-4E87-9CB8-BCDABCD96E62}"/>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03EB769-799A-410F-BE4C-6D0ABDC4856E}" type="slidenum">
              <a:rPr lang="en-US" altLang="en-US" sz="2000">
                <a:latin typeface="Aptos" panose="020B0004020202020204" pitchFamily="34" charset="0"/>
              </a:rPr>
              <a:pPr eaLnBrk="1" hangingPunct="1"/>
              <a:t>66</a:t>
            </a:fld>
            <a:endParaRPr lang="en-US" altLang="en-US" sz="2000">
              <a:latin typeface="Aptos" panose="020B0004020202020204" pitchFamily="34" charset="0"/>
            </a:endParaRPr>
          </a:p>
        </p:txBody>
      </p:sp>
      <p:sp>
        <p:nvSpPr>
          <p:cNvPr id="4" name="Content Placeholder 3">
            <a:extLst>
              <a:ext uri="{FF2B5EF4-FFF2-40B4-BE49-F238E27FC236}">
                <a16:creationId xmlns:a16="http://schemas.microsoft.com/office/drawing/2014/main" id="{4ABABBFD-E0DE-4EA8-9C8B-8D9DECAAFB6C}"/>
              </a:ext>
            </a:extLst>
          </p:cNvPr>
          <p:cNvSpPr>
            <a:spLocks noGrp="1"/>
          </p:cNvSpPr>
          <p:nvPr>
            <p:ph sz="quarter" idx="1"/>
          </p:nvPr>
        </p:nvSpPr>
        <p:spPr/>
        <p:txBody>
          <a:bodyPr>
            <a:normAutofit fontScale="92500" lnSpcReduction="20000"/>
          </a:bodyPr>
          <a:lstStyle/>
          <a:p>
            <a:pPr>
              <a:spcBef>
                <a:spcPts val="580"/>
              </a:spcBef>
              <a:spcAft>
                <a:spcPct val="0"/>
              </a:spcAft>
              <a:defRPr/>
            </a:pPr>
            <a:r>
              <a:rPr lang="en-US"/>
              <a:t>Maximum number of comparisons for an ordered array of n elements, running binary search:</a:t>
            </a:r>
          </a:p>
          <a:p>
            <a:pPr>
              <a:spcBef>
                <a:spcPts val="580"/>
              </a:spcBef>
              <a:spcAft>
                <a:spcPct val="0"/>
              </a:spcAft>
              <a:defRPr/>
            </a:pPr>
            <a:endParaRPr lang="en-US"/>
          </a:p>
          <a:p>
            <a:pPr>
              <a:spcBef>
                <a:spcPts val="580"/>
              </a:spcBef>
              <a:spcAft>
                <a:spcPct val="0"/>
              </a:spcAft>
              <a:defRPr/>
            </a:pPr>
            <a:r>
              <a:rPr lang="en-US"/>
              <a:t>n			Comparisons</a:t>
            </a:r>
          </a:p>
          <a:p>
            <a:pPr>
              <a:spcBef>
                <a:spcPts val="580"/>
              </a:spcBef>
              <a:spcAft>
                <a:spcPct val="0"/>
              </a:spcAft>
              <a:defRPr/>
            </a:pPr>
            <a:r>
              <a:rPr lang="en-US"/>
              <a:t>10			4</a:t>
            </a:r>
          </a:p>
          <a:p>
            <a:pPr>
              <a:spcBef>
                <a:spcPts val="580"/>
              </a:spcBef>
              <a:spcAft>
                <a:spcPct val="0"/>
              </a:spcAft>
              <a:defRPr/>
            </a:pPr>
            <a:r>
              <a:rPr lang="en-US"/>
              <a:t>100			7</a:t>
            </a:r>
          </a:p>
          <a:p>
            <a:pPr>
              <a:spcBef>
                <a:spcPts val="580"/>
              </a:spcBef>
              <a:spcAft>
                <a:spcPct val="0"/>
              </a:spcAft>
              <a:defRPr/>
            </a:pPr>
            <a:r>
              <a:rPr lang="en-US"/>
              <a:t>1000			10</a:t>
            </a:r>
          </a:p>
          <a:p>
            <a:pPr>
              <a:spcBef>
                <a:spcPts val="580"/>
              </a:spcBef>
              <a:spcAft>
                <a:spcPct val="0"/>
              </a:spcAft>
              <a:defRPr/>
            </a:pPr>
            <a:r>
              <a:rPr lang="en-US"/>
              <a:t>10000		14</a:t>
            </a:r>
          </a:p>
          <a:p>
            <a:pPr>
              <a:spcBef>
                <a:spcPts val="580"/>
              </a:spcBef>
              <a:spcAft>
                <a:spcPct val="0"/>
              </a:spcAft>
              <a:defRPr/>
            </a:pPr>
            <a:r>
              <a:rPr lang="en-US"/>
              <a:t>100000		17</a:t>
            </a:r>
          </a:p>
          <a:p>
            <a:pPr>
              <a:spcBef>
                <a:spcPts val="580"/>
              </a:spcBef>
              <a:spcAft>
                <a:spcPct val="0"/>
              </a:spcAft>
              <a:defRPr/>
            </a:pPr>
            <a:r>
              <a:rPr lang="en-US"/>
              <a:t>1000000		20</a:t>
            </a:r>
          </a:p>
          <a:p>
            <a:pPr>
              <a:spcBef>
                <a:spcPts val="580"/>
              </a:spcBef>
              <a:spcAft>
                <a:spcPct val="0"/>
              </a:spcAft>
              <a:defRPr/>
            </a:pPr>
            <a:endParaRPr lang="en-US"/>
          </a:p>
          <a:p>
            <a:pPr>
              <a:spcBef>
                <a:spcPts val="580"/>
              </a:spcBef>
              <a:spcAft>
                <a:spcPct val="0"/>
              </a:spcAft>
              <a:defRPr/>
            </a:pPr>
            <a:r>
              <a:rPr lang="en-US"/>
              <a:t>How does this compare with linear search, particularly for large arrays?  Whew.</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D6E24BDE-9DD2-4C4D-8464-59213103D7C4}"/>
              </a:ext>
            </a:extLst>
          </p:cNvPr>
          <p:cNvSpPr>
            <a:spLocks noGrp="1"/>
          </p:cNvSpPr>
          <p:nvPr>
            <p:ph type="title"/>
          </p:nvPr>
        </p:nvSpPr>
        <p:spPr/>
        <p:txBody>
          <a:bodyPr/>
          <a:lstStyle/>
          <a:p>
            <a:r>
              <a:rPr lang="en-US" altLang="en-US"/>
              <a:t>A Deeper Analysis</a:t>
            </a:r>
          </a:p>
        </p:txBody>
      </p:sp>
      <p:sp>
        <p:nvSpPr>
          <p:cNvPr id="3" name="Slide Number Placeholder 2">
            <a:extLst>
              <a:ext uri="{FF2B5EF4-FFF2-40B4-BE49-F238E27FC236}">
                <a16:creationId xmlns:a16="http://schemas.microsoft.com/office/drawing/2014/main" id="{37ED01B0-DDF1-4212-A816-2C0516E5D0D3}"/>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EA4BB5D8-DB57-49B9-BE21-E211E6A77AF9}" type="slidenum">
              <a:rPr lang="en-US" altLang="en-US" sz="2000">
                <a:latin typeface="Aptos" panose="020B0004020202020204" pitchFamily="34" charset="0"/>
              </a:rPr>
              <a:pPr eaLnBrk="1" hangingPunct="1"/>
              <a:t>67</a:t>
            </a:fld>
            <a:endParaRPr lang="en-US" altLang="en-US" sz="2000">
              <a:latin typeface="Aptos" panose="020B0004020202020204" pitchFamily="34" charset="0"/>
            </a:endParaRPr>
          </a:p>
        </p:txBody>
      </p:sp>
      <p:sp>
        <p:nvSpPr>
          <p:cNvPr id="77828" name="Content Placeholder 3">
            <a:extLst>
              <a:ext uri="{FF2B5EF4-FFF2-40B4-BE49-F238E27FC236}">
                <a16:creationId xmlns:a16="http://schemas.microsoft.com/office/drawing/2014/main" id="{86FCC478-18A5-4229-8102-D8FD5F5814D8}"/>
              </a:ext>
            </a:extLst>
          </p:cNvPr>
          <p:cNvSpPr>
            <a:spLocks noGrp="1"/>
          </p:cNvSpPr>
          <p:nvPr>
            <p:ph sz="quarter" idx="1"/>
          </p:nvPr>
        </p:nvSpPr>
        <p:spPr>
          <a:xfrm>
            <a:off x="822960" y="1828800"/>
            <a:ext cx="7772400" cy="5029200"/>
          </a:xfrm>
        </p:spPr>
        <p:txBody>
          <a:bodyPr/>
          <a:lstStyle/>
          <a:p>
            <a:r>
              <a:rPr lang="en-US" altLang="en-US"/>
              <a:t>How many comparisons would be required for an array of 256 elements?  (2^8)</a:t>
            </a:r>
          </a:p>
          <a:p>
            <a:r>
              <a:rPr lang="en-US" altLang="en-US"/>
              <a:t>What about 512 (2^9)?</a:t>
            </a:r>
          </a:p>
          <a:p>
            <a:r>
              <a:rPr lang="en-US" altLang="en-US"/>
              <a:t>What do you think 1024 would be (2^10)?</a:t>
            </a:r>
          </a:p>
          <a:p>
            <a:r>
              <a:rPr lang="en-US" altLang="en-US"/>
              <a:t>See the pattern?</a:t>
            </a:r>
          </a:p>
          <a:p>
            <a:endParaRPr lang="en-US" altLang="en-US"/>
          </a:p>
          <a:p>
            <a:r>
              <a:rPr lang="en-US" altLang="en-US"/>
              <a:t>So for n values, the number of comparisons is log</a:t>
            </a:r>
            <a:r>
              <a:rPr lang="en-US" altLang="en-US" baseline="-25000"/>
              <a:t>2</a:t>
            </a:r>
            <a:r>
              <a:rPr lang="en-US" altLang="en-US"/>
              <a:t>(n)+1.</a:t>
            </a:r>
          </a:p>
          <a:p>
            <a:r>
              <a:rPr lang="en-US" altLang="en-US"/>
              <a:t>This is an example of an algorithm which scales </a:t>
            </a:r>
            <a:r>
              <a:rPr lang="en-US" altLang="en-US" i="1"/>
              <a:t>logarithmically</a:t>
            </a:r>
            <a:r>
              <a:rPr lang="en-US" altLang="en-US"/>
              <a:t> with the input size.  Linear search, scales linearly.</a:t>
            </a:r>
          </a:p>
          <a:p>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DF6D0CCD-0EB3-4A58-AA40-2A59652118E1}"/>
              </a:ext>
            </a:extLst>
          </p:cNvPr>
          <p:cNvSpPr>
            <a:spLocks noGrp="1"/>
          </p:cNvSpPr>
          <p:nvPr>
            <p:ph type="title"/>
          </p:nvPr>
        </p:nvSpPr>
        <p:spPr/>
        <p:txBody>
          <a:bodyPr/>
          <a:lstStyle/>
          <a:p>
            <a:r>
              <a:rPr lang="en-US" altLang="en-US"/>
              <a:t>Computing log</a:t>
            </a:r>
            <a:r>
              <a:rPr lang="en-US" altLang="en-US" baseline="-25000"/>
              <a:t>2</a:t>
            </a:r>
            <a:r>
              <a:rPr lang="en-US" altLang="en-US"/>
              <a:t>n</a:t>
            </a:r>
          </a:p>
        </p:txBody>
      </p:sp>
      <p:sp>
        <p:nvSpPr>
          <p:cNvPr id="3" name="Slide Number Placeholder 2">
            <a:extLst>
              <a:ext uri="{FF2B5EF4-FFF2-40B4-BE49-F238E27FC236}">
                <a16:creationId xmlns:a16="http://schemas.microsoft.com/office/drawing/2014/main" id="{8C216E0F-87EB-42B1-9530-41FD25212E0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D91E010F-CAEE-4D37-AED7-CCE1C378DCDC}" type="slidenum">
              <a:rPr lang="en-US" altLang="en-US" sz="2000">
                <a:latin typeface="Aptos" panose="020B0004020202020204" pitchFamily="34" charset="0"/>
              </a:rPr>
              <a:pPr eaLnBrk="1" hangingPunct="1"/>
              <a:t>68</a:t>
            </a:fld>
            <a:endParaRPr lang="en-US" altLang="en-US" sz="2000">
              <a:latin typeface="Aptos" panose="020B0004020202020204" pitchFamily="34" charset="0"/>
            </a:endParaRPr>
          </a:p>
        </p:txBody>
      </p:sp>
      <p:sp>
        <p:nvSpPr>
          <p:cNvPr id="78852" name="Content Placeholder 3">
            <a:extLst>
              <a:ext uri="{FF2B5EF4-FFF2-40B4-BE49-F238E27FC236}">
                <a16:creationId xmlns:a16="http://schemas.microsoft.com/office/drawing/2014/main" id="{254BE77D-6FAB-4486-9D93-FF8B860E31EF}"/>
              </a:ext>
            </a:extLst>
          </p:cNvPr>
          <p:cNvSpPr>
            <a:spLocks noGrp="1"/>
          </p:cNvSpPr>
          <p:nvPr>
            <p:ph sz="quarter" idx="1"/>
          </p:nvPr>
        </p:nvSpPr>
        <p:spPr/>
        <p:txBody>
          <a:bodyPr vert="horz" lIns="91440" tIns="45720" rIns="91440" bIns="45720" rtlCol="0" anchor="t">
            <a:normAutofit/>
          </a:bodyPr>
          <a:lstStyle/>
          <a:p>
            <a:r>
              <a:rPr lang="en-US" altLang="en-US">
                <a:latin typeface="Aptos"/>
              </a:rPr>
              <a:t>On a calculator, if you use the “log” button, usually the base is 10.  If you want to convert:</a:t>
            </a:r>
          </a:p>
          <a:p>
            <a:pPr lvl="1"/>
            <a:r>
              <a:rPr lang="en-US" altLang="en-US">
                <a:latin typeface="Aptos"/>
              </a:rPr>
              <a:t>Multiply by 3.322</a:t>
            </a:r>
          </a:p>
          <a:p>
            <a:endParaRPr lang="en-US" altLang="en-US"/>
          </a:p>
          <a:p>
            <a:r>
              <a:rPr lang="en-US" altLang="en-US">
                <a:latin typeface="Aptos"/>
              </a:rPr>
              <a:t>Algorithms that scale logarithmically are preferable to those that scale linearly, because the log of a function grows much slower than the function itself. O(</a:t>
            </a:r>
            <a:r>
              <a:rPr lang="en-US" altLang="en-US" err="1">
                <a:latin typeface="Aptos"/>
              </a:rPr>
              <a:t>logn</a:t>
            </a:r>
            <a:r>
              <a:rPr lang="en-US" altLang="en-US">
                <a:latin typeface="Aptos"/>
              </a:rPr>
              <a:t>) is better than O(n).</a:t>
            </a:r>
            <a:endParaRPr lang="en-US" altLang="en-US"/>
          </a:p>
          <a:p>
            <a:endParaRPr lang="en-US" altLang="en-US"/>
          </a:p>
          <a:p>
            <a:r>
              <a:rPr lang="en-US" altLang="en-US">
                <a:latin typeface="Aptos"/>
              </a:rPr>
              <a:t>So for large input sets, you’ll have a MUCH smaller number of operations.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62EE8-343F-9214-9533-DC24AB85FDA1}"/>
              </a:ext>
            </a:extLst>
          </p:cNvPr>
          <p:cNvSpPr>
            <a:spLocks noGrp="1"/>
          </p:cNvSpPr>
          <p:nvPr>
            <p:ph type="title"/>
          </p:nvPr>
        </p:nvSpPr>
        <p:spPr/>
        <p:txBody>
          <a:bodyPr/>
          <a:lstStyle/>
          <a:p>
            <a:r>
              <a:rPr lang="en-US">
                <a:latin typeface="Aptos"/>
                <a:cs typeface="Segoe UI"/>
              </a:rPr>
              <a:t>Computing log</a:t>
            </a:r>
            <a:r>
              <a:rPr lang="en-US" sz="2900" baseline="-25000">
                <a:latin typeface="Aptos"/>
                <a:cs typeface="Segoe UI"/>
              </a:rPr>
              <a:t>2</a:t>
            </a:r>
            <a:r>
              <a:rPr lang="en-US">
                <a:latin typeface="Aptos"/>
                <a:cs typeface="Segoe UI"/>
              </a:rPr>
              <a:t>n</a:t>
            </a:r>
          </a:p>
        </p:txBody>
      </p:sp>
      <p:pic>
        <p:nvPicPr>
          <p:cNvPr id="5" name="Content Placeholder 4" descr="Binary logarithm - Wikipedia">
            <a:extLst>
              <a:ext uri="{FF2B5EF4-FFF2-40B4-BE49-F238E27FC236}">
                <a16:creationId xmlns:a16="http://schemas.microsoft.com/office/drawing/2014/main" id="{3162FABB-BF0E-1EF3-EC29-2D7DF60FD093}"/>
              </a:ext>
            </a:extLst>
          </p:cNvPr>
          <p:cNvPicPr>
            <a:picLocks noGrp="1" noChangeAspect="1"/>
          </p:cNvPicPr>
          <p:nvPr>
            <p:ph idx="1"/>
          </p:nvPr>
        </p:nvPicPr>
        <p:blipFill>
          <a:blip r:embed="rId2"/>
          <a:stretch>
            <a:fillRect/>
          </a:stretch>
        </p:blipFill>
        <p:spPr>
          <a:xfrm>
            <a:off x="5197954" y="1032733"/>
            <a:ext cx="6996227" cy="5576716"/>
          </a:xfrm>
        </p:spPr>
      </p:pic>
      <p:sp>
        <p:nvSpPr>
          <p:cNvPr id="4" name="Slide Number Placeholder 3">
            <a:extLst>
              <a:ext uri="{FF2B5EF4-FFF2-40B4-BE49-F238E27FC236}">
                <a16:creationId xmlns:a16="http://schemas.microsoft.com/office/drawing/2014/main" id="{3AD4493C-F920-82A6-D6D4-9B14DB55BB03}"/>
              </a:ext>
            </a:extLst>
          </p:cNvPr>
          <p:cNvSpPr>
            <a:spLocks noGrp="1"/>
          </p:cNvSpPr>
          <p:nvPr>
            <p:ph type="sldNum" sz="quarter" idx="12"/>
          </p:nvPr>
        </p:nvSpPr>
        <p:spPr/>
        <p:txBody>
          <a:bodyPr/>
          <a:lstStyle/>
          <a:p>
            <a:fld id="{A3AE6EEF-09FB-4745-97EC-5981027EA46D}" type="slidenum">
              <a:rPr lang="en-US" smtClean="0"/>
              <a:pPr/>
              <a:t>69</a:t>
            </a:fld>
            <a:endParaRPr lang="en-US"/>
          </a:p>
        </p:txBody>
      </p:sp>
      <p:sp>
        <p:nvSpPr>
          <p:cNvPr id="7" name="TextBox 6">
            <a:extLst>
              <a:ext uri="{FF2B5EF4-FFF2-40B4-BE49-F238E27FC236}">
                <a16:creationId xmlns:a16="http://schemas.microsoft.com/office/drawing/2014/main" id="{1B21466F-55D9-3931-9AD2-BB96113C80DC}"/>
              </a:ext>
            </a:extLst>
          </p:cNvPr>
          <p:cNvSpPr txBox="1"/>
          <p:nvPr/>
        </p:nvSpPr>
        <p:spPr>
          <a:xfrm>
            <a:off x="837125" y="1502534"/>
            <a:ext cx="454248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ptos"/>
                <a:ea typeface="+mn-lt"/>
                <a:cs typeface="+mn-lt"/>
              </a:rPr>
              <a:t>2</a:t>
            </a:r>
            <a:r>
              <a:rPr lang="en-US" sz="2400" baseline="30000">
                <a:latin typeface="Aptos"/>
                <a:ea typeface="+mn-lt"/>
                <a:cs typeface="+mn-lt"/>
              </a:rPr>
              <a:t>2</a:t>
            </a:r>
            <a:r>
              <a:rPr lang="en-US" sz="2400">
                <a:latin typeface="Aptos"/>
                <a:ea typeface="+mn-lt"/>
                <a:cs typeface="+mn-lt"/>
              </a:rPr>
              <a:t> = </a:t>
            </a:r>
            <a:r>
              <a:rPr lang="en-US" sz="2400">
                <a:solidFill>
                  <a:srgbClr val="000000"/>
                </a:solidFill>
                <a:latin typeface="Aptos"/>
                <a:ea typeface="+mn-lt"/>
                <a:cs typeface="+mn-lt"/>
              </a:rPr>
              <a:t>4</a:t>
            </a:r>
            <a:endParaRPr lang="en-US" sz="2400">
              <a:solidFill>
                <a:srgbClr val="000000"/>
              </a:solidFill>
              <a:latin typeface="Aptos"/>
              <a:ea typeface="Calibri" panose="020F0502020204030204"/>
              <a:cs typeface="Calibri" panose="020F0502020204030204"/>
            </a:endParaRPr>
          </a:p>
          <a:p>
            <a:r>
              <a:rPr lang="en-US" sz="2400">
                <a:latin typeface="Aptos"/>
                <a:ea typeface="+mn-lt"/>
                <a:cs typeface="+mn-lt"/>
              </a:rPr>
              <a:t>2</a:t>
            </a:r>
            <a:r>
              <a:rPr lang="en-US" sz="2400" baseline="30000">
                <a:latin typeface="Aptos"/>
                <a:ea typeface="+mn-lt"/>
                <a:cs typeface="+mn-lt"/>
              </a:rPr>
              <a:t>3</a:t>
            </a:r>
            <a:r>
              <a:rPr lang="en-US" sz="2400">
                <a:latin typeface="Aptos"/>
                <a:ea typeface="+mn-lt"/>
                <a:cs typeface="+mn-lt"/>
              </a:rPr>
              <a:t> = 8</a:t>
            </a:r>
            <a:endParaRPr lang="en-US" sz="2400">
              <a:latin typeface="Aptos"/>
              <a:ea typeface="Calibri"/>
              <a:cs typeface="Calibri"/>
            </a:endParaRPr>
          </a:p>
          <a:p>
            <a:r>
              <a:rPr lang="en-US" sz="2400">
                <a:latin typeface="Aptos"/>
                <a:ea typeface="+mn-lt"/>
                <a:cs typeface="+mn-lt"/>
              </a:rPr>
              <a:t>2</a:t>
            </a:r>
            <a:r>
              <a:rPr lang="en-US" sz="2400" baseline="30000">
                <a:latin typeface="Aptos"/>
                <a:ea typeface="+mn-lt"/>
                <a:cs typeface="+mn-lt"/>
              </a:rPr>
              <a:t>4</a:t>
            </a:r>
            <a:r>
              <a:rPr lang="en-US" sz="2400">
                <a:latin typeface="Aptos"/>
                <a:ea typeface="+mn-lt"/>
                <a:cs typeface="+mn-lt"/>
              </a:rPr>
              <a:t> = 16</a:t>
            </a:r>
          </a:p>
          <a:p>
            <a:r>
              <a:rPr lang="en-US" sz="2400">
                <a:latin typeface="Aptos"/>
                <a:ea typeface="+mn-lt"/>
                <a:cs typeface="+mn-lt"/>
              </a:rPr>
              <a:t>2</a:t>
            </a:r>
            <a:r>
              <a:rPr lang="en-US" sz="2400" baseline="30000">
                <a:latin typeface="Aptos"/>
                <a:ea typeface="+mn-lt"/>
                <a:cs typeface="+mn-lt"/>
              </a:rPr>
              <a:t>5</a:t>
            </a:r>
            <a:r>
              <a:rPr lang="en-US" sz="2400">
                <a:latin typeface="Aptos"/>
                <a:ea typeface="+mn-lt"/>
                <a:cs typeface="+mn-lt"/>
              </a:rPr>
              <a:t> = 32</a:t>
            </a:r>
            <a:endParaRPr lang="en-US" sz="2400">
              <a:latin typeface="Aptos"/>
              <a:ea typeface="Calibri"/>
              <a:cs typeface="Calibri"/>
            </a:endParaRPr>
          </a:p>
          <a:p>
            <a:endParaRPr lang="en-US" sz="2400">
              <a:latin typeface="Aptos"/>
              <a:ea typeface="+mn-lt"/>
              <a:cs typeface="+mn-lt"/>
            </a:endParaRPr>
          </a:p>
          <a:p>
            <a:r>
              <a:rPr lang="en-US" sz="2400">
                <a:latin typeface="Aptos"/>
                <a:ea typeface="+mn-lt"/>
                <a:cs typeface="+mn-lt"/>
              </a:rPr>
              <a:t>log</a:t>
            </a:r>
            <a:r>
              <a:rPr lang="en-US" sz="2400" baseline="-25000">
                <a:latin typeface="Aptos"/>
                <a:ea typeface="+mn-lt"/>
                <a:cs typeface="+mn-lt"/>
              </a:rPr>
              <a:t>2</a:t>
            </a:r>
            <a:r>
              <a:rPr lang="en-US" sz="2400">
                <a:latin typeface="Aptos"/>
                <a:ea typeface="+mn-lt"/>
                <a:cs typeface="+mn-lt"/>
              </a:rPr>
              <a:t>(4) = 2</a:t>
            </a:r>
          </a:p>
          <a:p>
            <a:r>
              <a:rPr lang="en-US" sz="2400">
                <a:latin typeface="Aptos"/>
                <a:ea typeface="+mn-lt"/>
                <a:cs typeface="+mn-lt"/>
              </a:rPr>
              <a:t>log</a:t>
            </a:r>
            <a:r>
              <a:rPr lang="en-US" sz="2400" baseline="-25000">
                <a:latin typeface="Aptos"/>
                <a:ea typeface="+mn-lt"/>
                <a:cs typeface="+mn-lt"/>
              </a:rPr>
              <a:t>2</a:t>
            </a:r>
            <a:r>
              <a:rPr lang="en-US" sz="2400">
                <a:latin typeface="Aptos"/>
                <a:ea typeface="+mn-lt"/>
                <a:cs typeface="+mn-lt"/>
              </a:rPr>
              <a:t>(8) = 3</a:t>
            </a:r>
          </a:p>
          <a:p>
            <a:r>
              <a:rPr lang="en-US" sz="2400">
                <a:latin typeface="Aptos"/>
                <a:ea typeface="+mn-lt"/>
                <a:cs typeface="+mn-lt"/>
              </a:rPr>
              <a:t>log</a:t>
            </a:r>
            <a:r>
              <a:rPr lang="en-US" sz="2400" baseline="-25000">
                <a:latin typeface="Aptos"/>
                <a:ea typeface="+mn-lt"/>
                <a:cs typeface="+mn-lt"/>
              </a:rPr>
              <a:t>2</a:t>
            </a:r>
            <a:r>
              <a:rPr lang="en-US" sz="2400">
                <a:latin typeface="Aptos"/>
                <a:ea typeface="+mn-lt"/>
                <a:cs typeface="+mn-lt"/>
              </a:rPr>
              <a:t>(16) = 4</a:t>
            </a:r>
          </a:p>
          <a:p>
            <a:r>
              <a:rPr lang="en-US" sz="2400">
                <a:latin typeface="Aptos"/>
                <a:ea typeface="Calibri"/>
                <a:cs typeface="Calibri"/>
              </a:rPr>
              <a:t>log</a:t>
            </a:r>
            <a:r>
              <a:rPr lang="en-US" sz="2400" baseline="-25000">
                <a:latin typeface="Aptos"/>
                <a:ea typeface="Calibri"/>
                <a:cs typeface="Calibri"/>
              </a:rPr>
              <a:t>2</a:t>
            </a:r>
            <a:r>
              <a:rPr lang="en-US" sz="2400">
                <a:latin typeface="Aptos"/>
                <a:ea typeface="Calibri"/>
                <a:cs typeface="Calibri"/>
              </a:rPr>
              <a:t>(32) = 5</a:t>
            </a:r>
          </a:p>
          <a:p>
            <a:endParaRPr lang="en-US" sz="2400">
              <a:latin typeface="Aptos"/>
              <a:ea typeface="Calibri"/>
              <a:cs typeface="Calibri"/>
            </a:endParaRPr>
          </a:p>
          <a:p>
            <a:r>
              <a:rPr lang="en-US" sz="2400">
                <a:latin typeface="Aptos"/>
                <a:ea typeface="Calibri"/>
                <a:cs typeface="Calibri"/>
              </a:rPr>
              <a:t>log</a:t>
            </a:r>
            <a:r>
              <a:rPr lang="en-US" sz="2400" baseline="-25000">
                <a:latin typeface="Aptos"/>
                <a:ea typeface="Calibri"/>
                <a:cs typeface="Calibri"/>
              </a:rPr>
              <a:t>2</a:t>
            </a:r>
            <a:r>
              <a:rPr lang="en-US" sz="2400">
                <a:latin typeface="Aptos"/>
                <a:ea typeface="Calibri"/>
                <a:cs typeface="Calibri"/>
              </a:rPr>
              <a:t>(x) mean 2 to the power of what value to get x</a:t>
            </a:r>
          </a:p>
        </p:txBody>
      </p:sp>
    </p:spTree>
    <p:extLst>
      <p:ext uri="{BB962C8B-B14F-4D97-AF65-F5344CB8AC3E}">
        <p14:creationId xmlns:p14="http://schemas.microsoft.com/office/powerpoint/2010/main" val="5192315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18AFB6A5-5E00-4F3E-A63D-B3C6B9410270}"/>
              </a:ext>
            </a:extLst>
          </p:cNvPr>
          <p:cNvSpPr>
            <a:spLocks noGrp="1"/>
          </p:cNvSpPr>
          <p:nvPr>
            <p:ph type="title"/>
          </p:nvPr>
        </p:nvSpPr>
        <p:spPr/>
        <p:txBody>
          <a:bodyPr/>
          <a:lstStyle/>
          <a:p>
            <a:r>
              <a:rPr lang="en-US" altLang="en-US"/>
              <a:t>Storing Objects</a:t>
            </a:r>
          </a:p>
        </p:txBody>
      </p:sp>
      <p:sp>
        <p:nvSpPr>
          <p:cNvPr id="3" name="Slide Number Placeholder 2">
            <a:extLst>
              <a:ext uri="{FF2B5EF4-FFF2-40B4-BE49-F238E27FC236}">
                <a16:creationId xmlns:a16="http://schemas.microsoft.com/office/drawing/2014/main" id="{1627E0D7-0477-4A5E-9C15-EBB3B3B29C81}"/>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6EDE7031-1F95-4500-8A12-74B08E821C84}" type="slidenum">
              <a:rPr lang="en-US" altLang="en-US" sz="2000">
                <a:latin typeface="Aptos" panose="020B0004020202020204" pitchFamily="34" charset="0"/>
              </a:rPr>
              <a:pPr eaLnBrk="1" hangingPunct="1"/>
              <a:t>70</a:t>
            </a:fld>
            <a:endParaRPr lang="en-US" altLang="en-US" sz="2000">
              <a:latin typeface="Aptos" panose="020B0004020202020204" pitchFamily="34" charset="0"/>
            </a:endParaRPr>
          </a:p>
        </p:txBody>
      </p:sp>
      <p:sp>
        <p:nvSpPr>
          <p:cNvPr id="79876" name="Content Placeholder 3">
            <a:extLst>
              <a:ext uri="{FF2B5EF4-FFF2-40B4-BE49-F238E27FC236}">
                <a16:creationId xmlns:a16="http://schemas.microsoft.com/office/drawing/2014/main" id="{C7B26C91-38E5-42C3-8ACB-4AFD0C4CADA5}"/>
              </a:ext>
            </a:extLst>
          </p:cNvPr>
          <p:cNvSpPr>
            <a:spLocks noGrp="1"/>
          </p:cNvSpPr>
          <p:nvPr>
            <p:ph sz="quarter" idx="1"/>
          </p:nvPr>
        </p:nvSpPr>
        <p:spPr/>
        <p:txBody>
          <a:bodyPr vert="horz" lIns="91440" tIns="45720" rIns="91440" bIns="45720" rtlCol="0" anchor="t">
            <a:normAutofit/>
          </a:bodyPr>
          <a:lstStyle/>
          <a:p>
            <a:r>
              <a:rPr lang="en-US" altLang="en-US">
                <a:latin typeface="Aptos"/>
              </a:rPr>
              <a:t>We’ve seen an example where we used arrays to store primitive data.  Now let’s look at an example which stores objects.   What’s our situation now with values and references?</a:t>
            </a:r>
          </a:p>
          <a:p>
            <a:endParaRPr lang="en-US" altLang="en-US"/>
          </a:p>
          <a:p>
            <a:r>
              <a:rPr lang="en-US" altLang="en-US">
                <a:latin typeface="Aptos"/>
              </a:rPr>
              <a:t>The array itself is still a reference</a:t>
            </a:r>
            <a:endParaRPr lang="en-US" altLang="en-US"/>
          </a:p>
          <a:p>
            <a:r>
              <a:rPr lang="en-US" altLang="en-US">
                <a:latin typeface="Aptos"/>
              </a:rPr>
              <a:t>The elements of the array are reference</a:t>
            </a:r>
            <a:endParaRPr lang="en-US" altLang="en-US" err="1"/>
          </a:p>
          <a:p>
            <a:endParaRPr lang="en-US" altLang="en-US"/>
          </a:p>
          <a:p>
            <a:r>
              <a:rPr lang="en-US" altLang="en-US">
                <a:latin typeface="Aptos"/>
              </a:rPr>
              <a:t>Implications?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170E6DBF-F873-4902-9662-2DD66A83D6B6}"/>
              </a:ext>
            </a:extLst>
          </p:cNvPr>
          <p:cNvSpPr>
            <a:spLocks noGrp="1"/>
          </p:cNvSpPr>
          <p:nvPr>
            <p:ph type="title"/>
          </p:nvPr>
        </p:nvSpPr>
        <p:spPr/>
        <p:txBody>
          <a:bodyPr/>
          <a:lstStyle/>
          <a:p>
            <a:r>
              <a:rPr lang="en-US" altLang="en-US"/>
              <a:t>Person Class</a:t>
            </a:r>
          </a:p>
        </p:txBody>
      </p:sp>
      <p:sp>
        <p:nvSpPr>
          <p:cNvPr id="3" name="Slide Number Placeholder 2">
            <a:extLst>
              <a:ext uri="{FF2B5EF4-FFF2-40B4-BE49-F238E27FC236}">
                <a16:creationId xmlns:a16="http://schemas.microsoft.com/office/drawing/2014/main" id="{D88942D7-31CE-44AC-84A4-581BAB16FE67}"/>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53216EB-B7D5-4E46-87D6-B6EFE0B7297E}" type="slidenum">
              <a:rPr lang="en-US" altLang="en-US" sz="2000">
                <a:latin typeface="Aptos" panose="020B0004020202020204" pitchFamily="34" charset="0"/>
              </a:rPr>
              <a:pPr eaLnBrk="1" hangingPunct="1"/>
              <a:t>71</a:t>
            </a:fld>
            <a:endParaRPr lang="en-US" altLang="en-US" sz="2000">
              <a:latin typeface="Aptos" panose="020B0004020202020204" pitchFamily="34" charset="0"/>
            </a:endParaRPr>
          </a:p>
        </p:txBody>
      </p:sp>
      <p:sp>
        <p:nvSpPr>
          <p:cNvPr id="80900" name="Content Placeholder 3">
            <a:extLst>
              <a:ext uri="{FF2B5EF4-FFF2-40B4-BE49-F238E27FC236}">
                <a16:creationId xmlns:a16="http://schemas.microsoft.com/office/drawing/2014/main" id="{70A661A8-E5A3-4FD8-8C99-4CAE8216E806}"/>
              </a:ext>
            </a:extLst>
          </p:cNvPr>
          <p:cNvSpPr>
            <a:spLocks noGrp="1"/>
          </p:cNvSpPr>
          <p:nvPr>
            <p:ph sz="quarter" idx="1"/>
          </p:nvPr>
        </p:nvSpPr>
        <p:spPr/>
        <p:txBody>
          <a:bodyPr/>
          <a:lstStyle/>
          <a:p>
            <a:r>
              <a:rPr lang="en-US" altLang="en-US"/>
              <a:t>Let’s go through the Person class on page 65.</a:t>
            </a:r>
          </a:p>
          <a:p>
            <a:r>
              <a:rPr lang="en-US" altLang="en-US"/>
              <a:t>Data:</a:t>
            </a:r>
          </a:p>
          <a:p>
            <a:pPr lvl="1"/>
            <a:r>
              <a:rPr lang="en-US" altLang="en-US"/>
              <a:t>First name and last name (String objects), age (integer value)</a:t>
            </a:r>
          </a:p>
          <a:p>
            <a:r>
              <a:rPr lang="en-US" altLang="en-US"/>
              <a:t>Functions</a:t>
            </a:r>
          </a:p>
          <a:p>
            <a:pPr lvl="1"/>
            <a:r>
              <a:rPr lang="en-US" altLang="en-US"/>
              <a:t>Constructor which takes two strings and an integer</a:t>
            </a:r>
          </a:p>
          <a:p>
            <a:pPr lvl="1"/>
            <a:r>
              <a:rPr lang="en-US" altLang="en-US"/>
              <a:t>Function to display information</a:t>
            </a:r>
          </a:p>
          <a:p>
            <a:pPr lvl="1"/>
            <a:r>
              <a:rPr lang="en-US" altLang="en-US"/>
              <a:t>Function to return the last name (we’ll eventually use this for searching)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925C68C4-3967-49E5-B2A1-5E8B1B1F66C3}"/>
              </a:ext>
            </a:extLst>
          </p:cNvPr>
          <p:cNvSpPr>
            <a:spLocks noGrp="1"/>
          </p:cNvSpPr>
          <p:nvPr>
            <p:ph type="title"/>
          </p:nvPr>
        </p:nvSpPr>
        <p:spPr/>
        <p:txBody>
          <a:bodyPr/>
          <a:lstStyle/>
          <a:p>
            <a:r>
              <a:rPr lang="en-US" altLang="en-US"/>
              <a:t>Adapting our </a:t>
            </a:r>
            <a:r>
              <a:rPr lang="en-US" altLang="en-US" err="1"/>
              <a:t>HighArray</a:t>
            </a:r>
            <a:r>
              <a:rPr lang="en-US" altLang="en-US"/>
              <a:t> class</a:t>
            </a:r>
          </a:p>
        </p:txBody>
      </p:sp>
      <p:sp>
        <p:nvSpPr>
          <p:cNvPr id="3" name="Slide Number Placeholder 2">
            <a:extLst>
              <a:ext uri="{FF2B5EF4-FFF2-40B4-BE49-F238E27FC236}">
                <a16:creationId xmlns:a16="http://schemas.microsoft.com/office/drawing/2014/main" id="{F7C97207-A89F-4D59-9EA7-BA79FD0E3BA7}"/>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AF0C23F-F7EC-4C3B-8037-9ED4CB16846B}" type="slidenum">
              <a:rPr lang="en-US" altLang="en-US" sz="2000">
                <a:latin typeface="Aptos" panose="020B0004020202020204" pitchFamily="34" charset="0"/>
              </a:rPr>
              <a:pPr eaLnBrk="1" hangingPunct="1"/>
              <a:t>72</a:t>
            </a:fld>
            <a:endParaRPr lang="en-US" altLang="en-US" sz="2000">
              <a:latin typeface="Aptos" panose="020B0004020202020204" pitchFamily="34" charset="0"/>
            </a:endParaRPr>
          </a:p>
        </p:txBody>
      </p:sp>
      <p:sp>
        <p:nvSpPr>
          <p:cNvPr id="81924" name="Content Placeholder 3">
            <a:extLst>
              <a:ext uri="{FF2B5EF4-FFF2-40B4-BE49-F238E27FC236}">
                <a16:creationId xmlns:a16="http://schemas.microsoft.com/office/drawing/2014/main" id="{D2615785-FB8B-4329-ADAC-AB0DD5BC775D}"/>
              </a:ext>
            </a:extLst>
          </p:cNvPr>
          <p:cNvSpPr>
            <a:spLocks noGrp="1"/>
          </p:cNvSpPr>
          <p:nvPr>
            <p:ph sz="quarter" idx="1"/>
          </p:nvPr>
        </p:nvSpPr>
        <p:spPr/>
        <p:txBody>
          <a:bodyPr/>
          <a:lstStyle/>
          <a:p>
            <a:r>
              <a:rPr lang="en-US" altLang="en-US"/>
              <a:t>Rewrite the implementation on page 49</a:t>
            </a:r>
          </a:p>
          <a:p>
            <a:r>
              <a:rPr lang="en-US" altLang="en-US"/>
              <a:t>Change to operate on Persons instead of integers</a:t>
            </a:r>
          </a:p>
          <a:p>
            <a:r>
              <a:rPr lang="en-US" altLang="en-US"/>
              <a:t>Watch out for the ==!</a:t>
            </a:r>
          </a:p>
          <a:p>
            <a:r>
              <a:rPr lang="en-US" altLang="en-US"/>
              <a:t>In main() construct Person objects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343B9009-60E7-4869-B6A8-D2F968EAC664}"/>
              </a:ext>
            </a:extLst>
          </p:cNvPr>
          <p:cNvSpPr>
            <a:spLocks noGrp="1"/>
          </p:cNvSpPr>
          <p:nvPr>
            <p:ph type="title"/>
          </p:nvPr>
        </p:nvSpPr>
        <p:spPr/>
        <p:txBody>
          <a:bodyPr/>
          <a:lstStyle/>
          <a:p>
            <a:r>
              <a:rPr lang="en-US" altLang="en-US"/>
              <a:t>Big-Oh Notation</a:t>
            </a:r>
          </a:p>
        </p:txBody>
      </p:sp>
      <p:sp>
        <p:nvSpPr>
          <p:cNvPr id="3" name="Slide Number Placeholder 2">
            <a:extLst>
              <a:ext uri="{FF2B5EF4-FFF2-40B4-BE49-F238E27FC236}">
                <a16:creationId xmlns:a16="http://schemas.microsoft.com/office/drawing/2014/main" id="{926FC64B-4360-4706-82B6-EC3A86C7A3AC}"/>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34395154-FE1C-4BC1-896B-29E03FFDAA85}" type="slidenum">
              <a:rPr lang="en-US" altLang="en-US" sz="2000">
                <a:latin typeface="Aptos" panose="020B0004020202020204" pitchFamily="34" charset="0"/>
              </a:rPr>
              <a:pPr eaLnBrk="1" hangingPunct="1"/>
              <a:t>73</a:t>
            </a:fld>
            <a:endParaRPr lang="en-US" altLang="en-US" sz="2000">
              <a:latin typeface="Aptos" panose="020B0004020202020204" pitchFamily="34" charset="0"/>
            </a:endParaRPr>
          </a:p>
        </p:txBody>
      </p:sp>
      <p:sp>
        <p:nvSpPr>
          <p:cNvPr id="82948" name="Content Placeholder 3">
            <a:extLst>
              <a:ext uri="{FF2B5EF4-FFF2-40B4-BE49-F238E27FC236}">
                <a16:creationId xmlns:a16="http://schemas.microsoft.com/office/drawing/2014/main" id="{9DB05F94-EFA8-46C2-98E5-B5E0F1E533CA}"/>
              </a:ext>
            </a:extLst>
          </p:cNvPr>
          <p:cNvSpPr>
            <a:spLocks noGrp="1"/>
          </p:cNvSpPr>
          <p:nvPr>
            <p:ph sz="quarter" idx="1"/>
          </p:nvPr>
        </p:nvSpPr>
        <p:spPr/>
        <p:txBody>
          <a:bodyPr/>
          <a:lstStyle/>
          <a:p>
            <a:r>
              <a:rPr lang="en-US" altLang="en-US"/>
              <a:t>Provides a metric for evaluating the efficiency of an algorithm</a:t>
            </a:r>
          </a:p>
          <a:p>
            <a:r>
              <a:rPr lang="en-US" altLang="en-US"/>
              <a:t>Analogy: Automobiles</a:t>
            </a:r>
          </a:p>
          <a:p>
            <a:pPr lvl="1"/>
            <a:r>
              <a:rPr lang="en-US" altLang="en-US"/>
              <a:t>Subcompacts</a:t>
            </a:r>
          </a:p>
          <a:p>
            <a:pPr lvl="1"/>
            <a:r>
              <a:rPr lang="en-US" altLang="en-US"/>
              <a:t>Compacts</a:t>
            </a:r>
          </a:p>
          <a:p>
            <a:pPr lvl="1"/>
            <a:r>
              <a:rPr lang="en-US" altLang="en-US"/>
              <a:t>Midsize</a:t>
            </a:r>
          </a:p>
          <a:p>
            <a:pPr lvl="1"/>
            <a:r>
              <a:rPr lang="en-US" altLang="en-US"/>
              <a:t>etc.</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73890C10-6ADD-40FA-90CA-576941EC3321}"/>
              </a:ext>
            </a:extLst>
          </p:cNvPr>
          <p:cNvSpPr>
            <a:spLocks noGrp="1"/>
          </p:cNvSpPr>
          <p:nvPr>
            <p:ph type="title"/>
          </p:nvPr>
        </p:nvSpPr>
        <p:spPr/>
        <p:txBody>
          <a:bodyPr/>
          <a:lstStyle/>
          <a:p>
            <a:r>
              <a:rPr lang="en-US" altLang="en-US"/>
              <a:t>How it’s done</a:t>
            </a:r>
          </a:p>
        </p:txBody>
      </p:sp>
      <p:sp>
        <p:nvSpPr>
          <p:cNvPr id="3" name="Slide Number Placeholder 2">
            <a:extLst>
              <a:ext uri="{FF2B5EF4-FFF2-40B4-BE49-F238E27FC236}">
                <a16:creationId xmlns:a16="http://schemas.microsoft.com/office/drawing/2014/main" id="{15C21173-03B6-4FAB-9779-39CBC91F1FDF}"/>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0220D6AB-3107-4592-A720-224BEA1DA8DB}" type="slidenum">
              <a:rPr lang="en-US" altLang="en-US" sz="2000">
                <a:latin typeface="Aptos" panose="020B0004020202020204" pitchFamily="34" charset="0"/>
              </a:rPr>
              <a:pPr eaLnBrk="1" hangingPunct="1"/>
              <a:t>74</a:t>
            </a:fld>
            <a:endParaRPr lang="en-US" altLang="en-US" sz="2000">
              <a:latin typeface="Aptos" panose="020B0004020202020204" pitchFamily="34" charset="0"/>
            </a:endParaRPr>
          </a:p>
        </p:txBody>
      </p:sp>
      <p:sp>
        <p:nvSpPr>
          <p:cNvPr id="83972" name="Content Placeholder 3">
            <a:extLst>
              <a:ext uri="{FF2B5EF4-FFF2-40B4-BE49-F238E27FC236}">
                <a16:creationId xmlns:a16="http://schemas.microsoft.com/office/drawing/2014/main" id="{7E1624AD-E147-486D-8675-8B80B2067111}"/>
              </a:ext>
            </a:extLst>
          </p:cNvPr>
          <p:cNvSpPr>
            <a:spLocks noGrp="1"/>
          </p:cNvSpPr>
          <p:nvPr>
            <p:ph sz="quarter" idx="1"/>
          </p:nvPr>
        </p:nvSpPr>
        <p:spPr/>
        <p:txBody>
          <a:bodyPr>
            <a:normAutofit/>
          </a:bodyPr>
          <a:lstStyle/>
          <a:p>
            <a:r>
              <a:rPr lang="en-US" altLang="en-US"/>
              <a:t>It’s difficult to simply say: A is twice as fast as B</a:t>
            </a:r>
          </a:p>
          <a:p>
            <a:r>
              <a:rPr lang="en-US" altLang="en-US"/>
              <a:t>We saw with linear search vs. binary search, the comparison can be different when you change the input size.  For example, for an array of size n:</a:t>
            </a:r>
          </a:p>
          <a:p>
            <a:r>
              <a:rPr lang="en-US" altLang="en-US"/>
              <a:t>n=16, linear search comparisons = 10, binary search comparisons = 5</a:t>
            </a:r>
          </a:p>
          <a:p>
            <a:pPr lvl="1"/>
            <a:r>
              <a:rPr lang="en-US" altLang="en-US"/>
              <a:t>Binary search is 2x as fast</a:t>
            </a:r>
          </a:p>
          <a:p>
            <a:r>
              <a:rPr lang="en-US" altLang="en-US"/>
              <a:t>n=32, linear search comparisons = 32, binary search comparisons = 6</a:t>
            </a:r>
          </a:p>
          <a:p>
            <a:pPr lvl="1"/>
            <a:r>
              <a:rPr lang="en-US" altLang="en-US"/>
              <a:t>Binary search is 5.3x as fast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6A70C-909C-4B7E-A354-6C55E5EC6BA9}"/>
              </a:ext>
            </a:extLst>
          </p:cNvPr>
          <p:cNvSpPr>
            <a:spLocks noGrp="1"/>
          </p:cNvSpPr>
          <p:nvPr>
            <p:ph type="title"/>
          </p:nvPr>
        </p:nvSpPr>
        <p:spPr/>
        <p:txBody>
          <a:bodyPr>
            <a:normAutofit/>
          </a:bodyPr>
          <a:lstStyle/>
          <a:p>
            <a:pPr fontAlgn="auto">
              <a:spcAft>
                <a:spcPct val="0"/>
              </a:spcAft>
              <a:defRPr/>
            </a:pPr>
            <a:r>
              <a:rPr lang="en-US"/>
              <a:t>Example: Insertion into Unordered Array</a:t>
            </a:r>
          </a:p>
        </p:txBody>
      </p:sp>
      <p:sp>
        <p:nvSpPr>
          <p:cNvPr id="3" name="Slide Number Placeholder 2">
            <a:extLst>
              <a:ext uri="{FF2B5EF4-FFF2-40B4-BE49-F238E27FC236}">
                <a16:creationId xmlns:a16="http://schemas.microsoft.com/office/drawing/2014/main" id="{73708CF5-2C7D-4A2A-9E28-AA9164A26C4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9ED7605-6212-4537-A3A4-C9CC62BAC516}" type="slidenum">
              <a:rPr lang="en-US" altLang="en-US" sz="2000">
                <a:latin typeface="Aptos" panose="020B0004020202020204" pitchFamily="34" charset="0"/>
              </a:rPr>
              <a:pPr eaLnBrk="1" hangingPunct="1"/>
              <a:t>75</a:t>
            </a:fld>
            <a:endParaRPr lang="en-US" altLang="en-US" sz="2000">
              <a:latin typeface="Aptos" panose="020B0004020202020204" pitchFamily="34" charset="0"/>
            </a:endParaRPr>
          </a:p>
        </p:txBody>
      </p:sp>
      <p:sp>
        <p:nvSpPr>
          <p:cNvPr id="84996" name="Content Placeholder 3">
            <a:extLst>
              <a:ext uri="{FF2B5EF4-FFF2-40B4-BE49-F238E27FC236}">
                <a16:creationId xmlns:a16="http://schemas.microsoft.com/office/drawing/2014/main" id="{8981D2A8-3A27-43BA-9DB7-D0A359EDA43E}"/>
              </a:ext>
            </a:extLst>
          </p:cNvPr>
          <p:cNvSpPr>
            <a:spLocks noGrp="1"/>
          </p:cNvSpPr>
          <p:nvPr>
            <p:ph sz="quarter" idx="1"/>
          </p:nvPr>
        </p:nvSpPr>
        <p:spPr/>
        <p:txBody>
          <a:bodyPr vert="horz" lIns="91440" tIns="45720" rIns="91440" bIns="45720" rtlCol="0" anchor="t">
            <a:normAutofit lnSpcReduction="10000"/>
          </a:bodyPr>
          <a:lstStyle/>
          <a:p>
            <a:r>
              <a:rPr lang="en-US" altLang="en-US">
                <a:latin typeface="Aptos"/>
              </a:rPr>
              <a:t>Suppose we just insert at the next available position:</a:t>
            </a:r>
          </a:p>
          <a:p>
            <a:pPr lvl="1"/>
            <a:r>
              <a:rPr lang="en-US" altLang="en-US">
                <a:latin typeface="Aptos"/>
              </a:rPr>
              <a:t>Position is a[</a:t>
            </a:r>
            <a:r>
              <a:rPr lang="en-US" altLang="en-US" err="1">
                <a:latin typeface="Aptos"/>
              </a:rPr>
              <a:t>nElems</a:t>
            </a:r>
            <a:r>
              <a:rPr lang="en-US" altLang="en-US">
                <a:latin typeface="Aptos"/>
              </a:rPr>
              <a:t>]</a:t>
            </a:r>
          </a:p>
          <a:p>
            <a:pPr lvl="1"/>
            <a:r>
              <a:rPr lang="en-US" altLang="en-US">
                <a:latin typeface="Aptos"/>
              </a:rPr>
              <a:t>Increment </a:t>
            </a:r>
            <a:r>
              <a:rPr lang="en-US" altLang="en-US" err="1">
                <a:latin typeface="Aptos"/>
              </a:rPr>
              <a:t>nElems</a:t>
            </a:r>
            <a:endParaRPr lang="en-US" altLang="en-US">
              <a:latin typeface="Aptos"/>
            </a:endParaRPr>
          </a:p>
          <a:p>
            <a:pPr lvl="1"/>
            <a:endParaRPr lang="en-US" altLang="en-US"/>
          </a:p>
          <a:p>
            <a:r>
              <a:rPr lang="en-US" altLang="en-US">
                <a:latin typeface="Aptos"/>
              </a:rPr>
              <a:t>Both of these operations are independent of the size of the array n. Which mean no matter the size of the array, the steps it take to insert into unordered array is O(1) constant.</a:t>
            </a:r>
            <a:endParaRPr lang="en-US" altLang="en-US"/>
          </a:p>
          <a:p>
            <a:endParaRPr lang="en-US" altLang="en-US"/>
          </a:p>
          <a:p>
            <a:r>
              <a:rPr lang="en-US" altLang="en-US">
                <a:latin typeface="Aptos"/>
              </a:rPr>
              <a:t>So they take some time, K, which is not a function of n</a:t>
            </a:r>
          </a:p>
          <a:p>
            <a:r>
              <a:rPr lang="en-US" altLang="en-US">
                <a:latin typeface="Aptos"/>
              </a:rPr>
              <a:t>We say this is O(1), or constant time</a:t>
            </a:r>
          </a:p>
          <a:p>
            <a:r>
              <a:rPr lang="en-US" altLang="en-US">
                <a:latin typeface="Aptos"/>
              </a:rPr>
              <a:t>Meaning that the runtime is </a:t>
            </a:r>
            <a:r>
              <a:rPr lang="en-US" altLang="en-US" i="1">
                <a:latin typeface="Aptos"/>
              </a:rPr>
              <a:t>proportional</a:t>
            </a:r>
            <a:r>
              <a:rPr lang="en-US" altLang="en-US">
                <a:latin typeface="Aptos"/>
              </a:rPr>
              <a:t> to 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CF5B88AC-39BC-46F9-AEBC-B4990002D2D7}"/>
              </a:ext>
            </a:extLst>
          </p:cNvPr>
          <p:cNvSpPr>
            <a:spLocks noGrp="1"/>
          </p:cNvSpPr>
          <p:nvPr>
            <p:ph type="title"/>
          </p:nvPr>
        </p:nvSpPr>
        <p:spPr/>
        <p:txBody>
          <a:bodyPr/>
          <a:lstStyle/>
          <a:p>
            <a:r>
              <a:rPr lang="en-US" altLang="en-US"/>
              <a:t>Example: Linear search</a:t>
            </a:r>
          </a:p>
        </p:txBody>
      </p:sp>
      <p:sp>
        <p:nvSpPr>
          <p:cNvPr id="3" name="Slide Number Placeholder 2">
            <a:extLst>
              <a:ext uri="{FF2B5EF4-FFF2-40B4-BE49-F238E27FC236}">
                <a16:creationId xmlns:a16="http://schemas.microsoft.com/office/drawing/2014/main" id="{32D36931-F194-41F5-A04D-3CB7AB6D02E2}"/>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A66404EA-F785-42F0-AB5D-ED2586361F91}" type="slidenum">
              <a:rPr lang="en-US" altLang="en-US" sz="2000">
                <a:latin typeface="Aptos" panose="020B0004020202020204" pitchFamily="34" charset="0"/>
              </a:rPr>
              <a:pPr eaLnBrk="1" hangingPunct="1"/>
              <a:t>76</a:t>
            </a:fld>
            <a:endParaRPr lang="en-US" altLang="en-US" sz="2000">
              <a:latin typeface="Aptos" panose="020B0004020202020204" pitchFamily="34" charset="0"/>
            </a:endParaRPr>
          </a:p>
        </p:txBody>
      </p:sp>
      <p:sp>
        <p:nvSpPr>
          <p:cNvPr id="86020" name="Content Placeholder 3">
            <a:extLst>
              <a:ext uri="{FF2B5EF4-FFF2-40B4-BE49-F238E27FC236}">
                <a16:creationId xmlns:a16="http://schemas.microsoft.com/office/drawing/2014/main" id="{99852A62-851B-46B4-82CD-0A3FEC5537CE}"/>
              </a:ext>
            </a:extLst>
          </p:cNvPr>
          <p:cNvSpPr>
            <a:spLocks noGrp="1"/>
          </p:cNvSpPr>
          <p:nvPr>
            <p:ph sz="quarter" idx="1"/>
          </p:nvPr>
        </p:nvSpPr>
        <p:spPr/>
        <p:txBody>
          <a:bodyPr>
            <a:normAutofit/>
          </a:bodyPr>
          <a:lstStyle/>
          <a:p>
            <a:r>
              <a:rPr lang="en-US" altLang="en-US"/>
              <a:t>You’ll require a loop which runs in the worst case n times</a:t>
            </a:r>
          </a:p>
          <a:p>
            <a:r>
              <a:rPr lang="en-US" altLang="en-US"/>
              <a:t>Each time, you have to:</a:t>
            </a:r>
          </a:p>
          <a:p>
            <a:pPr lvl="1"/>
            <a:r>
              <a:rPr lang="en-US" altLang="en-US"/>
              <a:t>Increment a loop counter</a:t>
            </a:r>
          </a:p>
          <a:p>
            <a:pPr lvl="1"/>
            <a:r>
              <a:rPr lang="en-US" altLang="en-US"/>
              <a:t>Compare the loop counter to n</a:t>
            </a:r>
          </a:p>
          <a:p>
            <a:pPr lvl="1"/>
            <a:r>
              <a:rPr lang="en-US" altLang="en-US"/>
              <a:t>Compare the current element to the key</a:t>
            </a:r>
          </a:p>
          <a:p>
            <a:pPr lvl="1"/>
            <a:r>
              <a:rPr lang="en-US" altLang="en-US"/>
              <a:t>Each of these operations take time independent of n, so let’s say they consume a total time of K.</a:t>
            </a:r>
          </a:p>
          <a:p>
            <a:pPr lvl="1"/>
            <a:endParaRPr lang="en-US" altLang="en-US"/>
          </a:p>
          <a:p>
            <a:r>
              <a:rPr lang="en-US" altLang="en-US"/>
              <a:t>Then the algorithm would take K*n total time</a:t>
            </a:r>
          </a:p>
          <a:p>
            <a:r>
              <a:rPr lang="en-US" altLang="en-US"/>
              <a:t>We say this is 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A9FB2AF7-A03A-4995-AF85-D132B2AE753C}"/>
              </a:ext>
            </a:extLst>
          </p:cNvPr>
          <p:cNvSpPr>
            <a:spLocks noGrp="1"/>
          </p:cNvSpPr>
          <p:nvPr>
            <p:ph type="title"/>
          </p:nvPr>
        </p:nvSpPr>
        <p:spPr/>
        <p:txBody>
          <a:bodyPr/>
          <a:lstStyle/>
          <a:p>
            <a:r>
              <a:rPr lang="en-US" altLang="en-US"/>
              <a:t>Example: Binary Search</a:t>
            </a:r>
          </a:p>
        </p:txBody>
      </p:sp>
      <p:sp>
        <p:nvSpPr>
          <p:cNvPr id="3" name="Slide Number Placeholder 2">
            <a:extLst>
              <a:ext uri="{FF2B5EF4-FFF2-40B4-BE49-F238E27FC236}">
                <a16:creationId xmlns:a16="http://schemas.microsoft.com/office/drawing/2014/main" id="{22D268DF-59F9-400A-AF93-E282B6CB3618}"/>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8A764563-85F0-4A51-AD60-26D105B33EC5}" type="slidenum">
              <a:rPr lang="en-US" altLang="en-US" sz="2000">
                <a:latin typeface="Aptos" panose="020B0004020202020204" pitchFamily="34" charset="0"/>
              </a:rPr>
              <a:pPr eaLnBrk="1" hangingPunct="1"/>
              <a:t>77</a:t>
            </a:fld>
            <a:endParaRPr lang="en-US" altLang="en-US" sz="2000">
              <a:latin typeface="Aptos" panose="020B0004020202020204" pitchFamily="34" charset="0"/>
            </a:endParaRPr>
          </a:p>
        </p:txBody>
      </p:sp>
      <p:sp>
        <p:nvSpPr>
          <p:cNvPr id="87044" name="Content Placeholder 3">
            <a:extLst>
              <a:ext uri="{FF2B5EF4-FFF2-40B4-BE49-F238E27FC236}">
                <a16:creationId xmlns:a16="http://schemas.microsoft.com/office/drawing/2014/main" id="{6D1716E8-7848-4E50-94B5-41CC25305896}"/>
              </a:ext>
            </a:extLst>
          </p:cNvPr>
          <p:cNvSpPr>
            <a:spLocks noGrp="1"/>
          </p:cNvSpPr>
          <p:nvPr>
            <p:ph sz="quarter" idx="1"/>
          </p:nvPr>
        </p:nvSpPr>
        <p:spPr/>
        <p:txBody>
          <a:bodyPr>
            <a:normAutofit lnSpcReduction="10000"/>
          </a:bodyPr>
          <a:lstStyle/>
          <a:p>
            <a:r>
              <a:rPr lang="en-US" altLang="en-US"/>
              <a:t>We’ve already said that for an array of n elements, we need log(n)+1 comparisons.</a:t>
            </a:r>
          </a:p>
          <a:p>
            <a:pPr lvl="1"/>
            <a:r>
              <a:rPr lang="en-US" altLang="en-US"/>
              <a:t>Each comparison takes time independent of n, call it K</a:t>
            </a:r>
          </a:p>
          <a:p>
            <a:pPr lvl="1"/>
            <a:endParaRPr lang="en-US" altLang="en-US"/>
          </a:p>
          <a:p>
            <a:r>
              <a:rPr lang="en-US" altLang="en-US"/>
              <a:t>Total time is then: K(log(n)+1) = K*log(n) + K</a:t>
            </a:r>
          </a:p>
          <a:p>
            <a:endParaRPr lang="en-US" altLang="en-US"/>
          </a:p>
          <a:p>
            <a:r>
              <a:rPr lang="en-US" altLang="en-US"/>
              <a:t>For large n, this grows proportional to log(n), i.e. the leading term dominates.</a:t>
            </a:r>
          </a:p>
          <a:p>
            <a:endParaRPr lang="en-US" altLang="en-US"/>
          </a:p>
          <a:p>
            <a:r>
              <a:rPr lang="en-US" altLang="en-US"/>
              <a:t>We say this is O(log 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CF35EBEB-EB8F-4A8D-A3C1-C3ED61EFAF3F}"/>
              </a:ext>
            </a:extLst>
          </p:cNvPr>
          <p:cNvSpPr>
            <a:spLocks noGrp="1"/>
          </p:cNvSpPr>
          <p:nvPr>
            <p:ph type="title"/>
          </p:nvPr>
        </p:nvSpPr>
        <p:spPr/>
        <p:txBody>
          <a:bodyPr/>
          <a:lstStyle/>
          <a:p>
            <a:r>
              <a:rPr lang="en-US" altLang="en-US"/>
              <a:t>Why this is useful</a:t>
            </a:r>
          </a:p>
        </p:txBody>
      </p:sp>
      <p:sp>
        <p:nvSpPr>
          <p:cNvPr id="3" name="Slide Number Placeholder 2">
            <a:extLst>
              <a:ext uri="{FF2B5EF4-FFF2-40B4-BE49-F238E27FC236}">
                <a16:creationId xmlns:a16="http://schemas.microsoft.com/office/drawing/2014/main" id="{1F5B8B8E-5623-4ED8-B044-AB4A4DCD7723}"/>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13C70E6A-568C-4812-9EB5-F2A8D75914D8}" type="slidenum">
              <a:rPr lang="en-US" altLang="en-US" sz="2000">
                <a:latin typeface="Aptos" panose="020B0004020202020204" pitchFamily="34" charset="0"/>
              </a:rPr>
              <a:pPr eaLnBrk="1" hangingPunct="1"/>
              <a:t>78</a:t>
            </a:fld>
            <a:endParaRPr lang="en-US" altLang="en-US" sz="2000">
              <a:latin typeface="Aptos" panose="020B0004020202020204" pitchFamily="34" charset="0"/>
            </a:endParaRPr>
          </a:p>
        </p:txBody>
      </p:sp>
      <p:sp>
        <p:nvSpPr>
          <p:cNvPr id="88068" name="Content Placeholder 3">
            <a:extLst>
              <a:ext uri="{FF2B5EF4-FFF2-40B4-BE49-F238E27FC236}">
                <a16:creationId xmlns:a16="http://schemas.microsoft.com/office/drawing/2014/main" id="{D4A9BAC0-21AF-467D-821B-4F04AB9C5E85}"/>
              </a:ext>
            </a:extLst>
          </p:cNvPr>
          <p:cNvSpPr>
            <a:spLocks noGrp="1"/>
          </p:cNvSpPr>
          <p:nvPr>
            <p:ph sz="quarter" idx="1"/>
          </p:nvPr>
        </p:nvSpPr>
        <p:spPr/>
        <p:txBody>
          <a:bodyPr/>
          <a:lstStyle/>
          <a:p>
            <a:r>
              <a:rPr lang="en-US" altLang="en-US"/>
              <a:t>Useful to evaluate how well an algorithm scales with input size n.  For example:</a:t>
            </a:r>
          </a:p>
          <a:p>
            <a:pPr lvl="1"/>
            <a:r>
              <a:rPr lang="en-US" altLang="en-US"/>
              <a:t>O(1) scales better than…</a:t>
            </a:r>
          </a:p>
          <a:p>
            <a:pPr lvl="1"/>
            <a:r>
              <a:rPr lang="en-US" altLang="en-US"/>
              <a:t>O(log n), which scales better than…</a:t>
            </a:r>
          </a:p>
          <a:p>
            <a:pPr lvl="1"/>
            <a:r>
              <a:rPr lang="en-US" altLang="en-US"/>
              <a:t>O(n), which scales better than…</a:t>
            </a:r>
          </a:p>
          <a:p>
            <a:pPr lvl="1"/>
            <a:r>
              <a:rPr lang="en-US" altLang="en-US"/>
              <a:t>O(n log n), which scales better than…</a:t>
            </a:r>
          </a:p>
          <a:p>
            <a:pPr lvl="1"/>
            <a:r>
              <a:rPr lang="en-US" altLang="en-US"/>
              <a:t>O(n^2), etc.</a:t>
            </a:r>
          </a:p>
          <a:p>
            <a:endParaRPr lang="en-US" altLang="en-US"/>
          </a:p>
          <a:p>
            <a:r>
              <a:rPr lang="en-US" altLang="en-US"/>
              <a:t>Each of these successively grows faster with 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0C3AE4D6-92E1-45B4-AB0F-D37DAD87851E}"/>
              </a:ext>
            </a:extLst>
          </p:cNvPr>
          <p:cNvSpPr>
            <a:spLocks noGrp="1"/>
          </p:cNvSpPr>
          <p:nvPr>
            <p:ph type="title"/>
          </p:nvPr>
        </p:nvSpPr>
        <p:spPr/>
        <p:txBody>
          <a:bodyPr/>
          <a:lstStyle/>
          <a:p>
            <a:r>
              <a:rPr lang="en-US" altLang="en-US"/>
              <a:t>Generally speaking…</a:t>
            </a:r>
          </a:p>
        </p:txBody>
      </p:sp>
      <p:sp>
        <p:nvSpPr>
          <p:cNvPr id="3" name="Slide Number Placeholder 2">
            <a:extLst>
              <a:ext uri="{FF2B5EF4-FFF2-40B4-BE49-F238E27FC236}">
                <a16:creationId xmlns:a16="http://schemas.microsoft.com/office/drawing/2014/main" id="{CC193B73-997B-4021-9095-126CAC33CE98}"/>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AD4B82E5-C2DC-491B-ADB8-198C6361C34D}" type="slidenum">
              <a:rPr lang="en-US" altLang="en-US" sz="2000">
                <a:latin typeface="Aptos" panose="020B0004020202020204" pitchFamily="34" charset="0"/>
              </a:rPr>
              <a:pPr eaLnBrk="1" hangingPunct="1"/>
              <a:t>79</a:t>
            </a:fld>
            <a:endParaRPr lang="en-US" altLang="en-US" sz="2000">
              <a:latin typeface="Aptos" panose="020B0004020202020204" pitchFamily="34" charset="0"/>
            </a:endParaRPr>
          </a:p>
        </p:txBody>
      </p:sp>
      <p:sp>
        <p:nvSpPr>
          <p:cNvPr id="89092" name="Content Placeholder 3">
            <a:extLst>
              <a:ext uri="{FF2B5EF4-FFF2-40B4-BE49-F238E27FC236}">
                <a16:creationId xmlns:a16="http://schemas.microsoft.com/office/drawing/2014/main" id="{F158DDDA-D5C1-4C71-B57B-664F41DA8C80}"/>
              </a:ext>
            </a:extLst>
          </p:cNvPr>
          <p:cNvSpPr>
            <a:spLocks noGrp="1"/>
          </p:cNvSpPr>
          <p:nvPr>
            <p:ph sz="quarter" idx="1"/>
          </p:nvPr>
        </p:nvSpPr>
        <p:spPr/>
        <p:txBody>
          <a:bodyPr/>
          <a:lstStyle/>
          <a:p>
            <a:r>
              <a:rPr lang="en-US" altLang="en-US"/>
              <a:t>For an input of size n and a function T(n), to compute the Big-Oh value, you take the leading term and drop the coefficient.</a:t>
            </a:r>
          </a:p>
          <a:p>
            <a:r>
              <a:rPr lang="en-US" altLang="en-US"/>
              <a:t>Examples – compute Big Oh values of the following runtimes:</a:t>
            </a:r>
          </a:p>
          <a:p>
            <a:pPr lvl="1"/>
            <a:r>
              <a:rPr lang="en-US" altLang="en-US"/>
              <a:t>T(n) = 100*n^2 + n + 70000</a:t>
            </a:r>
          </a:p>
          <a:p>
            <a:pPr lvl="1"/>
            <a:r>
              <a:rPr lang="en-US" altLang="en-US"/>
              <a:t>T(n) = (n*log n) / n</a:t>
            </a:r>
          </a:p>
          <a:p>
            <a:pPr lvl="1"/>
            <a:r>
              <a:rPr lang="en-US" altLang="en-US"/>
              <a:t>T(n) = n^3 + 754,000*n^2 + 1</a:t>
            </a:r>
          </a:p>
          <a:p>
            <a:pPr lvl="1"/>
            <a:r>
              <a:rPr lang="en-US" altLang="en-US"/>
              <a:t>T(n) = (n + 2) * (log 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793B8-D12C-29D1-C2AF-3F2AE673FCC2}"/>
            </a:ext>
          </a:extLst>
        </p:cNvPr>
        <p:cNvGrpSpPr/>
        <p:nvPr/>
      </p:nvGrpSpPr>
      <p:grpSpPr>
        <a:xfrm>
          <a:off x="0" y="0"/>
          <a:ext cx="0" cy="0"/>
          <a:chOff x="0" y="0"/>
          <a:chExt cx="0" cy="0"/>
        </a:xfrm>
      </p:grpSpPr>
      <p:sp>
        <p:nvSpPr>
          <p:cNvPr id="89090" name="Title 1">
            <a:extLst>
              <a:ext uri="{FF2B5EF4-FFF2-40B4-BE49-F238E27FC236}">
                <a16:creationId xmlns:a16="http://schemas.microsoft.com/office/drawing/2014/main" id="{BB0D25EF-5AF7-1BC8-4F95-B769AF4A9BE4}"/>
              </a:ext>
            </a:extLst>
          </p:cNvPr>
          <p:cNvSpPr>
            <a:spLocks noGrp="1"/>
          </p:cNvSpPr>
          <p:nvPr>
            <p:ph type="title"/>
          </p:nvPr>
        </p:nvSpPr>
        <p:spPr/>
        <p:txBody>
          <a:bodyPr/>
          <a:lstStyle/>
          <a:p>
            <a:r>
              <a:rPr lang="en-US" altLang="en-US"/>
              <a:t>Generally speaking… (Answered)</a:t>
            </a:r>
          </a:p>
        </p:txBody>
      </p:sp>
      <p:sp>
        <p:nvSpPr>
          <p:cNvPr id="3" name="Slide Number Placeholder 2">
            <a:extLst>
              <a:ext uri="{FF2B5EF4-FFF2-40B4-BE49-F238E27FC236}">
                <a16:creationId xmlns:a16="http://schemas.microsoft.com/office/drawing/2014/main" id="{E0E00D83-5854-A9AB-9BE3-AF6117CD02B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AD4B82E5-C2DC-491B-ADB8-198C6361C34D}" type="slidenum">
              <a:rPr lang="en-US" altLang="en-US" sz="2000">
                <a:latin typeface="Aptos" panose="020B0004020202020204" pitchFamily="34" charset="0"/>
              </a:rPr>
              <a:pPr eaLnBrk="1" hangingPunct="1"/>
              <a:t>80</a:t>
            </a:fld>
            <a:endParaRPr lang="en-US" altLang="en-US" sz="2000">
              <a:latin typeface="Aptos" panose="020B0004020202020204" pitchFamily="34" charset="0"/>
            </a:endParaRPr>
          </a:p>
        </p:txBody>
      </p:sp>
      <p:sp>
        <p:nvSpPr>
          <p:cNvPr id="89092" name="Content Placeholder 3">
            <a:extLst>
              <a:ext uri="{FF2B5EF4-FFF2-40B4-BE49-F238E27FC236}">
                <a16:creationId xmlns:a16="http://schemas.microsoft.com/office/drawing/2014/main" id="{3799F8D5-5B7C-E70C-1571-23CCF489DAE5}"/>
              </a:ext>
            </a:extLst>
          </p:cNvPr>
          <p:cNvSpPr>
            <a:spLocks noGrp="1"/>
          </p:cNvSpPr>
          <p:nvPr>
            <p:ph sz="quarter" idx="1"/>
          </p:nvPr>
        </p:nvSpPr>
        <p:spPr/>
        <p:txBody>
          <a:bodyPr vert="horz" lIns="91440" tIns="45720" rIns="91440" bIns="45720" rtlCol="0" anchor="t">
            <a:normAutofit/>
          </a:bodyPr>
          <a:lstStyle/>
          <a:p>
            <a:r>
              <a:rPr lang="en-US" altLang="en-US">
                <a:latin typeface="Aptos"/>
              </a:rPr>
              <a:t>For an input of size n and a function T(n), to compute the Big-Oh value, you take the leading term and drop the coefficient.</a:t>
            </a:r>
          </a:p>
          <a:p>
            <a:r>
              <a:rPr lang="en-US" altLang="en-US">
                <a:latin typeface="Aptos"/>
              </a:rPr>
              <a:t>Examples – compute Big Oh values of the following runtimes:</a:t>
            </a:r>
          </a:p>
          <a:p>
            <a:pPr lvl="1"/>
            <a:r>
              <a:rPr lang="en-US" altLang="en-US">
                <a:latin typeface="Aptos"/>
              </a:rPr>
              <a:t>T(n) = 100*n^2 + n + 70000     </a:t>
            </a:r>
            <a:r>
              <a:rPr lang="en-US" altLang="en-US">
                <a:solidFill>
                  <a:srgbClr val="FF0000"/>
                </a:solidFill>
                <a:latin typeface="Aptos"/>
              </a:rPr>
              <a:t>O(n^2)</a:t>
            </a:r>
            <a:endParaRPr lang="en-US" altLang="en-US">
              <a:solidFill>
                <a:srgbClr val="FF0000"/>
              </a:solidFill>
            </a:endParaRPr>
          </a:p>
          <a:p>
            <a:pPr lvl="1"/>
            <a:r>
              <a:rPr lang="en-US" altLang="en-US">
                <a:latin typeface="Aptos"/>
              </a:rPr>
              <a:t>T(n) = (n*log n) / n        </a:t>
            </a:r>
            <a:r>
              <a:rPr lang="en-US">
                <a:latin typeface="Aptos"/>
              </a:rPr>
              <a:t> </a:t>
            </a:r>
            <a:r>
              <a:rPr lang="en-US">
                <a:solidFill>
                  <a:srgbClr val="FF0000"/>
                </a:solidFill>
                <a:latin typeface="Aptos"/>
              </a:rPr>
              <a:t>O(</a:t>
            </a:r>
            <a:r>
              <a:rPr lang="en-US" err="1">
                <a:solidFill>
                  <a:srgbClr val="FF0000"/>
                </a:solidFill>
                <a:latin typeface="Aptos"/>
              </a:rPr>
              <a:t>logn</a:t>
            </a:r>
            <a:r>
              <a:rPr lang="en-US">
                <a:solidFill>
                  <a:srgbClr val="FF0000"/>
                </a:solidFill>
                <a:latin typeface="Aptos"/>
              </a:rPr>
              <a:t>)</a:t>
            </a:r>
            <a:endParaRPr lang="en-US" altLang="en-US">
              <a:solidFill>
                <a:srgbClr val="FF0000"/>
              </a:solidFill>
            </a:endParaRPr>
          </a:p>
          <a:p>
            <a:pPr lvl="1"/>
            <a:r>
              <a:rPr lang="en-US" altLang="en-US">
                <a:latin typeface="Aptos"/>
              </a:rPr>
              <a:t>T(n) = n^3 + 754,000*n^2 + 1 </a:t>
            </a:r>
            <a:r>
              <a:rPr lang="en-US">
                <a:latin typeface="Aptos"/>
              </a:rPr>
              <a:t> </a:t>
            </a:r>
            <a:r>
              <a:rPr lang="en-US">
                <a:solidFill>
                  <a:srgbClr val="FF0000"/>
                </a:solidFill>
                <a:latin typeface="Aptos"/>
              </a:rPr>
              <a:t>O(n^3)</a:t>
            </a:r>
            <a:endParaRPr lang="en-US" altLang="en-US">
              <a:solidFill>
                <a:srgbClr val="FF0000"/>
              </a:solidFill>
            </a:endParaRPr>
          </a:p>
          <a:p>
            <a:pPr lvl="1"/>
            <a:r>
              <a:rPr lang="en-US" altLang="en-US">
                <a:latin typeface="Aptos"/>
              </a:rPr>
              <a:t>T(n) = (n + 2) * (log n)       </a:t>
            </a:r>
            <a:r>
              <a:rPr lang="en-US">
                <a:latin typeface="Aptos"/>
              </a:rPr>
              <a:t> </a:t>
            </a:r>
            <a:r>
              <a:rPr lang="en-US">
                <a:solidFill>
                  <a:srgbClr val="FF0000"/>
                </a:solidFill>
                <a:latin typeface="Aptos"/>
              </a:rPr>
              <a:t>O(n)</a:t>
            </a:r>
            <a:endParaRPr lang="en-US" altLang="en-US">
              <a:solidFill>
                <a:srgbClr val="FF0000"/>
              </a:solidFill>
            </a:endParaRPr>
          </a:p>
        </p:txBody>
      </p:sp>
    </p:spTree>
    <p:extLst>
      <p:ext uri="{BB962C8B-B14F-4D97-AF65-F5344CB8AC3E}">
        <p14:creationId xmlns:p14="http://schemas.microsoft.com/office/powerpoint/2010/main" val="33442021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8FD49-DFB7-4733-8B18-3D075CB803C7}"/>
              </a:ext>
            </a:extLst>
          </p:cNvPr>
          <p:cNvSpPr>
            <a:spLocks noGrp="1"/>
          </p:cNvSpPr>
          <p:nvPr>
            <p:ph type="title"/>
          </p:nvPr>
        </p:nvSpPr>
        <p:spPr>
          <a:xfrm>
            <a:off x="206477" y="365125"/>
            <a:ext cx="11906865" cy="1325563"/>
          </a:xfrm>
        </p:spPr>
        <p:txBody>
          <a:bodyPr>
            <a:normAutofit/>
          </a:bodyPr>
          <a:lstStyle/>
          <a:p>
            <a:pPr fontAlgn="auto">
              <a:spcAft>
                <a:spcPct val="0"/>
              </a:spcAft>
              <a:defRPr/>
            </a:pPr>
            <a:r>
              <a:rPr lang="en-US"/>
              <a:t>But, these large constants must mean something…</a:t>
            </a:r>
          </a:p>
        </p:txBody>
      </p:sp>
      <p:sp>
        <p:nvSpPr>
          <p:cNvPr id="3" name="Slide Number Placeholder 2">
            <a:extLst>
              <a:ext uri="{FF2B5EF4-FFF2-40B4-BE49-F238E27FC236}">
                <a16:creationId xmlns:a16="http://schemas.microsoft.com/office/drawing/2014/main" id="{E0ABD5AC-CDC1-4404-87BF-E24812126E1B}"/>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EC950ACE-F4DA-4A7C-8486-B145F672597E}" type="slidenum">
              <a:rPr lang="en-US" altLang="en-US" sz="2000">
                <a:latin typeface="Aptos" panose="020B0004020202020204" pitchFamily="34" charset="0"/>
              </a:rPr>
              <a:pPr eaLnBrk="1" hangingPunct="1"/>
              <a:t>81</a:t>
            </a:fld>
            <a:endParaRPr lang="en-US" altLang="en-US" sz="2000">
              <a:latin typeface="Aptos" panose="020B0004020202020204" pitchFamily="34" charset="0"/>
            </a:endParaRPr>
          </a:p>
        </p:txBody>
      </p:sp>
      <p:sp>
        <p:nvSpPr>
          <p:cNvPr id="90116" name="Content Placeholder 3">
            <a:extLst>
              <a:ext uri="{FF2B5EF4-FFF2-40B4-BE49-F238E27FC236}">
                <a16:creationId xmlns:a16="http://schemas.microsoft.com/office/drawing/2014/main" id="{F7B17A41-12A4-4419-A8B9-2422D7D2C7AA}"/>
              </a:ext>
            </a:extLst>
          </p:cNvPr>
          <p:cNvSpPr>
            <a:spLocks noGrp="1"/>
          </p:cNvSpPr>
          <p:nvPr>
            <p:ph sz="quarter" idx="1"/>
          </p:nvPr>
        </p:nvSpPr>
        <p:spPr/>
        <p:txBody>
          <a:bodyPr/>
          <a:lstStyle/>
          <a:p>
            <a:pPr marL="273050" lvl="1" indent="-273050">
              <a:spcBef>
                <a:spcPts val="575"/>
              </a:spcBef>
            </a:pPr>
            <a:r>
              <a:rPr lang="en-US" altLang="en-US"/>
              <a:t>T(n) = n^3 + 754,000*n^2 + 1</a:t>
            </a:r>
          </a:p>
          <a:p>
            <a:endParaRPr lang="en-US" altLang="en-US"/>
          </a:p>
          <a:p>
            <a:r>
              <a:rPr lang="en-US" altLang="en-US"/>
              <a:t>This huge constant on the n^2 term, has to have some effect, right?</a:t>
            </a:r>
          </a:p>
          <a:p>
            <a:r>
              <a:rPr lang="en-US" altLang="en-US"/>
              <a:t>The answer is yes and no.</a:t>
            </a:r>
          </a:p>
          <a:p>
            <a:endParaRPr lang="en-US" altLang="en-US"/>
          </a:p>
          <a:p>
            <a:r>
              <a:rPr lang="en-US" altLang="en-US"/>
              <a:t>Yes, if the input size is _________________.</a:t>
            </a:r>
          </a:p>
          <a:p>
            <a:r>
              <a:rPr lang="en-US" altLang="en-US"/>
              <a:t>But for very large values of n, n^3 overtakes the term, even with the large constant.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B8E24E36-70A6-4787-84F2-22F7B7DC1918}"/>
              </a:ext>
            </a:extLst>
          </p:cNvPr>
          <p:cNvSpPr>
            <a:spLocks noGrp="1"/>
          </p:cNvSpPr>
          <p:nvPr>
            <p:ph type="title"/>
          </p:nvPr>
        </p:nvSpPr>
        <p:spPr/>
        <p:txBody>
          <a:bodyPr/>
          <a:lstStyle/>
          <a:p>
            <a:r>
              <a:rPr lang="en-US" altLang="en-US"/>
              <a:t>Algorithms we’ve discussed…</a:t>
            </a:r>
          </a:p>
        </p:txBody>
      </p:sp>
      <p:sp>
        <p:nvSpPr>
          <p:cNvPr id="3" name="Slide Number Placeholder 2">
            <a:extLst>
              <a:ext uri="{FF2B5EF4-FFF2-40B4-BE49-F238E27FC236}">
                <a16:creationId xmlns:a16="http://schemas.microsoft.com/office/drawing/2014/main" id="{3D194105-0C4D-4E55-8512-540D36E83AC8}"/>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AFFE1EAB-5F76-4FD2-A245-CE76E74F21DC}" type="slidenum">
              <a:rPr lang="en-US" altLang="en-US" sz="2000">
                <a:latin typeface="Aptos" panose="020B0004020202020204" pitchFamily="34" charset="0"/>
              </a:rPr>
              <a:pPr eaLnBrk="1" hangingPunct="1"/>
              <a:t>82</a:t>
            </a:fld>
            <a:endParaRPr lang="en-US" altLang="en-US" sz="2000">
              <a:latin typeface="Aptos" panose="020B0004020202020204" pitchFamily="34" charset="0"/>
            </a:endParaRPr>
          </a:p>
        </p:txBody>
      </p:sp>
      <p:sp>
        <p:nvSpPr>
          <p:cNvPr id="91140" name="Content Placeholder 3">
            <a:extLst>
              <a:ext uri="{FF2B5EF4-FFF2-40B4-BE49-F238E27FC236}">
                <a16:creationId xmlns:a16="http://schemas.microsoft.com/office/drawing/2014/main" id="{858D7184-7F4B-496A-8C77-4F57509C3E31}"/>
              </a:ext>
            </a:extLst>
          </p:cNvPr>
          <p:cNvSpPr>
            <a:spLocks noGrp="1"/>
          </p:cNvSpPr>
          <p:nvPr>
            <p:ph sz="quarter" idx="1"/>
          </p:nvPr>
        </p:nvSpPr>
        <p:spPr/>
        <p:txBody>
          <a:bodyPr/>
          <a:lstStyle/>
          <a:p>
            <a:r>
              <a:rPr lang="en-US" altLang="en-US"/>
              <a:t>Linear search: O(n)</a:t>
            </a:r>
          </a:p>
          <a:p>
            <a:r>
              <a:rPr lang="en-US" altLang="en-US"/>
              <a:t>Binary search: O(log n)</a:t>
            </a:r>
          </a:p>
          <a:p>
            <a:r>
              <a:rPr lang="en-US" altLang="en-US"/>
              <a:t>Insertion, unordered array: O(1)</a:t>
            </a:r>
          </a:p>
          <a:p>
            <a:r>
              <a:rPr lang="en-US" altLang="en-US"/>
              <a:t>Insertion, ordered array: O(n)</a:t>
            </a:r>
          </a:p>
          <a:p>
            <a:r>
              <a:rPr lang="en-US" altLang="en-US"/>
              <a:t>Deletion, unordered array: O(n)</a:t>
            </a:r>
          </a:p>
          <a:p>
            <a:r>
              <a:rPr lang="en-US" altLang="en-US"/>
              <a:t>Deletion, ordered array: O(n)</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4E0DFDA5-A30D-4CE8-AC47-DA81D2C9261B}"/>
              </a:ext>
            </a:extLst>
          </p:cNvPr>
          <p:cNvSpPr>
            <a:spLocks noGrp="1"/>
          </p:cNvSpPr>
          <p:nvPr>
            <p:ph type="title"/>
          </p:nvPr>
        </p:nvSpPr>
        <p:spPr/>
        <p:txBody>
          <a:bodyPr/>
          <a:lstStyle/>
          <a:p>
            <a:r>
              <a:rPr lang="en-US" altLang="en-US"/>
              <a:t>Graph of </a:t>
            </a:r>
            <a:br>
              <a:rPr lang="en-US" altLang="en-US"/>
            </a:br>
            <a:r>
              <a:rPr lang="en-US" altLang="en-US"/>
              <a:t>Big O times.</a:t>
            </a:r>
          </a:p>
        </p:txBody>
      </p:sp>
      <p:sp>
        <p:nvSpPr>
          <p:cNvPr id="3" name="Slide Number Placeholder 2">
            <a:extLst>
              <a:ext uri="{FF2B5EF4-FFF2-40B4-BE49-F238E27FC236}">
                <a16:creationId xmlns:a16="http://schemas.microsoft.com/office/drawing/2014/main" id="{59B8F687-B3D1-4C45-BAA5-5308575298C6}"/>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BF300623-DDEF-485A-8D0E-3827FCE04068}" type="slidenum">
              <a:rPr lang="en-US" altLang="en-US" sz="2000">
                <a:latin typeface="Aptos" panose="020B0004020202020204" pitchFamily="34" charset="0"/>
              </a:rPr>
              <a:pPr eaLnBrk="1" hangingPunct="1"/>
              <a:t>83</a:t>
            </a:fld>
            <a:endParaRPr lang="en-US" altLang="en-US" sz="2000">
              <a:latin typeface="Aptos" panose="020B0004020202020204" pitchFamily="34" charset="0"/>
            </a:endParaRPr>
          </a:p>
        </p:txBody>
      </p:sp>
      <p:pic>
        <p:nvPicPr>
          <p:cNvPr id="2" name="Content Placeholder 1" descr="A graph with numbers and lines&#10;&#10;Description automatically generated">
            <a:extLst>
              <a:ext uri="{FF2B5EF4-FFF2-40B4-BE49-F238E27FC236}">
                <a16:creationId xmlns:a16="http://schemas.microsoft.com/office/drawing/2014/main" id="{9A929A77-45F1-56A5-437B-766B457EDB53}"/>
              </a:ext>
            </a:extLst>
          </p:cNvPr>
          <p:cNvPicPr>
            <a:picLocks noGrp="1" noChangeAspect="1"/>
          </p:cNvPicPr>
          <p:nvPr>
            <p:ph sz="quarter" idx="1"/>
          </p:nvPr>
        </p:nvPicPr>
        <p:blipFill>
          <a:blip r:embed="rId2"/>
          <a:stretch>
            <a:fillRect/>
          </a:stretch>
        </p:blipFill>
        <p:spPr>
          <a:xfrm>
            <a:off x="4866128" y="219247"/>
            <a:ext cx="6743854" cy="6642994"/>
          </a:xfr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69D0-3D93-8F11-5BCB-A029C55512F5}"/>
              </a:ext>
            </a:extLst>
          </p:cNvPr>
          <p:cNvSpPr>
            <a:spLocks noGrp="1"/>
          </p:cNvSpPr>
          <p:nvPr>
            <p:ph type="title"/>
          </p:nvPr>
        </p:nvSpPr>
        <p:spPr/>
        <p:txBody>
          <a:bodyPr/>
          <a:lstStyle/>
          <a:p>
            <a:r>
              <a:rPr lang="en-US"/>
              <a:t>Unordered Array Characteristics</a:t>
            </a:r>
          </a:p>
        </p:txBody>
      </p:sp>
      <p:sp>
        <p:nvSpPr>
          <p:cNvPr id="3" name="Content Placeholder 2">
            <a:extLst>
              <a:ext uri="{FF2B5EF4-FFF2-40B4-BE49-F238E27FC236}">
                <a16:creationId xmlns:a16="http://schemas.microsoft.com/office/drawing/2014/main" id="{BDA9526C-2DB7-B56A-3007-F4BBB8969E80}"/>
              </a:ext>
            </a:extLst>
          </p:cNvPr>
          <p:cNvSpPr>
            <a:spLocks noGrp="1"/>
          </p:cNvSpPr>
          <p:nvPr>
            <p:ph idx="1"/>
          </p:nvPr>
        </p:nvSpPr>
        <p:spPr/>
        <p:txBody>
          <a:bodyPr vert="horz" lIns="91440" tIns="45720" rIns="91440" bIns="45720" rtlCol="0" anchor="t">
            <a:normAutofit/>
          </a:bodyPr>
          <a:lstStyle/>
          <a:p>
            <a:r>
              <a:rPr lang="en-US">
                <a:latin typeface="Aptos"/>
              </a:rPr>
              <a:t>What is the time complexity of </a:t>
            </a:r>
            <a:r>
              <a:rPr lang="en-US" b="1">
                <a:latin typeface="Aptos"/>
              </a:rPr>
              <a:t>insert </a:t>
            </a:r>
            <a:r>
              <a:rPr lang="en-US">
                <a:latin typeface="Aptos"/>
              </a:rPr>
              <a:t>new element?</a:t>
            </a:r>
          </a:p>
          <a:p>
            <a:endParaRPr lang="en-US"/>
          </a:p>
          <a:p>
            <a:r>
              <a:rPr lang="en-US">
                <a:latin typeface="Aptos"/>
              </a:rPr>
              <a:t>What is the time complexity of </a:t>
            </a:r>
            <a:r>
              <a:rPr lang="en-US" b="1">
                <a:latin typeface="Aptos"/>
              </a:rPr>
              <a:t>searching </a:t>
            </a:r>
            <a:r>
              <a:rPr lang="en-US">
                <a:latin typeface="Aptos"/>
              </a:rPr>
              <a:t>an element?</a:t>
            </a:r>
            <a:endParaRPr lang="en-US"/>
          </a:p>
          <a:p>
            <a:endParaRPr lang="en-US"/>
          </a:p>
          <a:p>
            <a:r>
              <a:rPr lang="en-US">
                <a:latin typeface="Aptos"/>
              </a:rPr>
              <a:t>What is the time complexity of </a:t>
            </a:r>
            <a:r>
              <a:rPr lang="en-US" b="1">
                <a:latin typeface="Aptos"/>
              </a:rPr>
              <a:t>deleting </a:t>
            </a:r>
            <a:r>
              <a:rPr lang="en-US">
                <a:latin typeface="Aptos"/>
              </a:rPr>
              <a:t>an element?</a:t>
            </a:r>
            <a:endParaRPr lang="en-US"/>
          </a:p>
        </p:txBody>
      </p:sp>
      <p:sp>
        <p:nvSpPr>
          <p:cNvPr id="4" name="Slide Number Placeholder 3">
            <a:extLst>
              <a:ext uri="{FF2B5EF4-FFF2-40B4-BE49-F238E27FC236}">
                <a16:creationId xmlns:a16="http://schemas.microsoft.com/office/drawing/2014/main" id="{9BD665C8-3DE0-BAFA-DDE2-5C30749EC9DA}"/>
              </a:ext>
            </a:extLst>
          </p:cNvPr>
          <p:cNvSpPr>
            <a:spLocks noGrp="1"/>
          </p:cNvSpPr>
          <p:nvPr>
            <p:ph type="sldNum" sz="quarter" idx="12"/>
          </p:nvPr>
        </p:nvSpPr>
        <p:spPr/>
        <p:txBody>
          <a:bodyPr/>
          <a:lstStyle/>
          <a:p>
            <a:fld id="{A3AE6EEF-09FB-4745-97EC-5981027EA46D}" type="slidenum">
              <a:rPr lang="en-US" smtClean="0"/>
              <a:pPr/>
              <a:t>84</a:t>
            </a:fld>
            <a:endParaRPr lang="en-US"/>
          </a:p>
        </p:txBody>
      </p:sp>
    </p:spTree>
    <p:extLst>
      <p:ext uri="{BB962C8B-B14F-4D97-AF65-F5344CB8AC3E}">
        <p14:creationId xmlns:p14="http://schemas.microsoft.com/office/powerpoint/2010/main" val="11317569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CF1D-329E-E018-E1A1-E64509AE8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34B4D-D105-141B-7482-D0130B89F56E}"/>
              </a:ext>
            </a:extLst>
          </p:cNvPr>
          <p:cNvSpPr>
            <a:spLocks noGrp="1"/>
          </p:cNvSpPr>
          <p:nvPr>
            <p:ph type="title"/>
          </p:nvPr>
        </p:nvSpPr>
        <p:spPr/>
        <p:txBody>
          <a:bodyPr/>
          <a:lstStyle/>
          <a:p>
            <a:r>
              <a:rPr lang="en-US"/>
              <a:t>Unordered Array Characteristics (</a:t>
            </a:r>
            <a:r>
              <a:rPr lang="en-US" err="1"/>
              <a:t>Asnwered</a:t>
            </a:r>
            <a:r>
              <a:rPr lang="en-US"/>
              <a:t>)</a:t>
            </a:r>
          </a:p>
        </p:txBody>
      </p:sp>
      <p:sp>
        <p:nvSpPr>
          <p:cNvPr id="3" name="Content Placeholder 2">
            <a:extLst>
              <a:ext uri="{FF2B5EF4-FFF2-40B4-BE49-F238E27FC236}">
                <a16:creationId xmlns:a16="http://schemas.microsoft.com/office/drawing/2014/main" id="{40124D1F-F819-141C-4825-E6CF412DA474}"/>
              </a:ext>
            </a:extLst>
          </p:cNvPr>
          <p:cNvSpPr>
            <a:spLocks noGrp="1"/>
          </p:cNvSpPr>
          <p:nvPr>
            <p:ph idx="1"/>
          </p:nvPr>
        </p:nvSpPr>
        <p:spPr/>
        <p:txBody>
          <a:bodyPr vert="horz" lIns="91440" tIns="45720" rIns="91440" bIns="45720" rtlCol="0" anchor="t">
            <a:normAutofit/>
          </a:bodyPr>
          <a:lstStyle/>
          <a:p>
            <a:r>
              <a:rPr lang="en-US">
                <a:latin typeface="Aptos"/>
              </a:rPr>
              <a:t>What is the time complexity of </a:t>
            </a:r>
            <a:r>
              <a:rPr lang="en-US" b="1">
                <a:latin typeface="Aptos"/>
              </a:rPr>
              <a:t>insert </a:t>
            </a:r>
            <a:r>
              <a:rPr lang="en-US">
                <a:latin typeface="Aptos"/>
              </a:rPr>
              <a:t>new element?</a:t>
            </a:r>
          </a:p>
          <a:p>
            <a:pPr lvl="1">
              <a:buFont typeface="Courier New" panose="020B0604020202020204" pitchFamily="34" charset="0"/>
              <a:buChar char="o"/>
            </a:pPr>
            <a:r>
              <a:rPr lang="en-US">
                <a:latin typeface="Aptos"/>
              </a:rPr>
              <a:t>O(1) always insert at the end of the array</a:t>
            </a:r>
          </a:p>
          <a:p>
            <a:r>
              <a:rPr lang="en-US">
                <a:latin typeface="Aptos"/>
              </a:rPr>
              <a:t>What is the time complexity of </a:t>
            </a:r>
            <a:r>
              <a:rPr lang="en-US" b="1">
                <a:latin typeface="Aptos"/>
              </a:rPr>
              <a:t>searching </a:t>
            </a:r>
            <a:r>
              <a:rPr lang="en-US">
                <a:latin typeface="Aptos"/>
              </a:rPr>
              <a:t>an element?</a:t>
            </a:r>
            <a:endParaRPr lang="en-US"/>
          </a:p>
          <a:p>
            <a:pPr lvl="1">
              <a:buFont typeface="Courier New" panose="020B0604020202020204" pitchFamily="34" charset="0"/>
              <a:buChar char="o"/>
            </a:pPr>
            <a:r>
              <a:rPr lang="en-US">
                <a:latin typeface="Aptos"/>
              </a:rPr>
              <a:t>O(n) </a:t>
            </a:r>
          </a:p>
          <a:p>
            <a:r>
              <a:rPr lang="en-US">
                <a:latin typeface="Aptos"/>
              </a:rPr>
              <a:t>What is the time complexity of </a:t>
            </a:r>
            <a:r>
              <a:rPr lang="en-US" b="1">
                <a:latin typeface="Aptos"/>
              </a:rPr>
              <a:t>deleting </a:t>
            </a:r>
            <a:r>
              <a:rPr lang="en-US">
                <a:latin typeface="Aptos"/>
              </a:rPr>
              <a:t>an element?</a:t>
            </a:r>
          </a:p>
          <a:p>
            <a:pPr lvl="1">
              <a:buFont typeface="Courier New" panose="020B0604020202020204" pitchFamily="34" charset="0"/>
              <a:buChar char="o"/>
            </a:pPr>
            <a:r>
              <a:rPr lang="en-US">
                <a:latin typeface="Aptos"/>
              </a:rPr>
              <a:t>O(n)</a:t>
            </a:r>
          </a:p>
        </p:txBody>
      </p:sp>
      <p:sp>
        <p:nvSpPr>
          <p:cNvPr id="4" name="Slide Number Placeholder 3">
            <a:extLst>
              <a:ext uri="{FF2B5EF4-FFF2-40B4-BE49-F238E27FC236}">
                <a16:creationId xmlns:a16="http://schemas.microsoft.com/office/drawing/2014/main" id="{CB768A6D-21E1-B905-D226-F1A188E5FCD7}"/>
              </a:ext>
            </a:extLst>
          </p:cNvPr>
          <p:cNvSpPr>
            <a:spLocks noGrp="1"/>
          </p:cNvSpPr>
          <p:nvPr>
            <p:ph type="sldNum" sz="quarter" idx="12"/>
          </p:nvPr>
        </p:nvSpPr>
        <p:spPr/>
        <p:txBody>
          <a:bodyPr/>
          <a:lstStyle/>
          <a:p>
            <a:fld id="{A3AE6EEF-09FB-4745-97EC-5981027EA46D}" type="slidenum">
              <a:rPr lang="en-US" smtClean="0"/>
              <a:pPr/>
              <a:t>85</a:t>
            </a:fld>
            <a:endParaRPr lang="en-US"/>
          </a:p>
        </p:txBody>
      </p:sp>
    </p:spTree>
    <p:extLst>
      <p:ext uri="{BB962C8B-B14F-4D97-AF65-F5344CB8AC3E}">
        <p14:creationId xmlns:p14="http://schemas.microsoft.com/office/powerpoint/2010/main" val="20960998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C16-7B2B-5042-D217-DCEE10829B41}"/>
              </a:ext>
            </a:extLst>
          </p:cNvPr>
          <p:cNvSpPr>
            <a:spLocks noGrp="1"/>
          </p:cNvSpPr>
          <p:nvPr>
            <p:ph type="title"/>
          </p:nvPr>
        </p:nvSpPr>
        <p:spPr/>
        <p:txBody>
          <a:bodyPr/>
          <a:lstStyle/>
          <a:p>
            <a:r>
              <a:rPr lang="en-US">
                <a:latin typeface="Segoe UI"/>
                <a:cs typeface="Segoe UI"/>
              </a:rPr>
              <a:t>Ordered Array Characteristics</a:t>
            </a:r>
          </a:p>
        </p:txBody>
      </p:sp>
      <p:sp>
        <p:nvSpPr>
          <p:cNvPr id="3" name="Content Placeholder 2">
            <a:extLst>
              <a:ext uri="{FF2B5EF4-FFF2-40B4-BE49-F238E27FC236}">
                <a16:creationId xmlns:a16="http://schemas.microsoft.com/office/drawing/2014/main" id="{61B891F7-899F-F387-85AA-37C934C3D430}"/>
              </a:ext>
            </a:extLst>
          </p:cNvPr>
          <p:cNvSpPr>
            <a:spLocks noGrp="1"/>
          </p:cNvSpPr>
          <p:nvPr>
            <p:ph idx="1"/>
          </p:nvPr>
        </p:nvSpPr>
        <p:spPr/>
        <p:txBody>
          <a:bodyPr vert="horz" lIns="91440" tIns="45720" rIns="91440" bIns="45720" rtlCol="0" anchor="t">
            <a:normAutofit/>
          </a:bodyPr>
          <a:lstStyle/>
          <a:p>
            <a:r>
              <a:rPr lang="en-US">
                <a:latin typeface="Arial"/>
                <a:cs typeface="Arial"/>
              </a:rPr>
              <a:t>What is the time complexity of </a:t>
            </a:r>
            <a:r>
              <a:rPr lang="en-US" b="1">
                <a:latin typeface="Arial"/>
                <a:cs typeface="Arial"/>
              </a:rPr>
              <a:t>insert </a:t>
            </a:r>
            <a:r>
              <a:rPr lang="en-US">
                <a:latin typeface="Arial"/>
                <a:cs typeface="Arial"/>
              </a:rPr>
              <a:t>new element?</a:t>
            </a:r>
          </a:p>
          <a:p>
            <a:pPr lvl="1">
              <a:buFont typeface="Courier New" panose="020B0604020202020204" pitchFamily="34" charset="0"/>
              <a:buChar char="o"/>
            </a:pPr>
            <a:r>
              <a:rPr lang="en-US">
                <a:latin typeface="Arial"/>
                <a:cs typeface="Arial"/>
              </a:rPr>
              <a:t>Does the searching algorithm matter here? </a:t>
            </a:r>
          </a:p>
          <a:p>
            <a:r>
              <a:rPr lang="en-US">
                <a:latin typeface="Arial"/>
                <a:cs typeface="Arial"/>
              </a:rPr>
              <a:t>What is the time complexity of </a:t>
            </a:r>
            <a:r>
              <a:rPr lang="en-US" b="1">
                <a:latin typeface="Arial"/>
                <a:cs typeface="Arial"/>
              </a:rPr>
              <a:t>searching </a:t>
            </a:r>
            <a:r>
              <a:rPr lang="en-US">
                <a:latin typeface="Arial"/>
                <a:cs typeface="Arial"/>
              </a:rPr>
              <a:t>an element?</a:t>
            </a:r>
          </a:p>
          <a:p>
            <a:endParaRPr lang="en-US">
              <a:latin typeface="Arial"/>
              <a:cs typeface="Arial"/>
            </a:endParaRPr>
          </a:p>
          <a:p>
            <a:r>
              <a:rPr lang="en-US">
                <a:latin typeface="Arial"/>
                <a:cs typeface="Arial"/>
              </a:rPr>
              <a:t>What is the time complexity of </a:t>
            </a:r>
            <a:r>
              <a:rPr lang="en-US" b="1">
                <a:latin typeface="Arial"/>
                <a:cs typeface="Arial"/>
              </a:rPr>
              <a:t>deleting </a:t>
            </a:r>
            <a:r>
              <a:rPr lang="en-US">
                <a:latin typeface="Arial"/>
                <a:cs typeface="Arial"/>
              </a:rPr>
              <a:t>an element?</a:t>
            </a:r>
          </a:p>
          <a:p>
            <a:pPr lvl="1">
              <a:buFont typeface="Courier New" panose="020B0604020202020204" pitchFamily="34" charset="0"/>
              <a:buChar char="o"/>
            </a:pPr>
            <a:r>
              <a:rPr lang="en-US" sz="2200">
                <a:latin typeface="Arial"/>
                <a:cs typeface="Arial"/>
              </a:rPr>
              <a:t>Does the searching algorithm matter here? </a:t>
            </a:r>
          </a:p>
          <a:p>
            <a:endParaRPr lang="en-US"/>
          </a:p>
        </p:txBody>
      </p:sp>
      <p:sp>
        <p:nvSpPr>
          <p:cNvPr id="4" name="Slide Number Placeholder 3">
            <a:extLst>
              <a:ext uri="{FF2B5EF4-FFF2-40B4-BE49-F238E27FC236}">
                <a16:creationId xmlns:a16="http://schemas.microsoft.com/office/drawing/2014/main" id="{BB9EBBA0-097C-0B27-4273-23F91F6FC45B}"/>
              </a:ext>
            </a:extLst>
          </p:cNvPr>
          <p:cNvSpPr>
            <a:spLocks noGrp="1"/>
          </p:cNvSpPr>
          <p:nvPr>
            <p:ph type="sldNum" sz="quarter" idx="12"/>
          </p:nvPr>
        </p:nvSpPr>
        <p:spPr/>
        <p:txBody>
          <a:bodyPr/>
          <a:lstStyle/>
          <a:p>
            <a:fld id="{A3AE6EEF-09FB-4745-97EC-5981027EA46D}" type="slidenum">
              <a:rPr lang="en-US" smtClean="0"/>
              <a:pPr/>
              <a:t>86</a:t>
            </a:fld>
            <a:endParaRPr lang="en-US"/>
          </a:p>
        </p:txBody>
      </p:sp>
    </p:spTree>
    <p:extLst>
      <p:ext uri="{BB962C8B-B14F-4D97-AF65-F5344CB8AC3E}">
        <p14:creationId xmlns:p14="http://schemas.microsoft.com/office/powerpoint/2010/main" val="35567153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58752-8FA2-5362-2D04-20E7368F8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9122E-9959-7496-2801-9292C0EE9218}"/>
              </a:ext>
            </a:extLst>
          </p:cNvPr>
          <p:cNvSpPr>
            <a:spLocks noGrp="1"/>
          </p:cNvSpPr>
          <p:nvPr>
            <p:ph type="title"/>
          </p:nvPr>
        </p:nvSpPr>
        <p:spPr/>
        <p:txBody>
          <a:bodyPr/>
          <a:lstStyle/>
          <a:p>
            <a:r>
              <a:rPr lang="en-US">
                <a:latin typeface="Segoe UI"/>
                <a:cs typeface="Segoe UI"/>
              </a:rPr>
              <a:t>Ordered Array Characteristics (</a:t>
            </a:r>
            <a:r>
              <a:rPr lang="en-US" err="1">
                <a:latin typeface="Segoe UI"/>
                <a:cs typeface="Segoe UI"/>
              </a:rPr>
              <a:t>Asnwered</a:t>
            </a:r>
            <a:r>
              <a:rPr lang="en-US">
                <a:latin typeface="Segoe UI"/>
                <a:cs typeface="Segoe UI"/>
              </a:rPr>
              <a:t>)</a:t>
            </a:r>
          </a:p>
        </p:txBody>
      </p:sp>
      <p:sp>
        <p:nvSpPr>
          <p:cNvPr id="3" name="Content Placeholder 2">
            <a:extLst>
              <a:ext uri="{FF2B5EF4-FFF2-40B4-BE49-F238E27FC236}">
                <a16:creationId xmlns:a16="http://schemas.microsoft.com/office/drawing/2014/main" id="{ACA3E404-B03D-F4CD-896C-D7C882120694}"/>
              </a:ext>
            </a:extLst>
          </p:cNvPr>
          <p:cNvSpPr>
            <a:spLocks noGrp="1"/>
          </p:cNvSpPr>
          <p:nvPr>
            <p:ph idx="1"/>
          </p:nvPr>
        </p:nvSpPr>
        <p:spPr>
          <a:xfrm>
            <a:off x="838200" y="1825625"/>
            <a:ext cx="10515600" cy="4703905"/>
          </a:xfrm>
        </p:spPr>
        <p:txBody>
          <a:bodyPr vert="horz" lIns="91440" tIns="45720" rIns="91440" bIns="45720" rtlCol="0" anchor="t">
            <a:normAutofit/>
          </a:bodyPr>
          <a:lstStyle/>
          <a:p>
            <a:r>
              <a:rPr lang="en-US">
                <a:latin typeface="Arial"/>
                <a:cs typeface="Arial"/>
              </a:rPr>
              <a:t>What is the time complexity of </a:t>
            </a:r>
            <a:r>
              <a:rPr lang="en-US" b="1">
                <a:latin typeface="Arial"/>
                <a:cs typeface="Arial"/>
              </a:rPr>
              <a:t>insert </a:t>
            </a:r>
            <a:r>
              <a:rPr lang="en-US">
                <a:latin typeface="Arial"/>
                <a:cs typeface="Arial"/>
              </a:rPr>
              <a:t>new element?</a:t>
            </a:r>
          </a:p>
          <a:p>
            <a:pPr lvl="1">
              <a:buFont typeface="Courier New" panose="020B0604020202020204" pitchFamily="34" charset="0"/>
              <a:buChar char="o"/>
            </a:pPr>
            <a:r>
              <a:rPr lang="en-US">
                <a:latin typeface="Aptos"/>
                <a:cs typeface="Arial"/>
              </a:rPr>
              <a:t>O(n) no matter the search algorithm, it will still need to</a:t>
            </a:r>
            <a:r>
              <a:rPr lang="en-US">
                <a:solidFill>
                  <a:srgbClr val="00B0F0"/>
                </a:solidFill>
                <a:latin typeface="Aptos"/>
                <a:cs typeface="Arial"/>
              </a:rPr>
              <a:t> rearrange the rest</a:t>
            </a:r>
            <a:r>
              <a:rPr lang="en-US">
                <a:latin typeface="Aptos"/>
                <a:cs typeface="Arial"/>
              </a:rPr>
              <a:t> </a:t>
            </a:r>
            <a:r>
              <a:rPr lang="en-US">
                <a:solidFill>
                  <a:srgbClr val="000000"/>
                </a:solidFill>
                <a:latin typeface="Aptos"/>
                <a:cs typeface="Arial"/>
              </a:rPr>
              <a:t>of the elements in the array to insert</a:t>
            </a:r>
            <a:endParaRPr lang="en-US">
              <a:solidFill>
                <a:srgbClr val="000000"/>
              </a:solidFill>
              <a:latin typeface="Arial"/>
              <a:cs typeface="Arial"/>
            </a:endParaRPr>
          </a:p>
          <a:p>
            <a:pPr lvl="1">
              <a:buFont typeface="Courier New" panose="020B0604020202020204" pitchFamily="34" charset="0"/>
              <a:buChar char="o"/>
            </a:pPr>
            <a:r>
              <a:rPr lang="en-US">
                <a:latin typeface="Aptos"/>
                <a:cs typeface="Arial"/>
              </a:rPr>
              <a:t>Can switch to use </a:t>
            </a:r>
            <a:r>
              <a:rPr lang="en-US">
                <a:solidFill>
                  <a:srgbClr val="00B050"/>
                </a:solidFill>
                <a:latin typeface="Aptos"/>
                <a:cs typeface="Arial"/>
              </a:rPr>
              <a:t>Binary search</a:t>
            </a:r>
            <a:r>
              <a:rPr lang="en-US">
                <a:latin typeface="Aptos"/>
                <a:cs typeface="Arial"/>
              </a:rPr>
              <a:t> instead of</a:t>
            </a:r>
            <a:r>
              <a:rPr lang="en-US">
                <a:solidFill>
                  <a:srgbClr val="0070C0"/>
                </a:solidFill>
                <a:latin typeface="Aptos"/>
                <a:cs typeface="Arial"/>
              </a:rPr>
              <a:t> </a:t>
            </a:r>
            <a:r>
              <a:rPr lang="en-US">
                <a:solidFill>
                  <a:srgbClr val="FF0000"/>
                </a:solidFill>
                <a:latin typeface="Aptos"/>
                <a:cs typeface="Arial"/>
              </a:rPr>
              <a:t>Linear search</a:t>
            </a:r>
            <a:r>
              <a:rPr lang="en-US">
                <a:latin typeface="Aptos"/>
                <a:cs typeface="Arial"/>
              </a:rPr>
              <a:t> for a small improvement</a:t>
            </a:r>
          </a:p>
          <a:p>
            <a:pPr lvl="1">
              <a:buFont typeface="Courier New" panose="020B0604020202020204" pitchFamily="34" charset="0"/>
              <a:buChar char="o"/>
            </a:pPr>
            <a:r>
              <a:rPr lang="en-US">
                <a:latin typeface="Aptos"/>
                <a:cs typeface="Arial"/>
              </a:rPr>
              <a:t>However (</a:t>
            </a:r>
            <a:r>
              <a:rPr lang="en-US">
                <a:solidFill>
                  <a:srgbClr val="00B0F0"/>
                </a:solidFill>
                <a:latin typeface="Aptos"/>
                <a:cs typeface="Arial"/>
              </a:rPr>
              <a:t>n</a:t>
            </a:r>
            <a:r>
              <a:rPr lang="en-US">
                <a:latin typeface="Aptos"/>
                <a:cs typeface="Arial"/>
              </a:rPr>
              <a:t> + </a:t>
            </a:r>
            <a:r>
              <a:rPr lang="en-US" err="1">
                <a:solidFill>
                  <a:srgbClr val="00B050"/>
                </a:solidFill>
                <a:latin typeface="Aptos"/>
                <a:cs typeface="Arial"/>
              </a:rPr>
              <a:t>logn</a:t>
            </a:r>
            <a:r>
              <a:rPr lang="en-US">
                <a:latin typeface="Aptos"/>
                <a:cs typeface="Arial"/>
              </a:rPr>
              <a:t>) or (</a:t>
            </a:r>
            <a:r>
              <a:rPr lang="en-US">
                <a:solidFill>
                  <a:srgbClr val="00B0F0"/>
                </a:solidFill>
                <a:latin typeface="Aptos"/>
                <a:cs typeface="Arial"/>
              </a:rPr>
              <a:t>n</a:t>
            </a:r>
            <a:r>
              <a:rPr lang="en-US">
                <a:latin typeface="Aptos"/>
                <a:cs typeface="Arial"/>
              </a:rPr>
              <a:t> + </a:t>
            </a:r>
            <a:r>
              <a:rPr lang="en-US">
                <a:solidFill>
                  <a:srgbClr val="FF0000"/>
                </a:solidFill>
                <a:latin typeface="Aptos"/>
                <a:cs typeface="Arial"/>
              </a:rPr>
              <a:t>n</a:t>
            </a:r>
            <a:r>
              <a:rPr lang="en-US">
                <a:latin typeface="Aptos"/>
                <a:cs typeface="Arial"/>
              </a:rPr>
              <a:t>) is still O(n)</a:t>
            </a:r>
          </a:p>
          <a:p>
            <a:r>
              <a:rPr lang="en-US">
                <a:latin typeface="Arial"/>
                <a:cs typeface="Arial"/>
              </a:rPr>
              <a:t>What is the time complexity of </a:t>
            </a:r>
            <a:r>
              <a:rPr lang="en-US" b="1">
                <a:latin typeface="Arial"/>
                <a:cs typeface="Arial"/>
              </a:rPr>
              <a:t>searching </a:t>
            </a:r>
            <a:r>
              <a:rPr lang="en-US">
                <a:latin typeface="Arial"/>
                <a:cs typeface="Arial"/>
              </a:rPr>
              <a:t>an element?</a:t>
            </a:r>
          </a:p>
          <a:p>
            <a:pPr lvl="1">
              <a:buFont typeface="Courier New" panose="020B0604020202020204" pitchFamily="34" charset="0"/>
              <a:buChar char="o"/>
            </a:pPr>
            <a:r>
              <a:rPr lang="en-US">
                <a:latin typeface="Aptos"/>
                <a:cs typeface="Arial"/>
              </a:rPr>
              <a:t>O(log n)</a:t>
            </a:r>
            <a:endParaRPr lang="en-US">
              <a:latin typeface="Arial"/>
              <a:cs typeface="Arial"/>
            </a:endParaRPr>
          </a:p>
          <a:p>
            <a:r>
              <a:rPr lang="en-US">
                <a:latin typeface="Arial"/>
                <a:cs typeface="Arial"/>
              </a:rPr>
              <a:t>What is the time complexity of </a:t>
            </a:r>
            <a:r>
              <a:rPr lang="en-US" b="1">
                <a:latin typeface="Arial"/>
                <a:cs typeface="Arial"/>
              </a:rPr>
              <a:t>deleting </a:t>
            </a:r>
            <a:r>
              <a:rPr lang="en-US">
                <a:latin typeface="Arial"/>
                <a:cs typeface="Arial"/>
              </a:rPr>
              <a:t>an element?</a:t>
            </a:r>
          </a:p>
          <a:p>
            <a:pPr lvl="1">
              <a:buFont typeface="Courier New" panose="020B0604020202020204" pitchFamily="34" charset="0"/>
              <a:buChar char="o"/>
            </a:pPr>
            <a:r>
              <a:rPr lang="en-US">
                <a:latin typeface="Aptos"/>
              </a:rPr>
              <a:t>O(n) no matter the search algorithm</a:t>
            </a:r>
          </a:p>
          <a:p>
            <a:pPr lvl="1">
              <a:buFont typeface="Courier New" panose="020B0604020202020204" pitchFamily="34" charset="0"/>
              <a:buChar char="o"/>
            </a:pPr>
            <a:r>
              <a:rPr lang="en-US">
                <a:latin typeface="Aptos"/>
              </a:rPr>
              <a:t>(</a:t>
            </a:r>
            <a:r>
              <a:rPr lang="en-US">
                <a:solidFill>
                  <a:srgbClr val="00B0F0"/>
                </a:solidFill>
                <a:latin typeface="Aptos"/>
              </a:rPr>
              <a:t>n</a:t>
            </a:r>
            <a:r>
              <a:rPr lang="en-US">
                <a:latin typeface="Aptos"/>
              </a:rPr>
              <a:t> + </a:t>
            </a:r>
            <a:r>
              <a:rPr lang="en-US" err="1">
                <a:solidFill>
                  <a:srgbClr val="00B050"/>
                </a:solidFill>
                <a:latin typeface="Aptos"/>
              </a:rPr>
              <a:t>logn</a:t>
            </a:r>
            <a:r>
              <a:rPr lang="en-US">
                <a:latin typeface="Aptos"/>
              </a:rPr>
              <a:t>) or (</a:t>
            </a:r>
            <a:r>
              <a:rPr lang="en-US">
                <a:solidFill>
                  <a:srgbClr val="00B0F0"/>
                </a:solidFill>
                <a:latin typeface="Aptos"/>
              </a:rPr>
              <a:t>n</a:t>
            </a:r>
            <a:r>
              <a:rPr lang="en-US">
                <a:latin typeface="Aptos"/>
              </a:rPr>
              <a:t> + </a:t>
            </a:r>
            <a:r>
              <a:rPr lang="en-US">
                <a:solidFill>
                  <a:srgbClr val="FF0000"/>
                </a:solidFill>
                <a:latin typeface="Aptos"/>
              </a:rPr>
              <a:t>n</a:t>
            </a:r>
            <a:r>
              <a:rPr lang="en-US">
                <a:latin typeface="Aptos"/>
              </a:rPr>
              <a:t>) is still O(n)</a:t>
            </a:r>
          </a:p>
        </p:txBody>
      </p:sp>
      <p:sp>
        <p:nvSpPr>
          <p:cNvPr id="4" name="Slide Number Placeholder 3">
            <a:extLst>
              <a:ext uri="{FF2B5EF4-FFF2-40B4-BE49-F238E27FC236}">
                <a16:creationId xmlns:a16="http://schemas.microsoft.com/office/drawing/2014/main" id="{84E6C37D-6E6A-9DE1-2E4A-ADB0ED7CAB85}"/>
              </a:ext>
            </a:extLst>
          </p:cNvPr>
          <p:cNvSpPr>
            <a:spLocks noGrp="1"/>
          </p:cNvSpPr>
          <p:nvPr>
            <p:ph type="sldNum" sz="quarter" idx="12"/>
          </p:nvPr>
        </p:nvSpPr>
        <p:spPr/>
        <p:txBody>
          <a:bodyPr/>
          <a:lstStyle/>
          <a:p>
            <a:fld id="{A3AE6EEF-09FB-4745-97EC-5981027EA46D}" type="slidenum">
              <a:rPr lang="en-US" smtClean="0"/>
              <a:pPr/>
              <a:t>87</a:t>
            </a:fld>
            <a:endParaRPr lang="en-US"/>
          </a:p>
        </p:txBody>
      </p:sp>
    </p:spTree>
    <p:extLst>
      <p:ext uri="{BB962C8B-B14F-4D97-AF65-F5344CB8AC3E}">
        <p14:creationId xmlns:p14="http://schemas.microsoft.com/office/powerpoint/2010/main" val="17917380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318DC5BB-BCBD-47F9-9BA6-A14951870F77}"/>
              </a:ext>
            </a:extLst>
          </p:cNvPr>
          <p:cNvSpPr>
            <a:spLocks noGrp="1"/>
          </p:cNvSpPr>
          <p:nvPr>
            <p:ph type="title"/>
          </p:nvPr>
        </p:nvSpPr>
        <p:spPr/>
        <p:txBody>
          <a:bodyPr/>
          <a:lstStyle/>
          <a:p>
            <a:r>
              <a:rPr lang="en-US" altLang="en-US"/>
              <a:t>Unordered/Ordered Array Tradeoffs</a:t>
            </a:r>
          </a:p>
        </p:txBody>
      </p:sp>
      <p:sp>
        <p:nvSpPr>
          <p:cNvPr id="3" name="Slide Number Placeholder 2">
            <a:extLst>
              <a:ext uri="{FF2B5EF4-FFF2-40B4-BE49-F238E27FC236}">
                <a16:creationId xmlns:a16="http://schemas.microsoft.com/office/drawing/2014/main" id="{C5741B86-B1C9-4CBD-9B38-7DFF44CD9BBD}"/>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48526718-D853-4063-8AE4-199B2C719C8E}" type="slidenum">
              <a:rPr lang="en-US" altLang="en-US" sz="2000">
                <a:latin typeface="Aptos" panose="020B0004020202020204" pitchFamily="34" charset="0"/>
              </a:rPr>
              <a:pPr eaLnBrk="1" hangingPunct="1"/>
              <a:t>88</a:t>
            </a:fld>
            <a:endParaRPr lang="en-US" altLang="en-US" sz="2000">
              <a:latin typeface="Aptos" panose="020B0004020202020204" pitchFamily="34" charset="0"/>
            </a:endParaRPr>
          </a:p>
        </p:txBody>
      </p:sp>
      <p:sp>
        <p:nvSpPr>
          <p:cNvPr id="93188" name="Content Placeholder 3">
            <a:extLst>
              <a:ext uri="{FF2B5EF4-FFF2-40B4-BE49-F238E27FC236}">
                <a16:creationId xmlns:a16="http://schemas.microsoft.com/office/drawing/2014/main" id="{1BD7DB8F-9E4B-464F-B857-BD45CF568895}"/>
              </a:ext>
            </a:extLst>
          </p:cNvPr>
          <p:cNvSpPr>
            <a:spLocks noGrp="1"/>
          </p:cNvSpPr>
          <p:nvPr>
            <p:ph sz="quarter" idx="1"/>
          </p:nvPr>
        </p:nvSpPr>
        <p:spPr/>
        <p:txBody>
          <a:bodyPr vert="horz" lIns="91440" tIns="45720" rIns="91440" bIns="45720" rtlCol="0" anchor="t">
            <a:normAutofit/>
          </a:bodyPr>
          <a:lstStyle/>
          <a:p>
            <a:r>
              <a:rPr lang="en-US" altLang="en-US">
                <a:latin typeface="Aptos"/>
              </a:rPr>
              <a:t>Unordered (Unsorted)</a:t>
            </a:r>
            <a:endParaRPr lang="en-US" altLang="en-US"/>
          </a:p>
          <a:p>
            <a:pPr lvl="1"/>
            <a:r>
              <a:rPr lang="en-US" altLang="en-US">
                <a:latin typeface="Aptos"/>
              </a:rPr>
              <a:t>Insertion is fast – O(1)</a:t>
            </a:r>
          </a:p>
          <a:p>
            <a:pPr lvl="1"/>
            <a:r>
              <a:rPr lang="en-US" altLang="en-US">
                <a:latin typeface="Aptos"/>
              </a:rPr>
              <a:t>Searching is slow – Linear Search O(n)        </a:t>
            </a:r>
            <a:r>
              <a:rPr lang="en-US" altLang="en-US" sz="1800">
                <a:latin typeface="Aptos"/>
              </a:rPr>
              <a:t>Note: Linear Search is Brute Force Search</a:t>
            </a:r>
          </a:p>
          <a:p>
            <a:r>
              <a:rPr lang="en-US" altLang="en-US">
                <a:latin typeface="Aptos"/>
              </a:rPr>
              <a:t>Ordered (Sorted)</a:t>
            </a:r>
            <a:endParaRPr lang="en-US" altLang="en-US"/>
          </a:p>
          <a:p>
            <a:pPr lvl="1"/>
            <a:r>
              <a:rPr lang="en-US" altLang="en-US">
                <a:latin typeface="Aptos"/>
              </a:rPr>
              <a:t>Searching is fast –  Binary Search O(log n)</a:t>
            </a:r>
          </a:p>
          <a:p>
            <a:pPr lvl="1"/>
            <a:r>
              <a:rPr lang="en-US" altLang="en-US">
                <a:latin typeface="Aptos"/>
              </a:rPr>
              <a:t>Insertion is slow – O(n)</a:t>
            </a:r>
          </a:p>
          <a:p>
            <a:r>
              <a:rPr lang="en-US" altLang="en-US">
                <a:latin typeface="Aptos"/>
              </a:rPr>
              <a:t>Deletion is even – O(n)</a:t>
            </a:r>
          </a:p>
          <a:p>
            <a:r>
              <a:rPr lang="en-US" altLang="en-US">
                <a:latin typeface="Aptos"/>
              </a:rPr>
              <a:t>Memory can be wasted, or even misused.  Let’s discuss.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DA11-AC52-EAE7-44B7-4B5560E4214A}"/>
              </a:ext>
            </a:extLst>
          </p:cNvPr>
          <p:cNvSpPr>
            <a:spLocks noGrp="1"/>
          </p:cNvSpPr>
          <p:nvPr>
            <p:ph type="title"/>
          </p:nvPr>
        </p:nvSpPr>
        <p:spPr/>
        <p:txBody>
          <a:bodyPr/>
          <a:lstStyle/>
          <a:p>
            <a:r>
              <a:rPr lang="en-US"/>
              <a:t>Array Memory Wasted</a:t>
            </a:r>
          </a:p>
        </p:txBody>
      </p:sp>
      <p:sp>
        <p:nvSpPr>
          <p:cNvPr id="3" name="Content Placeholder 2">
            <a:extLst>
              <a:ext uri="{FF2B5EF4-FFF2-40B4-BE49-F238E27FC236}">
                <a16:creationId xmlns:a16="http://schemas.microsoft.com/office/drawing/2014/main" id="{B7576915-5634-7115-04BC-CEE57ADEDD98}"/>
              </a:ext>
            </a:extLst>
          </p:cNvPr>
          <p:cNvSpPr>
            <a:spLocks noGrp="1"/>
          </p:cNvSpPr>
          <p:nvPr>
            <p:ph idx="1"/>
          </p:nvPr>
        </p:nvSpPr>
        <p:spPr/>
        <p:txBody>
          <a:bodyPr vert="horz" lIns="91440" tIns="45720" rIns="91440" bIns="45720" rtlCol="0" anchor="t">
            <a:normAutofit/>
          </a:bodyPr>
          <a:lstStyle/>
          <a:p>
            <a:r>
              <a:rPr lang="en-US">
                <a:solidFill>
                  <a:srgbClr val="000000"/>
                </a:solidFill>
                <a:latin typeface="Aptos"/>
              </a:rPr>
              <a:t>When an array is declared, its size must be fixed and allocated at compile time</a:t>
            </a:r>
            <a:endParaRPr lang="en-US">
              <a:solidFill>
                <a:srgbClr val="000000"/>
              </a:solidFill>
            </a:endParaRPr>
          </a:p>
          <a:p>
            <a:r>
              <a:rPr lang="en-US">
                <a:solidFill>
                  <a:srgbClr val="000000"/>
                </a:solidFill>
                <a:latin typeface="Aptos"/>
              </a:rPr>
              <a:t>All elements in the array need to be initialized even if they are not used</a:t>
            </a:r>
          </a:p>
          <a:p>
            <a:r>
              <a:rPr lang="en-US">
                <a:solidFill>
                  <a:srgbClr val="000000"/>
                </a:solidFill>
                <a:latin typeface="Aptos"/>
              </a:rPr>
              <a:t>Causing slow delete and insert</a:t>
            </a:r>
          </a:p>
        </p:txBody>
      </p:sp>
      <p:sp>
        <p:nvSpPr>
          <p:cNvPr id="4" name="Slide Number Placeholder 3">
            <a:extLst>
              <a:ext uri="{FF2B5EF4-FFF2-40B4-BE49-F238E27FC236}">
                <a16:creationId xmlns:a16="http://schemas.microsoft.com/office/drawing/2014/main" id="{C2B8DC11-8FB7-8D54-3AB7-17B18B2225D1}"/>
              </a:ext>
            </a:extLst>
          </p:cNvPr>
          <p:cNvSpPr>
            <a:spLocks noGrp="1"/>
          </p:cNvSpPr>
          <p:nvPr>
            <p:ph type="sldNum" sz="quarter" idx="12"/>
          </p:nvPr>
        </p:nvSpPr>
        <p:spPr/>
        <p:txBody>
          <a:bodyPr/>
          <a:lstStyle/>
          <a:p>
            <a:fld id="{A3AE6EEF-09FB-4745-97EC-5981027EA46D}" type="slidenum">
              <a:rPr lang="en-US" smtClean="0"/>
              <a:pPr/>
              <a:t>89</a:t>
            </a:fld>
            <a:endParaRPr lang="en-US"/>
          </a:p>
        </p:txBody>
      </p:sp>
    </p:spTree>
    <p:extLst>
      <p:ext uri="{BB962C8B-B14F-4D97-AF65-F5344CB8AC3E}">
        <p14:creationId xmlns:p14="http://schemas.microsoft.com/office/powerpoint/2010/main" val="136651583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B8415B84-C520-4315-8D17-6AA33ACA2011}"/>
              </a:ext>
            </a:extLst>
          </p:cNvPr>
          <p:cNvSpPr>
            <a:spLocks noGrp="1"/>
          </p:cNvSpPr>
          <p:nvPr>
            <p:ph type="title"/>
          </p:nvPr>
        </p:nvSpPr>
        <p:spPr/>
        <p:txBody>
          <a:bodyPr/>
          <a:lstStyle/>
          <a:p>
            <a:r>
              <a:rPr lang="en-US" altLang="en-US"/>
              <a:t>What we will see…</a:t>
            </a:r>
          </a:p>
        </p:txBody>
      </p:sp>
      <p:sp>
        <p:nvSpPr>
          <p:cNvPr id="3" name="Slide Number Placeholder 2">
            <a:extLst>
              <a:ext uri="{FF2B5EF4-FFF2-40B4-BE49-F238E27FC236}">
                <a16:creationId xmlns:a16="http://schemas.microsoft.com/office/drawing/2014/main" id="{06F79A9C-B88E-475C-A4B9-132BCD7EDE99}"/>
              </a:ext>
            </a:extLst>
          </p:cNvPr>
          <p:cNvSpPr>
            <a:spLocks noGrp="1"/>
          </p:cNvSpPr>
          <p:nvPr>
            <p:ph type="sldNum" sz="quarter" idx="12"/>
          </p:nvPr>
        </p:nvSpPr>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fld id="{F3DDB158-66C6-4E92-A9A5-C26DAF37D8F8}" type="slidenum">
              <a:rPr lang="en-US" altLang="en-US" sz="2000" smtClean="0">
                <a:latin typeface="Aptos" panose="020B0004020202020204" pitchFamily="34" charset="0"/>
              </a:rPr>
              <a:pPr eaLnBrk="1" hangingPunct="1"/>
              <a:t>90</a:t>
            </a:fld>
            <a:endParaRPr lang="en-US" altLang="en-US" sz="2000">
              <a:latin typeface="Aptos" panose="020B0004020202020204" pitchFamily="34" charset="0"/>
            </a:endParaRPr>
          </a:p>
        </p:txBody>
      </p:sp>
      <p:sp>
        <p:nvSpPr>
          <p:cNvPr id="94212" name="Content Placeholder 3">
            <a:extLst>
              <a:ext uri="{FF2B5EF4-FFF2-40B4-BE49-F238E27FC236}">
                <a16:creationId xmlns:a16="http://schemas.microsoft.com/office/drawing/2014/main" id="{BDB85AFF-06DC-42F7-ABEE-708952A64A60}"/>
              </a:ext>
            </a:extLst>
          </p:cNvPr>
          <p:cNvSpPr>
            <a:spLocks noGrp="1"/>
          </p:cNvSpPr>
          <p:nvPr>
            <p:ph sz="quarter" idx="1"/>
          </p:nvPr>
        </p:nvSpPr>
        <p:spPr/>
        <p:txBody>
          <a:bodyPr>
            <a:normAutofit/>
          </a:bodyPr>
          <a:lstStyle/>
          <a:p>
            <a:r>
              <a:rPr lang="en-US" altLang="en-US"/>
              <a:t>There are structures (trees) which can insert, delete and search in O(log n) time</a:t>
            </a:r>
          </a:p>
          <a:p>
            <a:pPr lvl="1"/>
            <a:r>
              <a:rPr lang="en-US" altLang="en-US"/>
              <a:t>Of course as you’d expect, they’re more complex</a:t>
            </a:r>
          </a:p>
          <a:p>
            <a:r>
              <a:rPr lang="en-US" altLang="en-US"/>
              <a:t>We will also learn about structures with flexible sizes</a:t>
            </a:r>
          </a:p>
          <a:p>
            <a:r>
              <a:rPr lang="en-US" altLang="en-US" err="1"/>
              <a:t>java.util</a:t>
            </a:r>
            <a:r>
              <a:rPr lang="en-US" altLang="en-US"/>
              <a:t> has class Vector – what you should know:</a:t>
            </a:r>
          </a:p>
          <a:p>
            <a:pPr lvl="1"/>
            <a:r>
              <a:rPr lang="en-US" altLang="en-US"/>
              <a:t>Array of flexible size</a:t>
            </a:r>
          </a:p>
          <a:p>
            <a:pPr lvl="1"/>
            <a:r>
              <a:rPr lang="en-US" altLang="en-US"/>
              <a:t>Some efficiency is lost (why do you think?)</a:t>
            </a:r>
          </a:p>
          <a:p>
            <a:pPr lvl="2"/>
            <a:r>
              <a:rPr lang="en-US" altLang="en-US"/>
              <a:t>What happens when we try to go beyond the current size?</a:t>
            </a:r>
          </a:p>
          <a:p>
            <a:pPr lvl="2"/>
            <a:r>
              <a:rPr lang="en-US" altLang="en-US"/>
              <a:t>Why is this penalty very large at the beginning of array population?</a:t>
            </a:r>
          </a:p>
          <a:p>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4565</Words>
  <Application>Microsoft Office PowerPoint</Application>
  <PresentationFormat>Widescreen</PresentationFormat>
  <Paragraphs>943</Paragraphs>
  <Slides>90</Slides>
  <Notes>0</Notes>
  <HiddenSlides>0</HiddenSlides>
  <MMClips>0</MMClips>
  <ScaleCrop>false</ScaleCrop>
  <HeadingPairs>
    <vt:vector size="4" baseType="variant">
      <vt:variant>
        <vt:lpstr>Theme</vt:lpstr>
      </vt:variant>
      <vt:variant>
        <vt:i4>1</vt:i4>
      </vt:variant>
      <vt:variant>
        <vt:lpstr>Slide Titles</vt:lpstr>
      </vt:variant>
      <vt:variant>
        <vt:i4>90</vt:i4>
      </vt:variant>
    </vt:vector>
  </HeadingPairs>
  <TitlesOfParts>
    <vt:vector size="91" baseType="lpstr">
      <vt:lpstr>Office Theme</vt:lpstr>
      <vt:lpstr>Chapter 2: Arrays</vt:lpstr>
      <vt:lpstr>Agenda</vt:lpstr>
      <vt:lpstr>Group Presentation</vt:lpstr>
      <vt:lpstr>The Array</vt:lpstr>
      <vt:lpstr>Array Storage</vt:lpstr>
      <vt:lpstr>Remember, value vs. reference…</vt:lpstr>
      <vt:lpstr>Data Types</vt:lpstr>
      <vt:lpstr>Primitive vs non-primitive Data Types</vt:lpstr>
      <vt:lpstr>Primitive Data Types</vt:lpstr>
      <vt:lpstr>Non-Primitive Data Type  - Array</vt:lpstr>
      <vt:lpstr>Defining a Java Array</vt:lpstr>
      <vt:lpstr>We said an array was a reference…</vt:lpstr>
      <vt:lpstr>Defining a Java Array with data</vt:lpstr>
      <vt:lpstr>The Size</vt:lpstr>
      <vt:lpstr>Access</vt:lpstr>
      <vt:lpstr>Access</vt:lpstr>
      <vt:lpstr>Initialization</vt:lpstr>
      <vt:lpstr>Initialization</vt:lpstr>
      <vt:lpstr>Using Array</vt:lpstr>
      <vt:lpstr>Loop through an Array</vt:lpstr>
      <vt:lpstr>Look at a book example…</vt:lpstr>
      <vt:lpstr>Look at a book example</vt:lpstr>
      <vt:lpstr>The Array.java</vt:lpstr>
      <vt:lpstr>This did not use OOP</vt:lpstr>
      <vt:lpstr>The LowArray interface</vt:lpstr>
      <vt:lpstr>What does it mean “Interface”</vt:lpstr>
      <vt:lpstr>The LowArray interface​</vt:lpstr>
      <vt:lpstr>The LowArray interface</vt:lpstr>
      <vt:lpstr>The LowArray interface</vt:lpstr>
      <vt:lpstr>The LowArray interface</vt:lpstr>
      <vt:lpstr>The LowArray interface</vt:lpstr>
      <vt:lpstr>The HighArray interface</vt:lpstr>
      <vt:lpstr>The HighArray interface</vt:lpstr>
      <vt:lpstr>The HighArray interface</vt:lpstr>
      <vt:lpstr>Abstraction</vt:lpstr>
      <vt:lpstr>HighArray’s Operations</vt:lpstr>
      <vt:lpstr>Constructor</vt:lpstr>
      <vt:lpstr>Constructor</vt:lpstr>
      <vt:lpstr>Constructor</vt:lpstr>
      <vt:lpstr>Access an element</vt:lpstr>
      <vt:lpstr>Insert an element</vt:lpstr>
      <vt:lpstr>Insert an element</vt:lpstr>
      <vt:lpstr>Insert an element</vt:lpstr>
      <vt:lpstr>Insert an element</vt:lpstr>
      <vt:lpstr>Insert an element</vt:lpstr>
      <vt:lpstr>Insert an element</vt:lpstr>
      <vt:lpstr>Search for an element</vt:lpstr>
      <vt:lpstr>Search for an element</vt:lpstr>
      <vt:lpstr>Search for an element</vt:lpstr>
      <vt:lpstr>Search for an element</vt:lpstr>
      <vt:lpstr>Delete an element</vt:lpstr>
      <vt:lpstr>Delete an element</vt:lpstr>
      <vt:lpstr>Delete an element</vt:lpstr>
      <vt:lpstr>Delete an element</vt:lpstr>
      <vt:lpstr>Time Complexity for Unordered Array</vt:lpstr>
      <vt:lpstr>The Ordered Array</vt:lpstr>
      <vt:lpstr>That’s right, searching!</vt:lpstr>
      <vt:lpstr>The Ordered Array vs Unordered Array</vt:lpstr>
      <vt:lpstr>Binary Search: Idea</vt:lpstr>
      <vt:lpstr>Note what this can save!</vt:lpstr>
      <vt:lpstr>Binary Search</vt:lpstr>
      <vt:lpstr>Affect on Operations</vt:lpstr>
      <vt:lpstr>Implementation</vt:lpstr>
      <vt:lpstr>Now, let’s implement the OrdArray</vt:lpstr>
      <vt:lpstr>Analysis</vt:lpstr>
      <vt:lpstr>Ordered Array: Operation Counts</vt:lpstr>
      <vt:lpstr>A Deeper Analysis</vt:lpstr>
      <vt:lpstr>Computing log2n</vt:lpstr>
      <vt:lpstr>Computing log2n</vt:lpstr>
      <vt:lpstr>Storing Objects</vt:lpstr>
      <vt:lpstr>Person Class</vt:lpstr>
      <vt:lpstr>Adapting our HighArray class</vt:lpstr>
      <vt:lpstr>Big-Oh Notation</vt:lpstr>
      <vt:lpstr>How it’s done</vt:lpstr>
      <vt:lpstr>Example: Insertion into Unordered Array</vt:lpstr>
      <vt:lpstr>Example: Linear search</vt:lpstr>
      <vt:lpstr>Example: Binary Search</vt:lpstr>
      <vt:lpstr>Why this is useful</vt:lpstr>
      <vt:lpstr>Generally speaking…</vt:lpstr>
      <vt:lpstr>Generally speaking… (Answered)</vt:lpstr>
      <vt:lpstr>But, these large constants must mean something…</vt:lpstr>
      <vt:lpstr>Algorithms we’ve discussed…</vt:lpstr>
      <vt:lpstr>Graph of  Big O times.</vt:lpstr>
      <vt:lpstr>Unordered Array Characteristics</vt:lpstr>
      <vt:lpstr>Unordered Array Characteristics (Asnwered)</vt:lpstr>
      <vt:lpstr>Ordered Array Characteristics</vt:lpstr>
      <vt:lpstr>Ordered Array Characteristics (Asnwered)</vt:lpstr>
      <vt:lpstr>Unordered/Ordered Array Tradeoffs</vt:lpstr>
      <vt:lpstr>Array Memory Wasted</vt:lpstr>
      <vt:lpstr>What we will see…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soun raksmey</dc:creator>
  <cp:lastModifiedBy>Visethboti SIN</cp:lastModifiedBy>
  <cp:revision>23</cp:revision>
  <dcterms:created xsi:type="dcterms:W3CDTF">2024-01-13T08:37:27Z</dcterms:created>
  <dcterms:modified xsi:type="dcterms:W3CDTF">2026-08-26T02:42:22Z</dcterms:modified>
</cp:coreProperties>
</file>